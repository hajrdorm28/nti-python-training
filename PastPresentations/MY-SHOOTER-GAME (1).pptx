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Kanit Thin"/>
      <p:regular r:id="rId201314"/>
    </p:embeddedFont>
    <p:embeddedFont>
      <p:font typeface="Kanit ExtraLight"/>
      <p:regular r:id="rId201315"/>
    </p:embeddedFont>
    <p:embeddedFont>
      <p:font typeface="Kanit Bold"/>
      <p:regular r:id="rId201316"/>
    </p:embeddedFont>
    <p:embeddedFont>
      <p:font typeface="Kanit ExtraBold"/>
      <p:regular r:id="rId201317"/>
    </p:embeddedFont>
    <p:embeddedFont>
      <p:font typeface="Kanit Black"/>
      <p:regular r:id="rId201318"/>
    </p:embeddedFont>
    <p:embeddedFont>
      <p:font typeface="Kanit Light"/>
      <p:regular r:id="rId201319"/>
    </p:embeddedFont>
    <p:embeddedFont>
      <p:font typeface="Kanit"/>
      <p:regular r:id="rId201320"/>
    </p:embeddedFont>
    <p:embeddedFont>
      <p:font typeface="Kanit Medium"/>
      <p:regular r:id="rId201321"/>
    </p:embeddedFont>
    <p:embeddedFont>
      <p:font typeface="Kanit SemiBold"/>
      <p:regular r:id="rId201322"/>
    </p:embeddedFont>
    <p:embeddedFont>
      <p:font typeface="Martel Sans ExtraLight"/>
      <p:regular r:id="rId201323"/>
    </p:embeddedFont>
    <p:embeddedFont>
      <p:font typeface="Martel Sans Light"/>
      <p:regular r:id="rId201324"/>
    </p:embeddedFont>
    <p:embeddedFont>
      <p:font typeface="Martel Sans"/>
      <p:regular r:id="rId201325"/>
    </p:embeddedFont>
    <p:embeddedFont>
      <p:font typeface="Martel Sans SemiBold"/>
      <p:regular r:id="rId201326"/>
    </p:embeddedFont>
    <p:embeddedFont>
      <p:font typeface="Martel Sans Bold"/>
      <p:regular r:id="rId201327"/>
    </p:embeddedFont>
    <p:embeddedFont>
      <p:font typeface="Martel Sans ExtraBold"/>
      <p:regular r:id="rId201328"/>
    </p:embeddedFont>
    <p:embeddedFont>
      <p:font typeface="Martel Sans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796355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F5FF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MY SHOOTER GAME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460724"/>
            <a:ext cx="4667845" cy="886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Interactive 2D Game Development with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Pygame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&amp;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Object-Oriented Programming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Supervised by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Eng. Doaa Mohamed Taha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5672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F5FF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Meet the Team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595958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Four developers. One modular codebase. Each member owned a distinct layer of the game — from the core engine loop to visual polish and audio integration.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2242989"/>
            <a:ext cx="828898" cy="8288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3258889"/>
            <a:ext cx="18839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Amr Khaled 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23577" y="3568601"/>
            <a:ext cx="188394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Game Leader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Core Engine, Game States, Main Loop &amp; Timer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521" y="2242989"/>
            <a:ext cx="828898" cy="8288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94521" y="3258889"/>
            <a:ext cx="18839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Shahanda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594521" y="3568601"/>
            <a:ext cx="188394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Entities Developer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Player Class, Target System &amp; Health Logic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464" y="2242989"/>
            <a:ext cx="828898" cy="8288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5464" y="3258889"/>
            <a:ext cx="18839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Malak Hassouna 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665464" y="3568601"/>
            <a:ext cx="188394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Physics &amp; VFX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Collision Detection, Particle System &amp; Screen Shake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407" y="2242989"/>
            <a:ext cx="828898" cy="8288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36407" y="3258889"/>
            <a:ext cx="188401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Ahmed Bassam 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736407" y="3568601"/>
            <a:ext cx="188401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UI &amp; Audio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Interface Rendering, Sound Mixer &amp; Asset Management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77" y="537344"/>
            <a:ext cx="1146870" cy="152913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97559" y="493961"/>
            <a:ext cx="3298552" cy="214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Amr Khaled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1897559" y="763935"/>
            <a:ext cx="3755752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Game Leader</a:t>
            </a:r>
            <a:endParaRPr lang="en-US" sz="700" dirty="0"/>
          </a:p>
        </p:txBody>
      </p:sp>
      <p:sp>
        <p:nvSpPr>
          <p:cNvPr id="6" name="Shape 2"/>
          <p:cNvSpPr/>
          <p:nvPr/>
        </p:nvSpPr>
        <p:spPr>
          <a:xfrm>
            <a:off x="523577" y="2177653"/>
            <a:ext cx="4667845" cy="9525"/>
          </a:xfrm>
          <a:prstGeom prst="roundRect">
            <a:avLst>
              <a:gd name="adj" fmla="val 50000"/>
            </a:avLst>
          </a:prstGeom>
          <a:solidFill>
            <a:srgbClr val="D9E1FF">
              <a:alpha val="50000"/>
            </a:srgbClr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2320230"/>
            <a:ext cx="91157" cy="91157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23577" y="2417787"/>
            <a:ext cx="4667845" cy="9525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9" name="Text 4"/>
          <p:cNvSpPr/>
          <p:nvPr/>
        </p:nvSpPr>
        <p:spPr>
          <a:xfrm>
            <a:off x="523577" y="2482379"/>
            <a:ext cx="4667845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Main Loop &amp; FPS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523577" y="2649662"/>
            <a:ext cx="4667845" cy="131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Built the </a:t>
            </a:r>
            <a:pPr algn="l" indent="0" marL="0">
              <a:lnSpc>
                <a:spcPct val="107000"/>
              </a:lnSpc>
              <a:buNone/>
            </a:pPr>
            <a:r>
              <a:rPr lang="en-US" sz="7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core loop</a:t>
            </a:r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in </a:t>
            </a:r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with stable FPS control and event handling.</a:t>
            </a:r>
            <a:endParaRPr lang="en-US" sz="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2934742"/>
            <a:ext cx="91157" cy="91157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23577" y="3041452"/>
            <a:ext cx="4667845" cy="9525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13" name="Text 7"/>
          <p:cNvSpPr/>
          <p:nvPr/>
        </p:nvSpPr>
        <p:spPr>
          <a:xfrm>
            <a:off x="523577" y="3115121"/>
            <a:ext cx="4667845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Game State Manager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523577" y="3282404"/>
            <a:ext cx="4667845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Designed the flow: </a:t>
            </a:r>
            <a:pPr algn="l" indent="0" marL="0">
              <a:lnSpc>
                <a:spcPct val="107000"/>
              </a:lnSpc>
              <a:buNone/>
            </a:pPr>
            <a:r>
              <a:rPr lang="en-US" sz="7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Start Menu → Gameplay → Game Over</a:t>
            </a:r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for smooth transitions.</a:t>
            </a:r>
            <a:endParaRPr lang="en-US" sz="7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3534966"/>
            <a:ext cx="91157" cy="91157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23577" y="3650754"/>
            <a:ext cx="4667845" cy="9525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17" name="Text 10"/>
          <p:cNvSpPr/>
          <p:nvPr/>
        </p:nvSpPr>
        <p:spPr>
          <a:xfrm>
            <a:off x="523577" y="3733577"/>
            <a:ext cx="4667845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Round Timer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523577" y="3900860"/>
            <a:ext cx="4667845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Programmed a </a:t>
            </a:r>
            <a:pPr algn="l" indent="0" marL="0">
              <a:lnSpc>
                <a:spcPct val="107000"/>
              </a:lnSpc>
              <a:buNone/>
            </a:pPr>
            <a:r>
              <a:rPr lang="en-US" sz="7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60-second countdown</a:t>
            </a:r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to drive pacing and end-game logic.</a:t>
            </a:r>
            <a:endParaRPr lang="en-US" sz="7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77" y="4135189"/>
            <a:ext cx="91157" cy="91157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23577" y="4260131"/>
            <a:ext cx="4667845" cy="9525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21" name="Text 13"/>
          <p:cNvSpPr/>
          <p:nvPr/>
        </p:nvSpPr>
        <p:spPr>
          <a:xfrm>
            <a:off x="523577" y="4352032"/>
            <a:ext cx="4667845" cy="13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Module Integration</a:t>
            </a:r>
            <a:endParaRPr lang="en-US" sz="800" dirty="0"/>
          </a:p>
        </p:txBody>
      </p:sp>
      <p:sp>
        <p:nvSpPr>
          <p:cNvPr id="22" name="Text 14"/>
          <p:cNvSpPr/>
          <p:nvPr/>
        </p:nvSpPr>
        <p:spPr>
          <a:xfrm>
            <a:off x="523577" y="4519315"/>
            <a:ext cx="4667845" cy="117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Unified all team modules into a clean execution flow with </a:t>
            </a:r>
            <a:pPr algn="l" indent="0" marL="0">
              <a:lnSpc>
                <a:spcPct val="107000"/>
              </a:lnSpc>
              <a:buNone/>
            </a:pPr>
            <a:r>
              <a:rPr lang="en-US" sz="7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zero circular dependencies</a:t>
            </a:r>
            <a:pPr algn="l" indent="0" marL="0">
              <a:lnSpc>
                <a:spcPct val="107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77" y="569565"/>
            <a:ext cx="1113979" cy="10996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10358" y="526554"/>
            <a:ext cx="3285753" cy="258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Shahanda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1910358" y="865659"/>
            <a:ext cx="3742953" cy="152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Entities Developer</a:t>
            </a:r>
            <a:endParaRPr lang="en-US" sz="850" dirty="0"/>
          </a:p>
        </p:txBody>
      </p:sp>
      <p:sp>
        <p:nvSpPr>
          <p:cNvPr id="6" name="Shape 2"/>
          <p:cNvSpPr/>
          <p:nvPr/>
        </p:nvSpPr>
        <p:spPr>
          <a:xfrm>
            <a:off x="523577" y="1845171"/>
            <a:ext cx="4667845" cy="14288"/>
          </a:xfrm>
          <a:prstGeom prst="roundRect">
            <a:avLst>
              <a:gd name="adj" fmla="val 49998"/>
            </a:avLst>
          </a:prstGeom>
          <a:solidFill>
            <a:srgbClr val="D9E1FF">
              <a:alpha val="50000"/>
            </a:srgbClr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2024286"/>
            <a:ext cx="109835" cy="10983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23577" y="2150046"/>
            <a:ext cx="4667845" cy="14288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9" name="Text 4"/>
          <p:cNvSpPr/>
          <p:nvPr/>
        </p:nvSpPr>
        <p:spPr>
          <a:xfrm>
            <a:off x="523577" y="2233538"/>
            <a:ext cx="4667845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Player &amp; Crosshair Class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523577" y="2443460"/>
            <a:ext cx="4667845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Implemented mouse-tracking </a:t>
            </a:r>
            <a:pPr algn="l" indent="0" marL="0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crosshair</a:t>
            </a:r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with real-time shooting mechanics and projectile spawning logic.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2935858"/>
            <a:ext cx="109835" cy="10983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23577" y="3072631"/>
            <a:ext cx="4667845" cy="14288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13" name="Text 7"/>
          <p:cNvSpPr/>
          <p:nvPr/>
        </p:nvSpPr>
        <p:spPr>
          <a:xfrm>
            <a:off x="523577" y="3167063"/>
            <a:ext cx="4667845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Target System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523577" y="3376985"/>
            <a:ext cx="4667845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Designed a </a:t>
            </a:r>
            <a:pPr algn="l" indent="0" marL="0">
              <a:lnSpc>
                <a:spcPct val="116000"/>
              </a:lnSpc>
              <a:buNone/>
            </a:pPr>
            <a:r>
              <a:rPr lang="en-US" sz="8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Target</a:t>
            </a:r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class with randomized spawn positions, movement patterns, and progressive difficulty scaling across rounds.</a:t>
            </a:r>
            <a:endParaRPr lang="en-US" sz="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3847430"/>
            <a:ext cx="109835" cy="10983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23577" y="3995142"/>
            <a:ext cx="4667845" cy="14288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17" name="Text 10"/>
          <p:cNvSpPr/>
          <p:nvPr/>
        </p:nvSpPr>
        <p:spPr>
          <a:xfrm>
            <a:off x="523577" y="4100587"/>
            <a:ext cx="4667845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Health &amp; Lives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523577" y="4310509"/>
            <a:ext cx="4667845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Built a robust lives management system — tracking player health, triggering game-over states, and resetting between rounds.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77" y="520824"/>
            <a:ext cx="1130350" cy="1507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3958" y="482203"/>
            <a:ext cx="3292153" cy="236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Malak Hassouna</a:t>
            </a:r>
            <a:endParaRPr lang="en-US" sz="1450" dirty="0"/>
          </a:p>
        </p:txBody>
      </p:sp>
      <p:sp>
        <p:nvSpPr>
          <p:cNvPr id="5" name="Text 1"/>
          <p:cNvSpPr/>
          <p:nvPr/>
        </p:nvSpPr>
        <p:spPr>
          <a:xfrm>
            <a:off x="1903958" y="786185"/>
            <a:ext cx="3749353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Physics &amp; VFX</a:t>
            </a:r>
            <a:endParaRPr lang="en-US" sz="750" dirty="0"/>
          </a:p>
        </p:txBody>
      </p:sp>
      <p:sp>
        <p:nvSpPr>
          <p:cNvPr id="6" name="Shape 2"/>
          <p:cNvSpPr/>
          <p:nvPr/>
        </p:nvSpPr>
        <p:spPr>
          <a:xfrm>
            <a:off x="523577" y="2175197"/>
            <a:ext cx="4667845" cy="14288"/>
          </a:xfrm>
          <a:prstGeom prst="roundRect">
            <a:avLst>
              <a:gd name="adj" fmla="val 49998"/>
            </a:avLst>
          </a:prstGeom>
          <a:solidFill>
            <a:srgbClr val="D9E1FF">
              <a:alpha val="50000"/>
            </a:srgbClr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2333253"/>
            <a:ext cx="100459" cy="100459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23577" y="2447032"/>
            <a:ext cx="4667845" cy="14288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9" name="Text 4"/>
          <p:cNvSpPr/>
          <p:nvPr/>
        </p:nvSpPr>
        <p:spPr>
          <a:xfrm>
            <a:off x="523577" y="2525837"/>
            <a:ext cx="4667845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Collision Detection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523577" y="2714104"/>
            <a:ext cx="4667845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Developed precise </a:t>
            </a:r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pixel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and </a:t>
            </a:r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bounding-box collision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logic between bullets and targets — accurate, performant, and frame-consistent.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3148385"/>
            <a:ext cx="100459" cy="100459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23577" y="3272210"/>
            <a:ext cx="4667845" cy="14288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13" name="Text 7"/>
          <p:cNvSpPr/>
          <p:nvPr/>
        </p:nvSpPr>
        <p:spPr>
          <a:xfrm>
            <a:off x="523577" y="3361060"/>
            <a:ext cx="4667845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Particle System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523577" y="3549328"/>
            <a:ext cx="4667845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Created a custom </a:t>
            </a:r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Particle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class generating hit-explosion effects — each particle with velocity, fade-out, and lifetime management.</a:t>
            </a:r>
            <a:endParaRPr lang="en-US" sz="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3963516"/>
            <a:ext cx="100459" cy="100459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23577" y="4097387"/>
            <a:ext cx="4667845" cy="14288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17" name="Text 10"/>
          <p:cNvSpPr/>
          <p:nvPr/>
        </p:nvSpPr>
        <p:spPr>
          <a:xfrm>
            <a:off x="523577" y="4196283"/>
            <a:ext cx="4667845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Screen Shake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523577" y="4384551"/>
            <a:ext cx="4667845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Added dynamic </a:t>
            </a:r>
            <a:pPr algn="l" indent="0" marL="0">
              <a:lnSpc>
                <a:spcPct val="111000"/>
              </a:lnSpc>
              <a:buNone/>
            </a:pPr>
            <a:r>
              <a:rPr lang="en-US" sz="7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screen-shake</a:t>
            </a:r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on impacts and explosions, delivering tactile feedback that elevates the overall gameplay experience.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77" y="603424"/>
            <a:ext cx="1138610" cy="115059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00758" y="557510"/>
            <a:ext cx="3295352" cy="225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Ahmed Bassam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1900758" y="844376"/>
            <a:ext cx="3752552" cy="1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UI &amp; Audio</a:t>
            </a:r>
            <a:endParaRPr lang="en-US" sz="750" dirty="0"/>
          </a:p>
        </p:txBody>
      </p:sp>
      <p:sp>
        <p:nvSpPr>
          <p:cNvPr id="6" name="Shape 2"/>
          <p:cNvSpPr/>
          <p:nvPr/>
        </p:nvSpPr>
        <p:spPr>
          <a:xfrm>
            <a:off x="523577" y="1877839"/>
            <a:ext cx="4667845" cy="14288"/>
          </a:xfrm>
          <a:prstGeom prst="roundRect">
            <a:avLst>
              <a:gd name="adj" fmla="val 49998"/>
            </a:avLst>
          </a:prstGeom>
          <a:solidFill>
            <a:srgbClr val="D9E1FF">
              <a:alpha val="50000"/>
            </a:srgbClr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2035373"/>
            <a:ext cx="95845" cy="9584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23577" y="2133749"/>
            <a:ext cx="4667845" cy="14288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9" name="Text 4"/>
          <p:cNvSpPr/>
          <p:nvPr/>
        </p:nvSpPr>
        <p:spPr>
          <a:xfrm>
            <a:off x="523577" y="2210246"/>
            <a:ext cx="4667845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UI Rendering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523577" y="2387947"/>
            <a:ext cx="4667845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Built </a:t>
            </a:r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ui.py</a:t>
            </a:r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to display real-time </a:t>
            </a:r>
            <a:pPr algn="l" indent="0" marL="0">
              <a:lnSpc>
                <a:spcPct val="109000"/>
              </a:lnSpc>
              <a:buNone/>
            </a:pPr>
            <a:r>
              <a:rPr lang="en-US" sz="7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Score</a:t>
            </a:r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and persistent </a:t>
            </a:r>
            <a:pPr algn="l" indent="0" marL="0">
              <a:lnSpc>
                <a:spcPct val="109000"/>
              </a:lnSpc>
              <a:buNone/>
            </a:pPr>
            <a:r>
              <a:rPr lang="en-US" sz="7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High Score</a:t>
            </a:r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overlays during gameplay.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2697138"/>
            <a:ext cx="95845" cy="9584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23577" y="2805113"/>
            <a:ext cx="4667845" cy="14288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13" name="Text 7"/>
          <p:cNvSpPr/>
          <p:nvPr/>
        </p:nvSpPr>
        <p:spPr>
          <a:xfrm>
            <a:off x="523577" y="2891135"/>
            <a:ext cx="4667845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Audio Integration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523577" y="3068836"/>
            <a:ext cx="4667845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Integrated </a:t>
            </a:r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pygame.mixer</a:t>
            </a:r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for background music, gunfire SFX, and explosion sounds with volume control.</a:t>
            </a:r>
            <a:endParaRPr lang="en-US" sz="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3358902"/>
            <a:ext cx="95845" cy="9584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23577" y="3476402"/>
            <a:ext cx="4667845" cy="14288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17" name="Text 10"/>
          <p:cNvSpPr/>
          <p:nvPr/>
        </p:nvSpPr>
        <p:spPr>
          <a:xfrm>
            <a:off x="523577" y="3572024"/>
            <a:ext cx="4667845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Asset Pipeline</a:t>
            </a:r>
            <a:endParaRPr lang="en-US" sz="850" dirty="0"/>
          </a:p>
        </p:txBody>
      </p:sp>
      <p:sp>
        <p:nvSpPr>
          <p:cNvPr id="18" name="Text 11"/>
          <p:cNvSpPr/>
          <p:nvPr/>
        </p:nvSpPr>
        <p:spPr>
          <a:xfrm>
            <a:off x="523577" y="3749725"/>
            <a:ext cx="4667845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Organized the </a:t>
            </a:r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assets/</a:t>
            </a:r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directory — sprites, fonts, and audio files — with consistent naming conventions.</a:t>
            </a:r>
            <a:endParaRPr lang="en-US" sz="7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77" y="4020666"/>
            <a:ext cx="95845" cy="95845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23577" y="4147765"/>
            <a:ext cx="4667845" cy="14288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21" name="Text 13"/>
          <p:cNvSpPr/>
          <p:nvPr/>
        </p:nvSpPr>
        <p:spPr>
          <a:xfrm>
            <a:off x="523577" y="4252913"/>
            <a:ext cx="4667845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High Score Persistence</a:t>
            </a:r>
            <a:endParaRPr lang="en-US" sz="850" dirty="0"/>
          </a:p>
        </p:txBody>
      </p:sp>
      <p:sp>
        <p:nvSpPr>
          <p:cNvPr id="22" name="Text 14"/>
          <p:cNvSpPr/>
          <p:nvPr/>
        </p:nvSpPr>
        <p:spPr>
          <a:xfrm>
            <a:off x="523577" y="4430613"/>
            <a:ext cx="4667845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Implemented file I/O to read/write </a:t>
            </a:r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highscore.txt</a:t>
            </a:r>
            <a:pPr algn="l" indent="0" marL="0">
              <a:lnSpc>
                <a:spcPct val="109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preserving player records across sessions.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40023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F5FF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Modular Architecture &amp; Workflow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53964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Project Directory Structure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23577" y="1742182"/>
            <a:ext cx="3865959" cy="2693045"/>
          </a:xfrm>
          <a:prstGeom prst="roundRect">
            <a:avLst>
              <a:gd name="adj" fmla="val 833"/>
            </a:avLst>
          </a:prstGeom>
          <a:solidFill>
            <a:srgbClr val="1D1942"/>
          </a:solidFill>
          <a:ln/>
        </p:spPr>
      </p:sp>
      <p:sp>
        <p:nvSpPr>
          <p:cNvPr id="5" name="Shape 3"/>
          <p:cNvSpPr/>
          <p:nvPr/>
        </p:nvSpPr>
        <p:spPr>
          <a:xfrm>
            <a:off x="516136" y="1742182"/>
            <a:ext cx="3880842" cy="2693045"/>
          </a:xfrm>
          <a:prstGeom prst="roundRect">
            <a:avLst>
              <a:gd name="adj" fmla="val 833"/>
            </a:avLst>
          </a:prstGeom>
          <a:solidFill>
            <a:srgbClr val="1D1942"/>
          </a:solidFill>
          <a:ln/>
        </p:spPr>
      </p:sp>
      <p:sp>
        <p:nvSpPr>
          <p:cNvPr id="6" name="Text 4"/>
          <p:cNvSpPr/>
          <p:nvPr/>
        </p:nvSpPr>
        <p:spPr>
          <a:xfrm>
            <a:off x="703138" y="1891754"/>
            <a:ext cx="3506837" cy="239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my_shooter_game/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main.py          # Entry point, game loop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player.py        # Player &amp; Target classes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effects.py       # Particles &amp; screen shake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ui.py            # Score UI &amp; HUD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├── assets/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sprites/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├── fonts/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│   └── audio/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└── highscore.txt    # Persistent data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9226" y="1353964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Collaboration Strategy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59226" y="1723504"/>
            <a:ext cx="3865959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team adopted a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modular OOP architecture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each developer worked on isolated modules, then merged via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GitHub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pull requests. Clear separation of concerns kept integration conflicts minimal and code reviews focused.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9226" y="3088704"/>
            <a:ext cx="3865959" cy="1085924"/>
          </a:xfrm>
          <a:prstGeom prst="roundRect">
            <a:avLst>
              <a:gd name="adj" fmla="val 2067"/>
            </a:avLst>
          </a:prstGeom>
          <a:solidFill>
            <a:srgbClr val="1B174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8798" y="3297138"/>
            <a:ext cx="187003" cy="1495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45373" y="3260675"/>
            <a:ext cx="3230240" cy="74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Each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file maps directly to a team member's domain, making the codebase easy to navigate and extend.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43061"/>
            <a:ext cx="4667845" cy="824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F5FF"/>
                </a:solidFill>
                <a:latin typeface="Kanit Bold" pitchFamily="34" charset="0"/>
                <a:ea typeface="Kanit Bold" pitchFamily="34" charset="-122"/>
                <a:cs typeface="Kanit Bold" pitchFamily="34" charset="-120"/>
              </a:rPr>
              <a:t>Conclusion &amp; Acknowledgments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523577" y="1465213"/>
            <a:ext cx="4667845" cy="6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This project represents the culmination of hands-on Python training — applying OOP, game architecture, and collaborative development in a real-world context.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23577" y="2265164"/>
            <a:ext cx="4667845" cy="2435275"/>
          </a:xfrm>
          <a:prstGeom prst="roundRect">
            <a:avLst>
              <a:gd name="adj" fmla="val 864"/>
            </a:avLst>
          </a:prstGeom>
          <a:solidFill>
            <a:srgbClr val="2F2B54"/>
          </a:solidFill>
          <a:ln/>
        </p:spPr>
      </p:sp>
      <p:sp>
        <p:nvSpPr>
          <p:cNvPr id="6" name="Shape 3"/>
          <p:cNvSpPr/>
          <p:nvPr/>
        </p:nvSpPr>
        <p:spPr>
          <a:xfrm>
            <a:off x="523577" y="2265164"/>
            <a:ext cx="4667845" cy="1217637"/>
          </a:xfrm>
          <a:custGeom>
            <a:avLst/>
            <a:gdLst/>
            <a:ahLst/>
            <a:cxnLst/>
            <a:rect l="l" t="t" r="r" b="b"/>
            <a:pathLst>
              <a:path w="4667845" h="1217637">
                <a:moveTo>
                  <a:pt x="17533" y="0"/>
                </a:moveTo>
                <a:lnTo>
                  <a:pt x="4650313" y="0"/>
                </a:lnTo>
                <a:arcTo hR="17533" wR="17533" stAng="16200000" swAng="5400000"/>
                <a:lnTo>
                  <a:pt x="4667845" y="1217637"/>
                </a:lnTo>
                <a:lnTo>
                  <a:pt x="0" y="1217637"/>
                </a:lnTo>
                <a:lnTo>
                  <a:pt x="0" y="17533"/>
                </a:lnTo>
                <a:arcTo hR="17533" wR="17533" stAng="10800000" swAng="5400000"/>
                <a:close/>
              </a:path>
            </a:pathLst>
          </a:custGeom>
          <a:solidFill>
            <a:srgbClr val="2F2B54"/>
          </a:solidFill>
          <a:ln/>
        </p:spPr>
      </p:sp>
      <p:sp>
        <p:nvSpPr>
          <p:cNvPr id="7" name="Text 4"/>
          <p:cNvSpPr/>
          <p:nvPr/>
        </p:nvSpPr>
        <p:spPr>
          <a:xfrm>
            <a:off x="663773" y="2405360"/>
            <a:ext cx="4387453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🎓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NTI Institute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3773" y="2690515"/>
            <a:ext cx="4387453" cy="6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Heartfelt thanks to the </a:t>
            </a:r>
            <a:pPr algn="l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National Telecommunication Institute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for the internship opportunity, resources, and structured Python curriculum.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3577" y="3482801"/>
            <a:ext cx="4667845" cy="1217637"/>
          </a:xfrm>
          <a:custGeom>
            <a:avLst/>
            <a:gdLst/>
            <a:ahLst/>
            <a:cxnLst/>
            <a:rect l="l" t="t" r="r" b="b"/>
            <a:pathLst>
              <a:path w="4667845" h="1217637">
                <a:moveTo>
                  <a:pt x="0" y="0"/>
                </a:moveTo>
                <a:lnTo>
                  <a:pt x="4667845" y="0"/>
                </a:lnTo>
                <a:lnTo>
                  <a:pt x="4667845" y="1200105"/>
                </a:lnTo>
                <a:arcTo hR="17533" wR="17533" stAng="0" swAng="5400000"/>
                <a:lnTo>
                  <a:pt x="17533" y="1217637"/>
                </a:lnTo>
                <a:arcTo hR="17533" wR="17533" stAng="5400000" swAng="5400000"/>
                <a:lnTo>
                  <a:pt x="0" y="0"/>
                </a:lnTo>
                <a:close/>
              </a:path>
            </a:pathLst>
          </a:custGeom>
          <a:solidFill>
            <a:srgbClr val="2F2B54"/>
          </a:solidFill>
          <a:ln/>
        </p:spPr>
      </p:sp>
      <p:sp>
        <p:nvSpPr>
          <p:cNvPr id="10" name="Shape 7"/>
          <p:cNvSpPr/>
          <p:nvPr/>
        </p:nvSpPr>
        <p:spPr>
          <a:xfrm>
            <a:off x="523577" y="3482801"/>
            <a:ext cx="4667845" cy="19050"/>
          </a:xfrm>
          <a:prstGeom prst="roundRect">
            <a:avLst>
              <a:gd name="adj" fmla="val 50000"/>
            </a:avLst>
          </a:prstGeom>
          <a:solidFill>
            <a:srgbClr val="48446D"/>
          </a:solidFill>
          <a:ln/>
        </p:spPr>
      </p:sp>
      <p:sp>
        <p:nvSpPr>
          <p:cNvPr id="11" name="Text 8"/>
          <p:cNvSpPr/>
          <p:nvPr/>
        </p:nvSpPr>
        <p:spPr>
          <a:xfrm>
            <a:off x="663773" y="3622997"/>
            <a:ext cx="4387453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🙏</a:t>
            </a:r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Eng. Doaa Mohamed Taha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3773" y="3908152"/>
            <a:ext cx="4387453" cy="6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Special appreciation to our supervisor  for her continuous guidance, technical mentorship, and unwavering support throughout the program.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2026-07-29T19:06:05Z</dcterms:created>
  <dcterms:modified xsi:type="dcterms:W3CDTF">2026-07-29T19:06:05Z</dcterms:modified>
</cp:coreProperties>
</file>