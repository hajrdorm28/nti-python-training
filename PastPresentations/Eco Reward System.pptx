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3.jpg" ContentType="image/jpeg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20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35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86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502920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EFF6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029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 GRADUATION PROJECT</a:t>
            </a:r>
            <a:endParaRPr lang="en-US" sz="1400" dirty="0"/>
          </a:p>
        </p:txBody>
      </p:sp>
      <p:pic>
        <p:nvPicPr>
          <p:cNvPr id="6" name="Image 0" descr="/home/claude/review/nti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097" y="757065"/>
            <a:ext cx="1051560" cy="1051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 Reward System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2359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 •  OOP &amp; File Handling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10515600" cy="0"/>
          </a:xfrm>
          <a:prstGeom prst="line">
            <a:avLst/>
          </a:prstGeom>
          <a:noFill/>
          <a:ln w="12700">
            <a:solidFill>
              <a:srgbClr val="9CC0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0490" y="3149745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710508" y="3701615"/>
            <a:ext cx="82296" cy="8229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2" name="Text 9"/>
          <p:cNvSpPr/>
          <p:nvPr/>
        </p:nvSpPr>
        <p:spPr>
          <a:xfrm>
            <a:off x="1965960" y="355988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Saad Zaghloul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732788" y="4242816"/>
            <a:ext cx="82296" cy="8229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4" name="Text 11"/>
          <p:cNvSpPr/>
          <p:nvPr/>
        </p:nvSpPr>
        <p:spPr>
          <a:xfrm>
            <a:off x="1939834" y="409927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 Gamil Khalil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7628562" y="3763917"/>
            <a:ext cx="82296" cy="8229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360767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Mahmoud </a:t>
            </a:r>
            <a:r>
              <a:rPr lang="en-US" sz="20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Gamal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7666009" y="4274530"/>
            <a:ext cx="82296" cy="8229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4095351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Kiriakos</a:t>
            </a:r>
            <a:r>
              <a:rPr lang="en-US" sz="16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Ayman </a:t>
            </a:r>
            <a:r>
              <a:rPr lang="en-US" dirty="0" err="1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60767" y="47350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r>
              <a:rPr lang="en-US" sz="1600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90505" y="5157617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Doaa Mohamed Taha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22960" y="5943600"/>
            <a:ext cx="10515600" cy="0"/>
          </a:xfrm>
          <a:prstGeom prst="line">
            <a:avLst/>
          </a:prstGeom>
          <a:noFill/>
          <a:ln w="12700">
            <a:solidFill>
              <a:srgbClr val="9CC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61081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Telecommunication Institute (NTI)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Eco Reward System is, in one look.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2307770"/>
            <a:ext cx="6675120" cy="4093029"/>
          </a:xfrm>
          <a:prstGeom prst="roundRect">
            <a:avLst>
              <a:gd name="adj" fmla="val 266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6655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 Reward System is a beginner-level Python application that encourages recycling by rewarding users with points for each material they recycle.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36576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Object-Oriented Programming with file handling to track activity and persist data — making it a practical, real-world CS project.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2811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399" y="457200"/>
            <a:ext cx="3753853" cy="4680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0" y="39776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445" y="0"/>
            <a:ext cx="4529150" cy="6844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goals this system is built around.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Recycling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users through a gamified point-based </a:t>
            </a:r>
            <a:r>
              <a:rPr lang="en-US" sz="1600" dirty="0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42232" y="187452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2148840"/>
            <a:ext cx="502920" cy="50292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16552" y="27889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Activities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16552" y="324612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recycling event with material type and weight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35824" y="187452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2148840"/>
            <a:ext cx="502920" cy="50292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6" name="Text 14"/>
          <p:cNvSpPr/>
          <p:nvPr/>
        </p:nvSpPr>
        <p:spPr>
          <a:xfrm>
            <a:off x="801014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10144" y="27889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Auto-Calculate Points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10144" y="324612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point rules and bonuses automatically based on input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345436" y="416052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19756" y="4434840"/>
            <a:ext cx="502920" cy="50292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1" name="Text 19"/>
          <p:cNvSpPr/>
          <p:nvPr/>
        </p:nvSpPr>
        <p:spPr>
          <a:xfrm>
            <a:off x="2619756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19756" y="50749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19756" y="553212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user points and history in text files for session continuity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39028" y="416052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3348" y="4434840"/>
            <a:ext cx="502920" cy="50292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3348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3348" y="50749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OOP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3348" y="553212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classes, methods, and encapsulation in a real project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concepts applied throughout the project.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brings together essential Python fundamentals into one cohesive application.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41448"/>
            <a:ext cx="493776" cy="49377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4144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programming language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64408"/>
            <a:ext cx="493776" cy="49377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644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00200" y="315468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6320" y="315468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and methods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87368"/>
            <a:ext cx="493776" cy="49377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873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00200" y="397764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6320" y="397764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from and writing to .txt files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910328"/>
            <a:ext cx="493776" cy="49377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1032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00200" y="480060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&amp; Loops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46320" y="480060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and user interaction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733288"/>
            <a:ext cx="493776" cy="493776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7332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00200" y="562356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46320" y="562356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reusable logic blocks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actions available in the program.</a:t>
            </a:r>
            <a:endParaRPr lang="en-US" dirty="0"/>
          </a:p>
        </p:txBody>
      </p:sp>
      <p:sp>
        <p:nvSpPr>
          <p:cNvPr id="4" name="Shape"/>
          <p:cNvSpPr/>
          <p:nvPr/>
        </p:nvSpPr>
        <p:spPr>
          <a:xfrm>
            <a:off x="548640" y="16002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777240" y="17086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6" name="Text"/>
          <p:cNvSpPr/>
          <p:nvPr/>
        </p:nvSpPr>
        <p:spPr>
          <a:xfrm>
            <a:off x="777240" y="17086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"/>
          <p:cNvSpPr/>
          <p:nvPr/>
        </p:nvSpPr>
        <p:spPr>
          <a:xfrm>
            <a:off x="1600200" y="16002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Recycling Activity</a:t>
            </a:r>
            <a:endParaRPr lang="en-US" dirty="0"/>
          </a:p>
        </p:txBody>
      </p:sp>
      <p:sp>
        <p:nvSpPr>
          <p:cNvPr id="8" name="Text"/>
          <p:cNvSpPr/>
          <p:nvPr/>
        </p:nvSpPr>
        <p:spPr>
          <a:xfrm>
            <a:off x="5029200" y="16002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material type and weight to earn points</a:t>
            </a:r>
            <a:endParaRPr lang="en-US" dirty="0"/>
          </a:p>
        </p:txBody>
      </p:sp>
      <p:sp>
        <p:nvSpPr>
          <p:cNvPr id="9" name="Shape"/>
          <p:cNvSpPr/>
          <p:nvPr/>
        </p:nvSpPr>
        <p:spPr>
          <a:xfrm>
            <a:off x="548640" y="23170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777240" y="24254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1" name="Text"/>
          <p:cNvSpPr/>
          <p:nvPr/>
        </p:nvSpPr>
        <p:spPr>
          <a:xfrm>
            <a:off x="777240" y="24254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2" name="Text"/>
          <p:cNvSpPr/>
          <p:nvPr/>
        </p:nvSpPr>
        <p:spPr>
          <a:xfrm>
            <a:off x="1600200" y="23170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Total Points</a:t>
            </a:r>
            <a:endParaRPr lang="en-US" dirty="0"/>
          </a:p>
        </p:txBody>
      </p:sp>
      <p:sp>
        <p:nvSpPr>
          <p:cNvPr id="13" name="Text"/>
          <p:cNvSpPr/>
          <p:nvPr/>
        </p:nvSpPr>
        <p:spPr>
          <a:xfrm>
            <a:off x="5029200" y="23170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your accumulated reward balance anytime</a:t>
            </a:r>
            <a:endParaRPr lang="en-US" dirty="0"/>
          </a:p>
        </p:txBody>
      </p:sp>
      <p:sp>
        <p:nvSpPr>
          <p:cNvPr id="14" name="Shape"/>
          <p:cNvSpPr/>
          <p:nvPr/>
        </p:nvSpPr>
        <p:spPr>
          <a:xfrm>
            <a:off x="548640" y="30338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5" name="Shape"/>
          <p:cNvSpPr/>
          <p:nvPr/>
        </p:nvSpPr>
        <p:spPr>
          <a:xfrm>
            <a:off x="777240" y="31422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6" name="Text"/>
          <p:cNvSpPr/>
          <p:nvPr/>
        </p:nvSpPr>
        <p:spPr>
          <a:xfrm>
            <a:off x="777240" y="31422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"/>
          <p:cNvSpPr/>
          <p:nvPr/>
        </p:nvSpPr>
        <p:spPr>
          <a:xfrm>
            <a:off x="1600200" y="30338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Rewards</a:t>
            </a:r>
            <a:endParaRPr lang="en-US" dirty="0"/>
          </a:p>
        </p:txBody>
      </p:sp>
      <p:sp>
        <p:nvSpPr>
          <p:cNvPr id="18" name="Text"/>
          <p:cNvSpPr/>
          <p:nvPr/>
        </p:nvSpPr>
        <p:spPr>
          <a:xfrm>
            <a:off x="5029200" y="30338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points for available rewards or perks</a:t>
            </a:r>
            <a:endParaRPr lang="en-US" dirty="0"/>
          </a:p>
        </p:txBody>
      </p:sp>
      <p:sp>
        <p:nvSpPr>
          <p:cNvPr id="19" name="Shape"/>
          <p:cNvSpPr/>
          <p:nvPr/>
        </p:nvSpPr>
        <p:spPr>
          <a:xfrm>
            <a:off x="548640" y="37506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0" name="Shape"/>
          <p:cNvSpPr/>
          <p:nvPr/>
        </p:nvSpPr>
        <p:spPr>
          <a:xfrm>
            <a:off x="777240" y="38590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1" name="Text"/>
          <p:cNvSpPr/>
          <p:nvPr/>
        </p:nvSpPr>
        <p:spPr>
          <a:xfrm>
            <a:off x="777240" y="38590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2" name="Text"/>
          <p:cNvSpPr/>
          <p:nvPr/>
        </p:nvSpPr>
        <p:spPr>
          <a:xfrm>
            <a:off x="1600200" y="37506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Activity History</a:t>
            </a:r>
            <a:endParaRPr lang="en-US" dirty="0"/>
          </a:p>
        </p:txBody>
      </p:sp>
      <p:sp>
        <p:nvSpPr>
          <p:cNvPr id="23" name="Text"/>
          <p:cNvSpPr/>
          <p:nvPr/>
        </p:nvSpPr>
        <p:spPr>
          <a:xfrm>
            <a:off x="5029200" y="37506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past recycling events and redemptions</a:t>
            </a:r>
            <a:endParaRPr lang="en-US" dirty="0"/>
          </a:p>
        </p:txBody>
      </p:sp>
      <p:sp>
        <p:nvSpPr>
          <p:cNvPr id="24" name="Shape"/>
          <p:cNvSpPr/>
          <p:nvPr/>
        </p:nvSpPr>
        <p:spPr>
          <a:xfrm>
            <a:off x="548640" y="44674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5" name="Shape"/>
          <p:cNvSpPr/>
          <p:nvPr/>
        </p:nvSpPr>
        <p:spPr>
          <a:xfrm>
            <a:off x="777240" y="45758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6" name="Text"/>
          <p:cNvSpPr/>
          <p:nvPr/>
        </p:nvSpPr>
        <p:spPr>
          <a:xfrm>
            <a:off x="777240" y="45758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7" name="Text"/>
          <p:cNvSpPr/>
          <p:nvPr/>
        </p:nvSpPr>
        <p:spPr>
          <a:xfrm>
            <a:off x="1600200" y="44674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Data</a:t>
            </a:r>
            <a:endParaRPr lang="en-US" dirty="0"/>
          </a:p>
        </p:txBody>
      </p:sp>
      <p:sp>
        <p:nvSpPr>
          <p:cNvPr id="28" name="Text"/>
          <p:cNvSpPr/>
          <p:nvPr/>
        </p:nvSpPr>
        <p:spPr>
          <a:xfrm>
            <a:off x="5029200" y="44674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all saved activity and points to start fresh</a:t>
            </a:r>
            <a:endParaRPr lang="en-US" dirty="0"/>
          </a:p>
        </p:txBody>
      </p:sp>
      <p:sp>
        <p:nvSpPr>
          <p:cNvPr id="29" name="Shape"/>
          <p:cNvSpPr/>
          <p:nvPr/>
        </p:nvSpPr>
        <p:spPr>
          <a:xfrm>
            <a:off x="548640" y="51842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30" name="Shape"/>
          <p:cNvSpPr/>
          <p:nvPr/>
        </p:nvSpPr>
        <p:spPr>
          <a:xfrm>
            <a:off x="777240" y="52926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31" name="Text"/>
          <p:cNvSpPr/>
          <p:nvPr/>
        </p:nvSpPr>
        <p:spPr>
          <a:xfrm>
            <a:off x="777240" y="52926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2" name="Text"/>
          <p:cNvSpPr/>
          <p:nvPr/>
        </p:nvSpPr>
        <p:spPr>
          <a:xfrm>
            <a:off x="1600200" y="51842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Bonus</a:t>
            </a:r>
            <a:endParaRPr lang="en-US" dirty="0"/>
          </a:p>
        </p:txBody>
      </p:sp>
      <p:sp>
        <p:nvSpPr>
          <p:cNvPr id="33" name="Text"/>
          <p:cNvSpPr/>
          <p:nvPr/>
        </p:nvSpPr>
        <p:spPr>
          <a:xfrm>
            <a:off x="5029200" y="51842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an extra points bonus once every day</a:t>
            </a:r>
            <a:endParaRPr lang="en-US" dirty="0"/>
          </a:p>
        </p:txBody>
      </p:sp>
      <p:sp>
        <p:nvSpPr>
          <p:cNvPr id="34" name="Shape"/>
          <p:cNvSpPr/>
          <p:nvPr/>
        </p:nvSpPr>
        <p:spPr>
          <a:xfrm>
            <a:off x="548640" y="59010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35" name="Shape"/>
          <p:cNvSpPr/>
          <p:nvPr/>
        </p:nvSpPr>
        <p:spPr>
          <a:xfrm>
            <a:off x="777240" y="60094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36" name="Text"/>
          <p:cNvSpPr/>
          <p:nvPr/>
        </p:nvSpPr>
        <p:spPr>
          <a:xfrm>
            <a:off x="777240" y="60094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7" name="Text"/>
          <p:cNvSpPr/>
          <p:nvPr/>
        </p:nvSpPr>
        <p:spPr>
          <a:xfrm>
            <a:off x="1600200" y="59010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Program</a:t>
            </a:r>
            <a:endParaRPr lang="en-US" dirty="0"/>
          </a:p>
        </p:txBody>
      </p:sp>
      <p:sp>
        <p:nvSpPr>
          <p:cNvPr id="38" name="Text"/>
          <p:cNvSpPr/>
          <p:nvPr/>
        </p:nvSpPr>
        <p:spPr>
          <a:xfrm>
            <a:off x="5029200" y="59010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close the application and save all data</a:t>
            </a:r>
            <a:endParaRPr lang="en-US" dirty="0"/>
          </a:p>
        </p:txBody>
      </p:sp>
      <p:sp>
        <p:nvSpPr>
          <p:cNvPr id="39" name="Text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Recycling Materials &amp;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points each kilogram earns.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194560"/>
            <a:ext cx="822960" cy="82296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 / kg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3380" y="2194560"/>
            <a:ext cx="822960" cy="82296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1" name="Text 9"/>
          <p:cNvSpPr/>
          <p:nvPr/>
        </p:nvSpPr>
        <p:spPr>
          <a:xfrm>
            <a:off x="41833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29000" y="3246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 / kg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26580" y="2194560"/>
            <a:ext cx="822960" cy="82296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6" name="Text 14"/>
          <p:cNvSpPr/>
          <p:nvPr/>
        </p:nvSpPr>
        <p:spPr>
          <a:xfrm>
            <a:off x="69265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72200" y="3246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 / kg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77824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69780" y="2194560"/>
            <a:ext cx="822960" cy="82296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1" name="Text 19"/>
          <p:cNvSpPr/>
          <p:nvPr/>
        </p:nvSpPr>
        <p:spPr>
          <a:xfrm>
            <a:off x="96697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915400" y="3246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1540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pts / kg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3C7A3E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9CC08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4572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+20 points automatically added when recycled weight exceeds 5 kg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Files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stores its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points.txt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user's cumulative total reward points across sessions.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2148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history.txt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834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recycling activity and reward redemption with timestamps.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EcoRewardSystem class.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0" cy="480000"/>
          </a:xfrm>
          <a:prstGeom prst="roundRect">
            <a:avLst>
              <a:gd name="adj" fmla="val 13793"/>
            </a:avLst>
          </a:prstGeom>
          <a:solidFill>
            <a:srgbClr val="EFF6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02336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EcoRewardSystem</a:t>
            </a:r>
            <a:endParaRPr lang="en-US" dirty="0"/>
          </a:p>
        </p:txBody>
      </p:sp>
      <p:sp>
        <p:nvSpPr>
          <p:cNvPr id="6" name="Shape"/>
          <p:cNvSpPr/>
          <p:nvPr/>
        </p:nvSpPr>
        <p:spPr>
          <a:xfrm>
            <a:off x="548640" y="2230200"/>
            <a:ext cx="10881360" cy="573971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7" name="Text"/>
          <p:cNvSpPr/>
          <p:nvPr/>
        </p:nvSpPr>
        <p:spPr>
          <a:xfrm>
            <a:off x="822960" y="2230200"/>
            <a:ext cx="292608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__init__()</a:t>
            </a:r>
            <a:endParaRPr lang="en-US" dirty="0"/>
          </a:p>
        </p:txBody>
      </p:sp>
      <p:sp>
        <p:nvSpPr>
          <p:cNvPr id="8" name="Text"/>
          <p:cNvSpPr/>
          <p:nvPr/>
        </p:nvSpPr>
        <p:spPr>
          <a:xfrm>
            <a:off x="3931920" y="2230200"/>
            <a:ext cx="722376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points and loads existing data from files</a:t>
            </a:r>
            <a:endParaRPr lang="en-US" dirty="0"/>
          </a:p>
        </p:txBody>
      </p:sp>
      <p:sp>
        <p:nvSpPr>
          <p:cNvPr id="9" name="Shape"/>
          <p:cNvSpPr/>
          <p:nvPr/>
        </p:nvSpPr>
        <p:spPr>
          <a:xfrm>
            <a:off x="548640" y="2859171"/>
            <a:ext cx="10881360" cy="573971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0" name="Text"/>
          <p:cNvSpPr/>
          <p:nvPr/>
        </p:nvSpPr>
        <p:spPr>
          <a:xfrm>
            <a:off x="822960" y="2859171"/>
            <a:ext cx="292608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add_activity()</a:t>
            </a:r>
            <a:endParaRPr lang="en-US" dirty="0"/>
          </a:p>
        </p:txBody>
      </p:sp>
      <p:sp>
        <p:nvSpPr>
          <p:cNvPr id="11" name="Text"/>
          <p:cNvSpPr/>
          <p:nvPr/>
        </p:nvSpPr>
        <p:spPr>
          <a:xfrm>
            <a:off x="3931920" y="2859171"/>
            <a:ext cx="722376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 new recycling event and calculates earned points</a:t>
            </a:r>
            <a:endParaRPr lang="en-US" dirty="0"/>
          </a:p>
        </p:txBody>
      </p:sp>
      <p:sp>
        <p:nvSpPr>
          <p:cNvPr id="12" name="Shape"/>
          <p:cNvSpPr/>
          <p:nvPr/>
        </p:nvSpPr>
        <p:spPr>
          <a:xfrm>
            <a:off x="548640" y="3488142"/>
            <a:ext cx="10881360" cy="573971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3" name="Text"/>
          <p:cNvSpPr/>
          <p:nvPr/>
        </p:nvSpPr>
        <p:spPr>
          <a:xfrm>
            <a:off x="822960" y="3488142"/>
            <a:ext cx="292608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check_points()</a:t>
            </a:r>
            <a:endParaRPr lang="en-US" dirty="0"/>
          </a:p>
        </p:txBody>
      </p:sp>
      <p:sp>
        <p:nvSpPr>
          <p:cNvPr id="14" name="Text"/>
          <p:cNvSpPr/>
          <p:nvPr/>
        </p:nvSpPr>
        <p:spPr>
          <a:xfrm>
            <a:off x="3931920" y="3488142"/>
            <a:ext cx="722376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current total reward balance</a:t>
            </a:r>
            <a:endParaRPr lang="en-US" dirty="0"/>
          </a:p>
        </p:txBody>
      </p:sp>
      <p:sp>
        <p:nvSpPr>
          <p:cNvPr id="15" name="Shape"/>
          <p:cNvSpPr/>
          <p:nvPr/>
        </p:nvSpPr>
        <p:spPr>
          <a:xfrm>
            <a:off x="548640" y="4117113"/>
            <a:ext cx="10881360" cy="573971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6" name="Text"/>
          <p:cNvSpPr/>
          <p:nvPr/>
        </p:nvSpPr>
        <p:spPr>
          <a:xfrm>
            <a:off x="822960" y="4117113"/>
            <a:ext cx="292608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redeem_reward()</a:t>
            </a:r>
            <a:endParaRPr lang="en-US" dirty="0"/>
          </a:p>
        </p:txBody>
      </p:sp>
      <p:sp>
        <p:nvSpPr>
          <p:cNvPr id="17" name="Text"/>
          <p:cNvSpPr/>
          <p:nvPr/>
        </p:nvSpPr>
        <p:spPr>
          <a:xfrm>
            <a:off x="3931920" y="4117113"/>
            <a:ext cx="722376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Deducts points when a reward is claimed</a:t>
            </a:r>
            <a:endParaRPr lang="en-US" dirty="0"/>
          </a:p>
        </p:txBody>
      </p:sp>
      <p:sp>
        <p:nvSpPr>
          <p:cNvPr id="18" name="Shape"/>
          <p:cNvSpPr/>
          <p:nvPr/>
        </p:nvSpPr>
        <p:spPr>
          <a:xfrm>
            <a:off x="548640" y="4746084"/>
            <a:ext cx="10881360" cy="573971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9" name="Text"/>
          <p:cNvSpPr/>
          <p:nvPr/>
        </p:nvSpPr>
        <p:spPr>
          <a:xfrm>
            <a:off x="822960" y="4746084"/>
            <a:ext cx="292608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reset_data()</a:t>
            </a:r>
            <a:endParaRPr lang="en-US" dirty="0"/>
          </a:p>
        </p:txBody>
      </p:sp>
      <p:sp>
        <p:nvSpPr>
          <p:cNvPr id="20" name="Text"/>
          <p:cNvSpPr/>
          <p:nvPr/>
        </p:nvSpPr>
        <p:spPr>
          <a:xfrm>
            <a:off x="3931920" y="4746084"/>
            <a:ext cx="722376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all saved activity and points to start fresh</a:t>
            </a:r>
            <a:endParaRPr lang="en-US" dirty="0"/>
          </a:p>
        </p:txBody>
      </p:sp>
      <p:sp>
        <p:nvSpPr>
          <p:cNvPr id="21" name="Shape"/>
          <p:cNvSpPr/>
          <p:nvPr/>
        </p:nvSpPr>
        <p:spPr>
          <a:xfrm>
            <a:off x="548640" y="5375055"/>
            <a:ext cx="10881360" cy="573971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2" name="Text"/>
          <p:cNvSpPr/>
          <p:nvPr/>
        </p:nvSpPr>
        <p:spPr>
          <a:xfrm>
            <a:off x="822960" y="5375055"/>
            <a:ext cx="292608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daily_bonus()</a:t>
            </a:r>
            <a:endParaRPr lang="en-US" dirty="0"/>
          </a:p>
        </p:txBody>
      </p:sp>
      <p:sp>
        <p:nvSpPr>
          <p:cNvPr id="23" name="Text"/>
          <p:cNvSpPr/>
          <p:nvPr/>
        </p:nvSpPr>
        <p:spPr>
          <a:xfrm>
            <a:off x="3931920" y="5375055"/>
            <a:ext cx="722376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an extra points bonus once every day</a:t>
            </a:r>
            <a:endParaRPr lang="en-US" dirty="0"/>
          </a:p>
        </p:txBody>
      </p:sp>
      <p:sp>
        <p:nvSpPr>
          <p:cNvPr id="24" name="Shape"/>
          <p:cNvSpPr/>
          <p:nvPr/>
        </p:nvSpPr>
        <p:spPr>
          <a:xfrm>
            <a:off x="548640" y="6004026"/>
            <a:ext cx="10881360" cy="573971"/>
          </a:xfrm>
          <a:prstGeom prst="roundRect">
            <a:avLst>
              <a:gd name="adj" fmla="val 12821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5" name="Text"/>
          <p:cNvSpPr/>
          <p:nvPr/>
        </p:nvSpPr>
        <p:spPr>
          <a:xfrm>
            <a:off x="822960" y="6004026"/>
            <a:ext cx="292608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view_history()</a:t>
            </a:r>
            <a:endParaRPr lang="en-US" dirty="0"/>
          </a:p>
        </p:txBody>
      </p:sp>
      <p:sp>
        <p:nvSpPr>
          <p:cNvPr id="26" name="Text"/>
          <p:cNvSpPr/>
          <p:nvPr/>
        </p:nvSpPr>
        <p:spPr>
          <a:xfrm>
            <a:off x="3931920" y="6004026"/>
            <a:ext cx="7223760" cy="57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prints the full activity log</a:t>
            </a:r>
            <a:endParaRPr lang="en-US" dirty="0"/>
          </a:p>
        </p:txBody>
      </p:sp>
      <p:sp>
        <p:nvSpPr>
          <p:cNvPr id="27" name="Text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session flows from start to finish.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76400" cy="1005840"/>
          </a:xfrm>
          <a:prstGeom prst="roundRect">
            <a:avLst>
              <a:gd name="adj" fmla="val 9091"/>
            </a:avLst>
          </a:prstGeom>
          <a:solidFill>
            <a:srgbClr val="EFF6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167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25040" y="237744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426208" y="2377440"/>
            <a:ext cx="1676400" cy="1005840"/>
          </a:xfrm>
          <a:prstGeom prst="roundRect">
            <a:avLst>
              <a:gd name="adj" fmla="val 9091"/>
            </a:avLst>
          </a:prstGeom>
          <a:solidFill>
            <a:srgbClr val="EFF6EC"/>
          </a:solidFill>
          <a:ln/>
        </p:spPr>
      </p:sp>
      <p:sp>
        <p:nvSpPr>
          <p:cNvPr id="8" name="Text 6"/>
          <p:cNvSpPr/>
          <p:nvPr/>
        </p:nvSpPr>
        <p:spPr>
          <a:xfrm>
            <a:off x="2426208" y="2377440"/>
            <a:ext cx="167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02608" y="237744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03776" y="2377440"/>
            <a:ext cx="1676400" cy="1005840"/>
          </a:xfrm>
          <a:prstGeom prst="roundRect">
            <a:avLst>
              <a:gd name="adj" fmla="val 9091"/>
            </a:avLst>
          </a:prstGeom>
          <a:solidFill>
            <a:srgbClr val="EFF6EC"/>
          </a:solidFill>
          <a:ln/>
        </p:spPr>
      </p:sp>
      <p:sp>
        <p:nvSpPr>
          <p:cNvPr id="11" name="Text 9"/>
          <p:cNvSpPr/>
          <p:nvPr/>
        </p:nvSpPr>
        <p:spPr>
          <a:xfrm>
            <a:off x="4303776" y="2377440"/>
            <a:ext cx="167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Action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80176" y="237744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81344" y="2377440"/>
            <a:ext cx="1676400" cy="1005840"/>
          </a:xfrm>
          <a:prstGeom prst="roundRect">
            <a:avLst>
              <a:gd name="adj" fmla="val 9091"/>
            </a:avLst>
          </a:prstGeom>
          <a:solidFill>
            <a:srgbClr val="EFF6EC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2377440"/>
            <a:ext cx="167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Action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57744" y="237744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058912" y="2377440"/>
            <a:ext cx="1676400" cy="1005840"/>
          </a:xfrm>
          <a:prstGeom prst="roundRect">
            <a:avLst>
              <a:gd name="adj" fmla="val 9091"/>
            </a:avLst>
          </a:prstGeom>
          <a:solidFill>
            <a:srgbClr val="EFF6EC"/>
          </a:solidFill>
          <a:ln/>
        </p:spPr>
      </p:sp>
      <p:sp>
        <p:nvSpPr>
          <p:cNvPr id="17" name="Text 15"/>
          <p:cNvSpPr/>
          <p:nvPr/>
        </p:nvSpPr>
        <p:spPr>
          <a:xfrm>
            <a:off x="8058912" y="2377440"/>
            <a:ext cx="167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Files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35312" y="237744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936480" y="2377440"/>
            <a:ext cx="1676400" cy="1005840"/>
          </a:xfrm>
          <a:prstGeom prst="roundRect">
            <a:avLst>
              <a:gd name="adj" fmla="val 9091"/>
            </a:avLst>
          </a:prstGeom>
          <a:solidFill>
            <a:srgbClr val="3C7A3E"/>
          </a:solidFill>
          <a:ln/>
        </p:spPr>
      </p:sp>
      <p:sp>
        <p:nvSpPr>
          <p:cNvPr id="20" name="Text 18"/>
          <p:cNvSpPr/>
          <p:nvPr/>
        </p:nvSpPr>
        <p:spPr>
          <a:xfrm>
            <a:off x="9936480" y="2377440"/>
            <a:ext cx="167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Exit?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4048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i="1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runs in a continuous loop, presenting the menu after each action until the user chooses to exit — ensuring a smooth, interactive experience throughout the session.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recycling activity with the weight bonus applied.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0" cy="4114800"/>
          </a:xfrm>
          <a:prstGeom prst="roundRect">
            <a:avLst>
              <a:gd name="adj" fmla="val 2222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EE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Material: Plastic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EE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Weight (kg): 6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EE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Earned: 80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EE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(6 × 10) + 20 Bonus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EE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Points: 150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502920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245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0292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Bonus applied — weight exceeded 5 kg!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4846320" cy="4114800"/>
          </a:xfrm>
          <a:prstGeom prst="roundRect">
            <a:avLst>
              <a:gd name="adj" fmla="val 266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2148840"/>
            <a:ext cx="502920" cy="50292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0" y="2148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Logic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86600" y="283464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check adds +20 points automatically whenever the recycled weight exceeds 5 kg — rewarding larger recycling efforts.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the program handles gracefully.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84832"/>
            <a:ext cx="548640" cy="54864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material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60720" y="1920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Handled with input re-prompting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136392"/>
            <a:ext cx="548640" cy="54864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36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weight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60720" y="29718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Rejected with a clear error message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87952"/>
            <a:ext cx="548640" cy="54864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00200" y="4023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60720" y="4023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Managed gracefully using try/except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239512"/>
            <a:ext cx="548640" cy="54864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39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00200" y="5074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logic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60720" y="50749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Conditional check for weight &gt; 5 kg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32227" y="1944914"/>
            <a:ext cx="6850743" cy="4117703"/>
          </a:xfrm>
          <a:prstGeom prst="roundRect">
            <a:avLst>
              <a:gd name="adj" fmla="val 4177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28680" y="2281648"/>
            <a:ext cx="640080" cy="64008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6" name="Text 4"/>
          <p:cNvSpPr/>
          <p:nvPr/>
        </p:nvSpPr>
        <p:spPr>
          <a:xfrm>
            <a:off x="2728686" y="2267131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5432" y="2976147"/>
            <a:ext cx="9081593" cy="1378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 Reward System demonstrates how </a:t>
            </a:r>
            <a:r>
              <a:rPr lang="en-US" dirty="0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beginner-level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dirty="0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concepts — OOP, file handling, input validation</a:t>
            </a:r>
            <a:r>
              <a:rPr lang="en-US" dirty="0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dirty="0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control flow — come together to build a meaningful, </a:t>
            </a:r>
            <a:endParaRPr lang="en-US" dirty="0" smtClean="0">
              <a:solidFill>
                <a:srgbClr val="3340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dirty="0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</a:t>
            </a: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r>
              <a:rPr lang="en-US" dirty="0" smtClean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40000"/>
              </a:lnSpc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0918" y="4632229"/>
            <a:ext cx="903804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strong foundation for any first-year CS student </a:t>
            </a:r>
            <a:endParaRPr lang="en-US" b="1" dirty="0" smtClean="0">
              <a:solidFill>
                <a:srgbClr val="3C7A3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b="1" dirty="0" smtClean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</a:t>
            </a: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tackle real-world problems with code.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928" y="0"/>
            <a:ext cx="45696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166360" y="1737360"/>
            <a:ext cx="1097280" cy="109728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5" name="Text 3"/>
          <p:cNvSpPr/>
          <p:nvPr/>
        </p:nvSpPr>
        <p:spPr>
          <a:xfrm>
            <a:off x="516636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27316" y="3108960"/>
            <a:ext cx="1051985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welcome! 🌱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powering the system.</a:t>
            </a:r>
            <a:endParaRPr lang="en-US" dirty="0"/>
          </a:p>
        </p:txBody>
      </p:sp>
      <p:sp>
        <p:nvSpPr>
          <p:cNvPr id="4" name="Shape"/>
          <p:cNvSpPr/>
          <p:nvPr/>
        </p:nvSpPr>
        <p:spPr>
          <a:xfrm>
            <a:off x="548640" y="16002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777240" y="17086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6" name="Text"/>
          <p:cNvSpPr/>
          <p:nvPr/>
        </p:nvSpPr>
        <p:spPr>
          <a:xfrm>
            <a:off x="777240" y="17086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"/>
          <p:cNvSpPr/>
          <p:nvPr/>
        </p:nvSpPr>
        <p:spPr>
          <a:xfrm>
            <a:off x="1600200" y="16002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dirty="0"/>
          </a:p>
        </p:txBody>
      </p:sp>
      <p:sp>
        <p:nvSpPr>
          <p:cNvPr id="8" name="Text"/>
          <p:cNvSpPr/>
          <p:nvPr/>
        </p:nvSpPr>
        <p:spPr>
          <a:xfrm>
            <a:off x="5029200" y="16002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existence checking</a:t>
            </a:r>
            <a:endParaRPr lang="en-US" dirty="0"/>
          </a:p>
        </p:txBody>
      </p:sp>
      <p:sp>
        <p:nvSpPr>
          <p:cNvPr id="9" name="Shape"/>
          <p:cNvSpPr/>
          <p:nvPr/>
        </p:nvSpPr>
        <p:spPr>
          <a:xfrm>
            <a:off x="548640" y="23170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777240" y="24254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1" name="Text"/>
          <p:cNvSpPr/>
          <p:nvPr/>
        </p:nvSpPr>
        <p:spPr>
          <a:xfrm>
            <a:off x="777240" y="24254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2" name="Text"/>
          <p:cNvSpPr/>
          <p:nvPr/>
        </p:nvSpPr>
        <p:spPr>
          <a:xfrm>
            <a:off x="1600200" y="23170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dirty="0"/>
          </a:p>
        </p:txBody>
      </p:sp>
      <p:sp>
        <p:nvSpPr>
          <p:cNvPr id="13" name="Text"/>
          <p:cNvSpPr/>
          <p:nvPr/>
        </p:nvSpPr>
        <p:spPr>
          <a:xfrm>
            <a:off x="5029200" y="23170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management</a:t>
            </a:r>
            <a:endParaRPr lang="en-US" dirty="0"/>
          </a:p>
        </p:txBody>
      </p:sp>
      <p:sp>
        <p:nvSpPr>
          <p:cNvPr id="14" name="Shape"/>
          <p:cNvSpPr/>
          <p:nvPr/>
        </p:nvSpPr>
        <p:spPr>
          <a:xfrm>
            <a:off x="548640" y="30338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15" name="Shape"/>
          <p:cNvSpPr/>
          <p:nvPr/>
        </p:nvSpPr>
        <p:spPr>
          <a:xfrm>
            <a:off x="777240" y="31422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16" name="Text"/>
          <p:cNvSpPr/>
          <p:nvPr/>
        </p:nvSpPr>
        <p:spPr>
          <a:xfrm>
            <a:off x="777240" y="31422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"/>
          <p:cNvSpPr/>
          <p:nvPr/>
        </p:nvSpPr>
        <p:spPr>
          <a:xfrm>
            <a:off x="1600200" y="30338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(Counter)</a:t>
            </a:r>
            <a:endParaRPr lang="en-US" dirty="0"/>
          </a:p>
        </p:txBody>
      </p:sp>
      <p:sp>
        <p:nvSpPr>
          <p:cNvPr id="18" name="Text"/>
          <p:cNvSpPr/>
          <p:nvPr/>
        </p:nvSpPr>
        <p:spPr>
          <a:xfrm>
            <a:off x="5029200" y="30338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materials</a:t>
            </a:r>
            <a:endParaRPr lang="en-US" dirty="0"/>
          </a:p>
        </p:txBody>
      </p:sp>
      <p:sp>
        <p:nvSpPr>
          <p:cNvPr id="19" name="Shape"/>
          <p:cNvSpPr/>
          <p:nvPr/>
        </p:nvSpPr>
        <p:spPr>
          <a:xfrm>
            <a:off x="548640" y="37506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0" name="Shape"/>
          <p:cNvSpPr/>
          <p:nvPr/>
        </p:nvSpPr>
        <p:spPr>
          <a:xfrm>
            <a:off x="777240" y="38590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1" name="Text"/>
          <p:cNvSpPr/>
          <p:nvPr/>
        </p:nvSpPr>
        <p:spPr>
          <a:xfrm>
            <a:off x="777240" y="38590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2" name="Text"/>
          <p:cNvSpPr/>
          <p:nvPr/>
        </p:nvSpPr>
        <p:spPr>
          <a:xfrm>
            <a:off x="1600200" y="37506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dirty="0"/>
          </a:p>
        </p:txBody>
      </p:sp>
      <p:sp>
        <p:nvSpPr>
          <p:cNvPr id="23" name="Text"/>
          <p:cNvSpPr/>
          <p:nvPr/>
        </p:nvSpPr>
        <p:spPr>
          <a:xfrm>
            <a:off x="5029200" y="37506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daily bonus generation</a:t>
            </a:r>
            <a:endParaRPr lang="en-US" dirty="0"/>
          </a:p>
        </p:txBody>
      </p:sp>
      <p:sp>
        <p:nvSpPr>
          <p:cNvPr id="24" name="Shape"/>
          <p:cNvSpPr/>
          <p:nvPr/>
        </p:nvSpPr>
        <p:spPr>
          <a:xfrm>
            <a:off x="548640" y="44674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25" name="Shape"/>
          <p:cNvSpPr/>
          <p:nvPr/>
        </p:nvSpPr>
        <p:spPr>
          <a:xfrm>
            <a:off x="777240" y="45758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26" name="Text"/>
          <p:cNvSpPr/>
          <p:nvPr/>
        </p:nvSpPr>
        <p:spPr>
          <a:xfrm>
            <a:off x="777240" y="45758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7" name="Text"/>
          <p:cNvSpPr/>
          <p:nvPr/>
        </p:nvSpPr>
        <p:spPr>
          <a:xfrm>
            <a:off x="1600200" y="44674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dirty="0"/>
          </a:p>
        </p:txBody>
      </p:sp>
      <p:sp>
        <p:nvSpPr>
          <p:cNvPr id="28" name="Text"/>
          <p:cNvSpPr/>
          <p:nvPr/>
        </p:nvSpPr>
        <p:spPr>
          <a:xfrm>
            <a:off x="5029200" y="44674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calculations</a:t>
            </a:r>
            <a:endParaRPr lang="en-US" dirty="0"/>
          </a:p>
        </p:txBody>
      </p:sp>
      <p:sp>
        <p:nvSpPr>
          <p:cNvPr id="29" name="Shape"/>
          <p:cNvSpPr/>
          <p:nvPr/>
        </p:nvSpPr>
        <p:spPr>
          <a:xfrm>
            <a:off x="548640" y="51842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30" name="Shape"/>
          <p:cNvSpPr/>
          <p:nvPr/>
        </p:nvSpPr>
        <p:spPr>
          <a:xfrm>
            <a:off x="777240" y="52926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31" name="Text"/>
          <p:cNvSpPr/>
          <p:nvPr/>
        </p:nvSpPr>
        <p:spPr>
          <a:xfrm>
            <a:off x="777240" y="52926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2" name="Text"/>
          <p:cNvSpPr/>
          <p:nvPr/>
        </p:nvSpPr>
        <p:spPr>
          <a:xfrm>
            <a:off x="1600200" y="51842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colorama</a:t>
            </a:r>
            <a:endParaRPr lang="en-US" dirty="0"/>
          </a:p>
        </p:txBody>
      </p:sp>
      <p:sp>
        <p:nvSpPr>
          <p:cNvPr id="33" name="Text"/>
          <p:cNvSpPr/>
          <p:nvPr/>
        </p:nvSpPr>
        <p:spPr>
          <a:xfrm>
            <a:off x="5029200" y="51842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console output</a:t>
            </a:r>
            <a:endParaRPr lang="en-US" dirty="0"/>
          </a:p>
        </p:txBody>
      </p:sp>
      <p:sp>
        <p:nvSpPr>
          <p:cNvPr id="34" name="Shape"/>
          <p:cNvSpPr/>
          <p:nvPr/>
        </p:nvSpPr>
        <p:spPr>
          <a:xfrm>
            <a:off x="548640" y="5901000"/>
            <a:ext cx="10881360" cy="656800"/>
          </a:xfrm>
          <a:prstGeom prst="roundRect">
            <a:avLst>
              <a:gd name="adj" fmla="val 11765"/>
            </a:avLst>
          </a:prstGeom>
          <a:solidFill>
            <a:srgbClr val="F7F9F6"/>
          </a:solidFill>
          <a:ln w="12700">
            <a:solidFill>
              <a:srgbClr val="EFF6EC"/>
            </a:solidFill>
            <a:prstDash val="solid"/>
          </a:ln>
        </p:spPr>
      </p:sp>
      <p:sp>
        <p:nvSpPr>
          <p:cNvPr id="35" name="Shape"/>
          <p:cNvSpPr/>
          <p:nvPr/>
        </p:nvSpPr>
        <p:spPr>
          <a:xfrm>
            <a:off x="777240" y="6009400"/>
            <a:ext cx="440000" cy="440000"/>
          </a:xfrm>
          <a:prstGeom prst="ellipse">
            <a:avLst/>
          </a:prstGeom>
          <a:solidFill>
            <a:srgbClr val="3C7A3E"/>
          </a:solidFill>
          <a:ln/>
        </p:spPr>
      </p:sp>
      <p:sp>
        <p:nvSpPr>
          <p:cNvPr id="36" name="Text"/>
          <p:cNvSpPr/>
          <p:nvPr/>
        </p:nvSpPr>
        <p:spPr>
          <a:xfrm>
            <a:off x="777240" y="6009400"/>
            <a:ext cx="44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7" name="Text"/>
          <p:cNvSpPr/>
          <p:nvPr/>
        </p:nvSpPr>
        <p:spPr>
          <a:xfrm>
            <a:off x="1600200" y="5901000"/>
            <a:ext cx="329184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</a:t>
            </a:r>
            <a:endParaRPr lang="en-US" dirty="0"/>
          </a:p>
        </p:txBody>
      </p:sp>
      <p:sp>
        <p:nvSpPr>
          <p:cNvPr id="38" name="Text"/>
          <p:cNvSpPr/>
          <p:nvPr/>
        </p:nvSpPr>
        <p:spPr>
          <a:xfrm>
            <a:off x="5029200" y="5901000"/>
            <a:ext cx="6217920" cy="6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formatting</a:t>
            </a:r>
            <a:endParaRPr lang="en-US" dirty="0"/>
          </a:p>
        </p:txBody>
      </p:sp>
      <p:sp>
        <p:nvSpPr>
          <p:cNvPr id="39" name="Text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708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MT</cp:lastModifiedBy>
  <cp:revision>9</cp:revision>
  <dcterms:created xsi:type="dcterms:W3CDTF">2026-07-29T11:13:40Z</dcterms:created>
  <dcterms:modified xsi:type="dcterms:W3CDTF">2026-07-29T17:13:38Z</dcterms:modified>
</cp:coreProperties>
</file>