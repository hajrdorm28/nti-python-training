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embeddedFontLst>
    <p:embeddedFont>
      <p:font typeface="Lobster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Lobster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f3d05bf30c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g3f3d05bf30c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3d05bf30c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f3d05bf30c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3d05bf30c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f3d05bf30c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3d05bf30c_0_1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f3d05bf30c_0_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3d05bf30c_0_1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f3d05bf30c_0_1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40080" y="1325880"/>
            <a:ext cx="7863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Online Food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80" y="1965960"/>
            <a:ext cx="7863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Ordering System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0A0B0"/>
                </a:solidFill>
                <a:latin typeface="Calibri"/>
                <a:ea typeface="Calibri"/>
                <a:cs typeface="Calibri"/>
                <a:sym typeface="Calibri"/>
              </a:rPr>
              <a:t>A Python OOP Application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3425" y="373150"/>
            <a:ext cx="3368500" cy="336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0" y="0"/>
            <a:ext cx="4206300" cy="51435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548640"/>
            <a:ext cx="2286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274320" y="2926080"/>
            <a:ext cx="365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FOODCODE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274320" y="3401568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Online Food Ordering System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206240" y="0"/>
            <a:ext cx="36600" cy="51435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480560" y="411480"/>
            <a:ext cx="438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80560" y="960120"/>
            <a:ext cx="54900" cy="347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663440" y="978408"/>
            <a:ext cx="4206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Seif Mahrous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80560" y="1645920"/>
            <a:ext cx="54900" cy="347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663440" y="1664208"/>
            <a:ext cx="4206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Omar El-Gharably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80560" y="2331720"/>
            <a:ext cx="54900" cy="347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663440" y="2350008"/>
            <a:ext cx="4206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Youstina Nagy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80560" y="3017520"/>
            <a:ext cx="54900" cy="347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663440" y="3035808"/>
            <a:ext cx="4206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Mariam </a:t>
            </a: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Sherif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80560" y="3703320"/>
            <a:ext cx="54900" cy="3474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663440" y="3721608"/>
            <a:ext cx="4206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Rawan Hamada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480560" y="4434840"/>
            <a:ext cx="4389000" cy="13800"/>
          </a:xfrm>
          <a:prstGeom prst="rect">
            <a:avLst/>
          </a:prstGeom>
          <a:solidFill>
            <a:srgbClr val="A0A0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480560" y="4498848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rgbClr val="A0A0B0"/>
                </a:solidFill>
                <a:latin typeface="Calibri"/>
                <a:ea typeface="Calibri"/>
                <a:cs typeface="Calibri"/>
                <a:sym typeface="Calibri"/>
              </a:rPr>
              <a:t>Instructor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035095" y="4498911"/>
            <a:ext cx="310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Doaa Mohamed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320040" y="1188720"/>
            <a:ext cx="2651760" cy="356616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320040" y="12801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🍕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20040" y="19659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What It 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57200" y="24231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A console-based system connecting customers with restaurants to browse menus, place orders, and track deliveries.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200400" y="1188720"/>
            <a:ext cx="2651760" cy="356616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3200400" y="12801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🐍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200400" y="19659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Built With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337560" y="24231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Pure Python using OOP — classes, objects, constructors, and methods. Split across multiple modules for clean structure.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080760" y="1188720"/>
            <a:ext cx="2651760" cy="3566160"/>
          </a:xfrm>
          <a:prstGeom prst="rect">
            <a:avLst/>
          </a:prstGeom>
          <a:solidFill>
            <a:srgbClr val="0F3460"/>
          </a:solidFill>
          <a:ln cap="flat" cmpd="sng" w="12700">
            <a:solidFill>
              <a:srgbClr val="0F34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6080760" y="12801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080760" y="196596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Data Persistence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217920" y="24231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All data saved to .txt files so nothing is lost between runs. Loads everything back on startup automatically.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Classes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274320" y="1143000"/>
            <a:ext cx="1920240" cy="411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274320" y="11430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274320" y="1554480"/>
            <a:ext cx="192024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365760" y="164592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• id, name, email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365760" y="214884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• password, role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365760" y="265176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• address, phone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2450592" y="1143000"/>
            <a:ext cx="1920240" cy="41148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2450592" y="11430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Restaurant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2450592" y="1554480"/>
            <a:ext cx="192024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2542032" y="164592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• id, name, location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542032" y="214884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• rating, status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2542032" y="265176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• owner_id, menu_item_ids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626864" y="1143000"/>
            <a:ext cx="192024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4626864" y="11430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MenuItem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626864" y="1554480"/>
            <a:ext cx="192024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718304" y="164592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• id, restaurant_id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718304" y="214884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• name, category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718304" y="265176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• price, availability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803136" y="1143000"/>
            <a:ext cx="1920240" cy="411480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6803136" y="11430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803136" y="1554480"/>
            <a:ext cx="192024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6894576" y="164592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• id, customer_id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894576" y="214884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• restaurant_id, item_ids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894576" y="265176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• status, payment, total, 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 Features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365760" y="1188720"/>
            <a:ext cx="4114800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1051560" y="128016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Register &amp; Login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051560" y="1627632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0A0B0"/>
                </a:solidFill>
                <a:latin typeface="Calibri"/>
                <a:ea typeface="Calibri"/>
                <a:cs typeface="Calibri"/>
                <a:sym typeface="Calibri"/>
              </a:rPr>
              <a:t>Create account with email, password, address, phone. Role-based routing.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800600" y="1188720"/>
            <a:ext cx="4114800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4937760" y="1280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486400" y="128016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Search Restaurants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486400" y="1627632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0A0B0"/>
                </a:solidFill>
                <a:latin typeface="Calibri"/>
                <a:ea typeface="Calibri"/>
                <a:cs typeface="Calibri"/>
                <a:sym typeface="Calibri"/>
              </a:rPr>
              <a:t>Search by name or location (case-insensitive). View rating and status.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365760" y="2468880"/>
            <a:ext cx="4114800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502920" y="25603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051560" y="25603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Browse Menu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1051560" y="2907792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0A0B0"/>
                </a:solidFill>
                <a:latin typeface="Calibri"/>
                <a:ea typeface="Calibri"/>
                <a:cs typeface="Calibri"/>
                <a:sym typeface="Calibri"/>
              </a:rPr>
              <a:t>View all items for any restaurant with price and availability.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800600" y="2468880"/>
            <a:ext cx="4114800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4937760" y="25603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486400" y="25603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Place Orders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486400" y="2907792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0A0B0"/>
                </a:solidFill>
                <a:latin typeface="Calibri"/>
                <a:ea typeface="Calibri"/>
                <a:cs typeface="Calibri"/>
                <a:sym typeface="Calibri"/>
              </a:rPr>
              <a:t>Add items to cart, auto-calculate total, choose cash or card payment.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365760" y="3749040"/>
            <a:ext cx="4114800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502920" y="38404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051560" y="384048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 Orders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051560" y="4187952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0A0B0"/>
                </a:solidFill>
                <a:latin typeface="Calibri"/>
                <a:ea typeface="Calibri"/>
                <a:cs typeface="Calibri"/>
                <a:sym typeface="Calibri"/>
              </a:rPr>
              <a:t>Check current order status by order ID with timestamp.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800600" y="3749040"/>
            <a:ext cx="4114800" cy="1097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937760" y="38404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486400" y="384048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 History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486400" y="4187952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0A0B0"/>
                </a:solidFill>
                <a:latin typeface="Calibri"/>
                <a:ea typeface="Calibri"/>
                <a:cs typeface="Calibri"/>
                <a:sym typeface="Calibri"/>
              </a:rPr>
              <a:t>View all past orders tied to your account.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Restaurant Owner Features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274320" y="1143000"/>
            <a:ext cx="1920240" cy="3566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274320" y="128016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🏪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274320" y="1874520"/>
            <a:ext cx="192024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365760" y="19659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Create Restaurant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365760" y="2468880"/>
            <a:ext cx="17373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Set name, location, rating, and open/closed status. Linked to owner account.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2450592" y="1143000"/>
            <a:ext cx="1920240" cy="3566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2450592" y="128016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2450592" y="1874520"/>
            <a:ext cx="192024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2542032" y="19659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Manage Menu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2542032" y="2468880"/>
            <a:ext cx="17373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Add, edit, or remove menu items. Duplicate name protection per restaurant.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626864" y="1143000"/>
            <a:ext cx="1920240" cy="3566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4626864" y="128016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👁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4626864" y="1874520"/>
            <a:ext cx="192024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718304" y="19659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View Orders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718304" y="2468880"/>
            <a:ext cx="17373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See all incoming orders for your restaurant with full details.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6803136" y="1143000"/>
            <a:ext cx="1920240" cy="3566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6803136" y="128016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6803136" y="1874520"/>
            <a:ext cx="192024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6894576" y="19659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Update Status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6894576" y="2468880"/>
            <a:ext cx="17373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Move orders through: placed → confirmed → preparing → out for delivery → delivered.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Structure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365760" y="1143000"/>
            <a:ext cx="4069080" cy="7772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502920" y="121615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Courier New"/>
                <a:ea typeface="Courier New"/>
                <a:cs typeface="Courier New"/>
                <a:sym typeface="Courier New"/>
              </a:rPr>
              <a:t>main.py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02920" y="152704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Entry point. All menus, order flow, pre-loaded data, and program logic.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365760" y="2057400"/>
            <a:ext cx="4069080" cy="7772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502920" y="213055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Courier New"/>
                <a:ea typeface="Courier New"/>
                <a:cs typeface="Courier New"/>
                <a:sym typeface="Courier New"/>
              </a:rPr>
              <a:t>user.py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02920" y="244144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User class with fields and to_line() for file saving.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365760" y="2971800"/>
            <a:ext cx="4069080" cy="7772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502920" y="304495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Courier New"/>
                <a:ea typeface="Courier New"/>
                <a:cs typeface="Courier New"/>
                <a:sym typeface="Courier New"/>
              </a:rPr>
              <a:t>restaurant.py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502920" y="335584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Restaurant class with owner_id for access control.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365760" y="3886200"/>
            <a:ext cx="4069080" cy="7772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502920" y="395935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Courier New"/>
                <a:ea typeface="Courier New"/>
                <a:cs typeface="Courier New"/>
                <a:sym typeface="Courier New"/>
              </a:rPr>
              <a:t>menu_item.py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502920" y="427024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MenuItem class with price and availability.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4800600" y="1143000"/>
            <a:ext cx="4069080" cy="7772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4937760" y="121615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Courier New"/>
                <a:ea typeface="Courier New"/>
                <a:cs typeface="Courier New"/>
                <a:sym typeface="Courier New"/>
              </a:rPr>
              <a:t>order.py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937760" y="152704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Order class with status, payment, total, and date.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800600" y="2057400"/>
            <a:ext cx="4069080" cy="7772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4937760" y="213055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Courier New"/>
                <a:ea typeface="Courier New"/>
                <a:cs typeface="Courier New"/>
                <a:sym typeface="Courier New"/>
              </a:rPr>
              <a:t>file_manager.py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937760" y="244144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Save and load all four data lists to/from .txt files.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800600" y="2971800"/>
            <a:ext cx="4069080" cy="7772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4937760" y="304495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Courier New"/>
                <a:ea typeface="Courier New"/>
                <a:cs typeface="Courier New"/>
                <a:sym typeface="Courier New"/>
              </a:rPr>
              <a:t>utils.py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937760" y="335584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Input validation: non-empty, numbers, email, phone, rating.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Technical Concepts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320040" y="1143000"/>
            <a:ext cx="685800" cy="685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320040" y="11430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1097280" y="123444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Classes &amp; objects with constructors and methods for all 4 data types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4754880" y="1143000"/>
            <a:ext cx="685800" cy="685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4754880" y="11430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5532120" y="123444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Store all users, restaurants, menu items, and orders as object lists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320040" y="2103120"/>
            <a:ext cx="685800" cy="685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320040" y="2103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Dictionary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1097280" y="219456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Fast restaurant lookup by ID using {id: object} instead of looping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4754880" y="2103120"/>
            <a:ext cx="685800" cy="685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4754880" y="21031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File I/O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5532120" y="219456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Pipe-delimited .txt files. Load on startup, save on every change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320040" y="3063240"/>
            <a:ext cx="685800" cy="685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320040" y="30632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1097280" y="315468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Logic split across 7 files: classes, file manager, utils, main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4754880" y="3063240"/>
            <a:ext cx="685800" cy="685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4754880" y="30632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5532120" y="315468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All inputs checked: email, phone, numbers, ranges, duplicates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320040" y="4023360"/>
            <a:ext cx="685800" cy="685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320040" y="402336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datetime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097280" y="411480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Timestamps recorded when orders are placed for tracking and history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754880" y="4023360"/>
            <a:ext cx="685800" cy="685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4754880" y="402336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os.path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5532120" y="411480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File existence checked before loading to avoid crashes on first run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457200" y="155448"/>
            <a:ext cx="8229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Libraries Used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274320" y="1097280"/>
            <a:ext cx="4160400" cy="17373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274320" y="1097280"/>
            <a:ext cx="4160400" cy="549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438912" y="1188720"/>
            <a:ext cx="2286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🎲  random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438912" y="1572768"/>
            <a:ext cx="3794700" cy="2559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475488" y="1572768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94560"/>
                </a:solidFill>
                <a:latin typeface="Courier New"/>
                <a:ea typeface="Courier New"/>
                <a:cs typeface="Courier New"/>
                <a:sym typeface="Courier New"/>
              </a:rPr>
              <a:t>📍 main.py — generate_id()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438912" y="1892808"/>
            <a:ext cx="3794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Generates unique 5-digit IDs for every user, restaurant, menu item, and order using randint(10000, 99999).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438912" y="2523744"/>
            <a:ext cx="3794700" cy="237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502920" y="2542032"/>
            <a:ext cx="365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random.randint(10000, 99999)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4709160" y="1097280"/>
            <a:ext cx="4160400" cy="17373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4709160" y="1097280"/>
            <a:ext cx="4160400" cy="549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4873752" y="1188720"/>
            <a:ext cx="2286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📅  datetime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4873752" y="1572768"/>
            <a:ext cx="3794700" cy="2559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4910328" y="1572768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F9B8E"/>
                </a:solidFill>
                <a:latin typeface="Courier New"/>
                <a:ea typeface="Courier New"/>
                <a:cs typeface="Courier New"/>
                <a:sym typeface="Courier New"/>
              </a:rPr>
              <a:t>📍 main.py — place_order()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873752" y="1892808"/>
            <a:ext cx="3794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Records the exact date and time when an order is placed. Stored as a string inside the Order object.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4873752" y="2523744"/>
            <a:ext cx="3794700" cy="237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4937760" y="2542032"/>
            <a:ext cx="365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datetime.now()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274320" y="3017520"/>
            <a:ext cx="4160400" cy="17373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274320" y="3017520"/>
            <a:ext cx="4160400" cy="54900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438912" y="3108960"/>
            <a:ext cx="2286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B68EE"/>
                </a:solidFill>
                <a:latin typeface="Calibri"/>
                <a:ea typeface="Calibri"/>
                <a:cs typeface="Calibri"/>
                <a:sym typeface="Calibri"/>
              </a:rPr>
              <a:t>📁  os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438912" y="3493008"/>
            <a:ext cx="3794700" cy="2559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475488" y="3493008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B68EE"/>
                </a:solidFill>
                <a:latin typeface="Courier New"/>
                <a:ea typeface="Courier New"/>
                <a:cs typeface="Courier New"/>
                <a:sym typeface="Courier New"/>
              </a:rPr>
              <a:t>📍 file_manager.py — all load functions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438912" y="3813048"/>
            <a:ext cx="3794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Checks if a .txt data file exists before trying to open it, preventing crashes on the very first run.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438912" y="4443984"/>
            <a:ext cx="3794700" cy="237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502920" y="4462272"/>
            <a:ext cx="365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os.path.exists("file.txt")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4709160" y="3017520"/>
            <a:ext cx="4160400" cy="17373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4709160" y="3017520"/>
            <a:ext cx="4160400" cy="549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4873752" y="3108960"/>
            <a:ext cx="2286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🔢  math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4873752" y="3493008"/>
            <a:ext cx="3794700" cy="2559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4910328" y="3493008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5A623"/>
                </a:solidFill>
                <a:latin typeface="Courier New"/>
                <a:ea typeface="Courier New"/>
                <a:cs typeface="Courier New"/>
                <a:sym typeface="Courier New"/>
              </a:rPr>
              <a:t>📍 main.py — place_order()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4873752" y="3813048"/>
            <a:ext cx="3794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Rounds the discounted order total to 2 decimal places after applying the 10% discount for orders over $50.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4873752" y="4443984"/>
            <a:ext cx="3794700" cy="237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4937760" y="4462272"/>
            <a:ext cx="365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math.floor(total * 100) / 100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It Runs — Sample Scenario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320040" y="1143000"/>
            <a:ext cx="347472" cy="34747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320040" y="11430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777240" y="1143000"/>
            <a:ext cx="1005840" cy="320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777240" y="114300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1920240" y="1161288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Registers with name, email, password, address, and phone.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320040" y="1705356"/>
            <a:ext cx="347472" cy="34747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320040" y="170535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777240" y="1705356"/>
            <a:ext cx="1005840" cy="320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777240" y="1705356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1920240" y="1723644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Searches for a restaurant by name or location, views its menu.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320040" y="2267712"/>
            <a:ext cx="347472" cy="34747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320040" y="226771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777240" y="2267712"/>
            <a:ext cx="1005840" cy="320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777240" y="2267712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1920240" y="228600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Adds items to cart — system calculates total, applies 10% discount if over $50.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320040" y="2830068"/>
            <a:ext cx="347472" cy="34747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320040" y="283006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777240" y="2830068"/>
            <a:ext cx="1005840" cy="320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777240" y="2830068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1920240" y="2848356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Chooses card payment and places order. Order saved with timestamp.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320040" y="3392424"/>
            <a:ext cx="347472" cy="34747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320040" y="339242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777240" y="3392424"/>
            <a:ext cx="1005840" cy="3200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777240" y="3392424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1920240" y="3410712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Logs in, views incoming orders, updates status to Confirmed → Preparing.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320040" y="3954780"/>
            <a:ext cx="347472" cy="34747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320040" y="39547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777240" y="3954780"/>
            <a:ext cx="1005840" cy="3200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777240" y="395478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1920240" y="3973068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Marks order as Out for Delivery, then Delivered.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320040" y="4517136"/>
            <a:ext cx="347472" cy="34747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320040" y="451713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777240" y="4517136"/>
            <a:ext cx="1005840" cy="320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777240" y="4517136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1920240" y="4535424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Tracks order ID and sees status update to Delivered.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457200" y="1371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Spotlight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274320" y="1005840"/>
            <a:ext cx="4114800" cy="3657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274320" y="1005840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place_order() — cart &amp; total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274320" y="1371600"/>
            <a:ext cx="4114800" cy="3383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411480" y="1417320"/>
            <a:ext cx="3840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5A623"/>
                </a:solidFill>
                <a:latin typeface="Courier New"/>
                <a:ea typeface="Courier New"/>
                <a:cs typeface="Courier New"/>
                <a:sym typeface="Courier New"/>
              </a:rPr>
              <a:t>cart = []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411480" y="1600200"/>
            <a:ext cx="3840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5A623"/>
                </a:solidFill>
                <a:latin typeface="Courier New"/>
                <a:ea typeface="Courier New"/>
                <a:cs typeface="Courier New"/>
                <a:sym typeface="Courier New"/>
              </a:rPr>
              <a:t>total = 0.0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411480" y="1965960"/>
            <a:ext cx="3840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7B68EE"/>
                </a:solidFill>
                <a:latin typeface="Courier New"/>
                <a:ea typeface="Courier New"/>
                <a:cs typeface="Courier New"/>
                <a:sym typeface="Courier New"/>
              </a:rPr>
              <a:t>while True: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576072" y="2148840"/>
            <a:ext cx="3675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item_id = get_non_empty("Enter item ID: ")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576072" y="2514600"/>
            <a:ext cx="3675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7B68EE"/>
                </a:solidFill>
                <a:latin typeface="Courier New"/>
                <a:ea typeface="Courier New"/>
                <a:cs typeface="Courier New"/>
                <a:sym typeface="Courier New"/>
              </a:rPr>
              <a:t>for item in menu_items: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740664" y="2697480"/>
            <a:ext cx="3511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7B68EE"/>
                </a:solidFill>
                <a:latin typeface="Courier New"/>
                <a:ea typeface="Courier New"/>
                <a:cs typeface="Courier New"/>
                <a:sym typeface="Courier New"/>
              </a:rPr>
              <a:t>if item.id == item_id and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740664" y="2880360"/>
            <a:ext cx="3511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   item.restaurant_id == rid: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905256" y="3063240"/>
            <a:ext cx="3346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found_item = item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905256" y="3246120"/>
            <a:ext cx="3346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576072" y="3611880"/>
            <a:ext cx="3675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5A623"/>
                </a:solidFill>
                <a:latin typeface="Courier New"/>
                <a:ea typeface="Courier New"/>
                <a:cs typeface="Courier New"/>
                <a:sym typeface="Courier New"/>
              </a:rPr>
              <a:t>cart.append(item_id)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576072" y="3794760"/>
            <a:ext cx="3675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5A623"/>
                </a:solidFill>
                <a:latin typeface="Courier New"/>
                <a:ea typeface="Courier New"/>
                <a:cs typeface="Courier New"/>
                <a:sym typeface="Courier New"/>
              </a:rPr>
              <a:t>total = total + found_item.price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411480" y="4160520"/>
            <a:ext cx="3840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7B68EE"/>
                </a:solidFill>
                <a:latin typeface="Courier New"/>
                <a:ea typeface="Courier New"/>
                <a:cs typeface="Courier New"/>
                <a:sym typeface="Courier New"/>
              </a:rPr>
              <a:t>if total &gt; 50: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576072" y="4343400"/>
            <a:ext cx="3675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5A623"/>
                </a:solidFill>
                <a:latin typeface="Courier New"/>
                <a:ea typeface="Courier New"/>
                <a:cs typeface="Courier New"/>
                <a:sym typeface="Courier New"/>
              </a:rPr>
              <a:t>total = total - total * 0.10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4754880" y="1005840"/>
            <a:ext cx="4114800" cy="3657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4754880" y="1005840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get_restaurant_by_id() — dict lookup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4754880" y="1371600"/>
            <a:ext cx="4114800" cy="1554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4846320" y="1417320"/>
            <a:ext cx="3931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5A623"/>
                </a:solidFill>
                <a:latin typeface="Courier New"/>
                <a:ea typeface="Courier New"/>
                <a:cs typeface="Courier New"/>
                <a:sym typeface="Courier New"/>
              </a:rPr>
              <a:t>def get_restaurant_by_id(rid):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4846320" y="1613916"/>
            <a:ext cx="3931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    lookup = {}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4846320" y="1810512"/>
            <a:ext cx="3931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7B68EE"/>
                </a:solidFill>
                <a:latin typeface="Courier New"/>
                <a:ea typeface="Courier New"/>
                <a:cs typeface="Courier New"/>
                <a:sym typeface="Courier New"/>
              </a:rPr>
              <a:t>    for r in restaurants: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4846320" y="2007108"/>
            <a:ext cx="3931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        lookup[r.id] = r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4846320" y="2203704"/>
            <a:ext cx="3931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7B68EE"/>
                </a:solidFill>
                <a:latin typeface="Courier New"/>
                <a:ea typeface="Courier New"/>
                <a:cs typeface="Courier New"/>
                <a:sym typeface="Courier New"/>
              </a:rPr>
              <a:t>    if rid in lookup: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4846320" y="2400300"/>
            <a:ext cx="3931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7B68EE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lookup[rid]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4846320" y="2596896"/>
            <a:ext cx="3931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7B68EE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None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4754880" y="3017520"/>
            <a:ext cx="4114800" cy="365700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4754880" y="3017520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class — constructor + to_line()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4754880" y="3383280"/>
            <a:ext cx="41148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4846320" y="3429000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5A623"/>
                </a:solidFill>
                <a:latin typeface="Courier New"/>
                <a:ea typeface="Courier New"/>
                <a:cs typeface="Courier New"/>
                <a:sym typeface="Courier New"/>
              </a:rPr>
              <a:t>class User: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4846320" y="3611880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5A623"/>
                </a:solidFill>
                <a:latin typeface="Courier New"/>
                <a:ea typeface="Courier New"/>
                <a:cs typeface="Courier New"/>
                <a:sym typeface="Courier New"/>
              </a:rPr>
              <a:t>  def __init__(self, id, name,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4846320" y="3794760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email, password,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4846320" y="3977640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role, address, phone):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4846320" y="4160520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    self.id = id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4846320" y="4343400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    self.name = name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4846320" y="4526280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    self.role = role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457200" y="1371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Sample Run — Terminal Output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274320" y="960120"/>
            <a:ext cx="4114800" cy="3474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411480" y="1024128"/>
            <a:ext cx="118800" cy="1188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612648" y="1024128"/>
            <a:ext cx="118800" cy="1188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4"/>
          <p:cNvSpPr/>
          <p:nvPr/>
        </p:nvSpPr>
        <p:spPr>
          <a:xfrm>
            <a:off x="813816" y="1024128"/>
            <a:ext cx="118800" cy="1188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1097280" y="1005840"/>
            <a:ext cx="320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0A0B0"/>
                </a:solidFill>
                <a:latin typeface="Courier New"/>
                <a:ea typeface="Courier New"/>
                <a:cs typeface="Courier New"/>
                <a:sym typeface="Courier New"/>
              </a:rPr>
              <a:t>customer — place order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274320" y="1307592"/>
            <a:ext cx="4114800" cy="3474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4"/>
          <p:cNvSpPr/>
          <p:nvPr/>
        </p:nvSpPr>
        <p:spPr>
          <a:xfrm>
            <a:off x="365760" y="1371600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A0A0B0"/>
                </a:solidFill>
                <a:latin typeface="Courier New"/>
                <a:ea typeface="Courier New"/>
                <a:cs typeface="Courier New"/>
                <a:sym typeface="Courier New"/>
              </a:rPr>
              <a:t>=== Customer Menu ===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365760" y="1538935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3. Place an Order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365760" y="1706270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Choose an option: 3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365760" y="2040941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A0A0B0"/>
                </a:solidFill>
                <a:latin typeface="Courier New"/>
                <a:ea typeface="Courier New"/>
                <a:cs typeface="Courier New"/>
                <a:sym typeface="Courier New"/>
              </a:rPr>
              <a:t>--- Place Order ---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365760" y="2208276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Available restaurants: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365760" y="2375611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ID: 33333 | Pizza Palace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365760" y="2542946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ID: 44444 | Burger Barn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365760" y="2710282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Enter restaurant ID: 33333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365760" y="3044952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A0A0B0"/>
                </a:solidFill>
                <a:latin typeface="Courier New"/>
                <a:ea typeface="Courier New"/>
                <a:cs typeface="Courier New"/>
                <a:sym typeface="Courier New"/>
              </a:rPr>
              <a:t>--- Menu for Pizza Palace ---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365760" y="3212287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ID: 55551 | Margherita Pizza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365760" y="3379622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A0A0B0"/>
                </a:solidFill>
                <a:latin typeface="Courier New"/>
                <a:ea typeface="Courier New"/>
                <a:cs typeface="Courier New"/>
                <a:sym typeface="Courier New"/>
              </a:rPr>
              <a:t>  Category: Pizza | $12.99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365760" y="3546958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ID: 55552 | Pepperoni Pizza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365760" y="3714293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A0A0B0"/>
                </a:solidFill>
                <a:latin typeface="Courier New"/>
                <a:ea typeface="Courier New"/>
                <a:cs typeface="Courier New"/>
                <a:sym typeface="Courier New"/>
              </a:rPr>
              <a:t>  Category: Pizza | $14.99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365760" y="4048963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Enter item ID to add: 55551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365760" y="4216298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Margherita Pizza added.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365760" y="4383634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Running total: $12.99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365760" y="4550969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Enter item ID to add: 55552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365760" y="5220310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Choose: 2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365760" y="5387645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5A623"/>
                </a:solidFill>
                <a:latin typeface="Courier New"/>
                <a:ea typeface="Courier New"/>
                <a:cs typeface="Courier New"/>
                <a:sym typeface="Courier New"/>
              </a:rPr>
              <a:t>Order placed! ID: 53962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4754880" y="960120"/>
            <a:ext cx="4114800" cy="3474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4"/>
          <p:cNvSpPr/>
          <p:nvPr/>
        </p:nvSpPr>
        <p:spPr>
          <a:xfrm>
            <a:off x="4892040" y="1024128"/>
            <a:ext cx="118800" cy="1188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4"/>
          <p:cNvSpPr/>
          <p:nvPr/>
        </p:nvSpPr>
        <p:spPr>
          <a:xfrm>
            <a:off x="5093208" y="1024128"/>
            <a:ext cx="118800" cy="1188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5294376" y="1024128"/>
            <a:ext cx="118800" cy="1188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4"/>
          <p:cNvSpPr/>
          <p:nvPr/>
        </p:nvSpPr>
        <p:spPr>
          <a:xfrm>
            <a:off x="5577840" y="1005840"/>
            <a:ext cx="320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0A0B0"/>
                </a:solidFill>
                <a:latin typeface="Courier New"/>
                <a:ea typeface="Courier New"/>
                <a:cs typeface="Courier New"/>
                <a:sym typeface="Courier New"/>
              </a:rPr>
              <a:t>owner — update order status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4754880" y="1307592"/>
            <a:ext cx="4114800" cy="3474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4"/>
          <p:cNvSpPr/>
          <p:nvPr/>
        </p:nvSpPr>
        <p:spPr>
          <a:xfrm>
            <a:off x="4846320" y="1371600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A0A0B0"/>
                </a:solidFill>
                <a:latin typeface="Courier New"/>
                <a:ea typeface="Courier New"/>
                <a:cs typeface="Courier New"/>
                <a:sym typeface="Courier New"/>
              </a:rPr>
              <a:t>=== Owner Menu ===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4846320" y="1538935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5. Update Order Status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4846320" y="1706270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Choose an option: 5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4846320" y="2040941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A0A0B0"/>
                </a:solidFill>
                <a:latin typeface="Courier New"/>
                <a:ea typeface="Courier New"/>
                <a:cs typeface="Courier New"/>
                <a:sym typeface="Courier New"/>
              </a:rPr>
              <a:t>--- Update Order Status ---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4846320" y="2208276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Enter order ID: 53962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4846320" y="2375611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5A623"/>
                </a:solidFill>
                <a:latin typeface="Courier New"/>
                <a:ea typeface="Courier New"/>
                <a:cs typeface="Courier New"/>
                <a:sym typeface="Courier New"/>
              </a:rPr>
              <a:t>Current status: placed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4846320" y="2542946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Next status: confirmed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4846320" y="2710282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1. Confirm  2. Cancel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4846320" y="2877617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Choose: 1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4846320" y="3044952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Status updated: confirmed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4846320" y="3379622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Choose an option: 5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4846320" y="3546958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Enter order ID: 53962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4846320" y="3714293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5A623"/>
                </a:solidFill>
                <a:latin typeface="Courier New"/>
                <a:ea typeface="Courier New"/>
                <a:cs typeface="Courier New"/>
                <a:sym typeface="Courier New"/>
              </a:rPr>
              <a:t>Current status: confirmed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4846320" y="3881628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Next status: preparing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4846320" y="4048963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Choose: 1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4846320" y="4216298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Status updated: preparing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4846320" y="5387645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  out_for_delivery ✓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457200" y="1371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 &amp; Data Storage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274320" y="960120"/>
            <a:ext cx="4114800" cy="3474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5"/>
          <p:cNvSpPr/>
          <p:nvPr/>
        </p:nvSpPr>
        <p:spPr>
          <a:xfrm>
            <a:off x="411480" y="1024128"/>
            <a:ext cx="118800" cy="1188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5"/>
          <p:cNvSpPr/>
          <p:nvPr/>
        </p:nvSpPr>
        <p:spPr>
          <a:xfrm>
            <a:off x="612648" y="1024128"/>
            <a:ext cx="118800" cy="1188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813816" y="1024128"/>
            <a:ext cx="118800" cy="11880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1097280" y="1005840"/>
            <a:ext cx="320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0A0B0"/>
                </a:solidFill>
                <a:latin typeface="Courier New"/>
                <a:ea typeface="Courier New"/>
                <a:cs typeface="Courier New"/>
                <a:sym typeface="Courier New"/>
              </a:rPr>
              <a:t>validation errors in action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274320" y="1307592"/>
            <a:ext cx="4114800" cy="3474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5"/>
          <p:cNvSpPr/>
          <p:nvPr/>
        </p:nvSpPr>
        <p:spPr>
          <a:xfrm>
            <a:off x="365760" y="1371600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A0A0B0"/>
                </a:solidFill>
                <a:latin typeface="Courier New"/>
                <a:ea typeface="Courier New"/>
                <a:cs typeface="Courier New"/>
                <a:sym typeface="Courier New"/>
              </a:rPr>
              <a:t>--- Register ---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365760" y="1538935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Enter your name: 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365760" y="1706270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  &gt; (empty)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365760" y="1873606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E94560"/>
                </a:solidFill>
                <a:latin typeface="Courier New"/>
                <a:ea typeface="Courier New"/>
                <a:cs typeface="Courier New"/>
                <a:sym typeface="Courier New"/>
              </a:rPr>
              <a:t>This field cannot be empty.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365760" y="2040941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Enter your name: Alice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365760" y="2375611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Enter your email: notanemail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365760" y="2542946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E94560"/>
                </a:solidFill>
                <a:latin typeface="Courier New"/>
                <a:ea typeface="Courier New"/>
                <a:cs typeface="Courier New"/>
                <a:sym typeface="Courier New"/>
              </a:rPr>
              <a:t>Please enter a valid email.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365760" y="2710282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Enter your email: a@b.com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365760" y="3044952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Enter your phone: abc123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365760" y="3212287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E94560"/>
                </a:solidFill>
                <a:latin typeface="Courier New"/>
                <a:ea typeface="Courier New"/>
                <a:cs typeface="Courier New"/>
                <a:sym typeface="Courier New"/>
              </a:rPr>
              <a:t>Digits only, at least 7 digits.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365760" y="3379622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Enter your phone: 5551234567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365760" y="3714293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Enter restaurant name: Pizza Palace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365760" y="3881628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E94560"/>
                </a:solidFill>
                <a:latin typeface="Courier New"/>
                <a:ea typeface="Courier New"/>
                <a:cs typeface="Courier New"/>
                <a:sym typeface="Courier New"/>
              </a:rPr>
              <a:t>A restaurant with this name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365760" y="4048963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E94560"/>
                </a:solidFill>
                <a:latin typeface="Courier New"/>
                <a:ea typeface="Courier New"/>
                <a:cs typeface="Courier New"/>
                <a:sym typeface="Courier New"/>
              </a:rPr>
              <a:t>already exists.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365760" y="4383634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B894"/>
                </a:solidFill>
                <a:latin typeface="Courier New"/>
                <a:ea typeface="Courier New"/>
                <a:cs typeface="Courier New"/>
                <a:sym typeface="Courier New"/>
              </a:rPr>
              <a:t>Enter price: -5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365760" y="4550969"/>
            <a:ext cx="393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E94560"/>
                </a:solidFill>
                <a:latin typeface="Courier New"/>
                <a:ea typeface="Courier New"/>
                <a:cs typeface="Courier New"/>
                <a:sym typeface="Courier New"/>
              </a:rPr>
              <a:t>Number must be &gt; zero.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4754880" y="960120"/>
            <a:ext cx="4114800" cy="3474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5"/>
          <p:cNvSpPr/>
          <p:nvPr/>
        </p:nvSpPr>
        <p:spPr>
          <a:xfrm>
            <a:off x="4800600" y="1005840"/>
            <a:ext cx="4023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📄  .txt file format (pipe-delimited)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4754880" y="1371600"/>
            <a:ext cx="4114800" cy="2559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5"/>
          <p:cNvSpPr/>
          <p:nvPr/>
        </p:nvSpPr>
        <p:spPr>
          <a:xfrm>
            <a:off x="4800600" y="1399032"/>
            <a:ext cx="4023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users.txt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4754880" y="1627632"/>
            <a:ext cx="4114800" cy="1097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4846320" y="1627632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11111|Alice Smith|alice@email.com</a:t>
            </a:r>
            <a:endParaRPr b="0" i="0" sz="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4846320" y="1810512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|pass123|customer|123 Main St</a:t>
            </a:r>
            <a:endParaRPr b="0" i="0" sz="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4846320" y="1993392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|5551234567</a:t>
            </a:r>
            <a:endParaRPr b="0" i="0" sz="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4846320" y="2176272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22222|Bob Owner|bob@email.com</a:t>
            </a:r>
            <a:endParaRPr b="0" i="0" sz="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4846320" y="2359152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|pass456|owner|456 Market Ave</a:t>
            </a:r>
            <a:endParaRPr b="0" i="0" sz="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4846320" y="2542032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|5559876543</a:t>
            </a:r>
            <a:endParaRPr b="0" i="0" sz="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4754880" y="2862072"/>
            <a:ext cx="4114800" cy="2559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5"/>
          <p:cNvSpPr/>
          <p:nvPr/>
        </p:nvSpPr>
        <p:spPr>
          <a:xfrm>
            <a:off x="4800600" y="2889504"/>
            <a:ext cx="4023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restaurants.txt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4754880" y="3118104"/>
            <a:ext cx="4114800" cy="1097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5"/>
          <p:cNvSpPr/>
          <p:nvPr/>
        </p:nvSpPr>
        <p:spPr>
          <a:xfrm>
            <a:off x="4846320" y="3118104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33333|Pizza Palace|Downtown</a:t>
            </a:r>
            <a:endParaRPr b="0" i="0" sz="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4846320" y="3300984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|4.5|55551,55552,55553</a:t>
            </a:r>
            <a:endParaRPr b="0" i="0" sz="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4846320" y="3483864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|open|22222</a:t>
            </a:r>
            <a:endParaRPr b="0" i="0" sz="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4846320" y="3666744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44444|Burger Barn|Uptown</a:t>
            </a:r>
            <a:endParaRPr b="0" i="0" sz="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4846320" y="3849624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|4.2|55554,55555,55556</a:t>
            </a:r>
            <a:endParaRPr b="0" i="0" sz="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4846320" y="4032504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|open|22222</a:t>
            </a:r>
            <a:endParaRPr b="0" i="0" sz="8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6"/>
          <p:cNvSpPr/>
          <p:nvPr/>
        </p:nvSpPr>
        <p:spPr>
          <a:xfrm>
            <a:off x="0" y="2560320"/>
            <a:ext cx="9144000" cy="25833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6"/>
          <p:cNvSpPr/>
          <p:nvPr/>
        </p:nvSpPr>
        <p:spPr>
          <a:xfrm>
            <a:off x="457200" y="2114555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Lobster"/>
                <a:ea typeface="Lobster"/>
                <a:cs typeface="Lobster"/>
                <a:sym typeface="Lobster"/>
              </a:rPr>
              <a:t>Thank You</a:t>
            </a:r>
            <a:endParaRPr i="0" sz="5600" u="none" cap="none" strike="noStrike">
              <a:solidFill>
                <a:schemeClr val="dk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457200" y="458646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Online Food Ordering System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