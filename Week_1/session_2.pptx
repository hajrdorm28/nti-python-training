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94" r:id="rId3"/>
    <p:sldId id="321" r:id="rId4"/>
    <p:sldId id="295" r:id="rId5"/>
    <p:sldId id="296" r:id="rId6"/>
    <p:sldId id="297" r:id="rId7"/>
    <p:sldId id="298" r:id="rId8"/>
    <p:sldId id="299" r:id="rId9"/>
    <p:sldId id="300" r:id="rId10"/>
    <p:sldId id="324" r:id="rId11"/>
    <p:sldId id="325" r:id="rId12"/>
    <p:sldId id="301" r:id="rId13"/>
    <p:sldId id="302" r:id="rId14"/>
    <p:sldId id="326" r:id="rId15"/>
    <p:sldId id="303" r:id="rId16"/>
    <p:sldId id="327" r:id="rId17"/>
    <p:sldId id="304" r:id="rId18"/>
    <p:sldId id="305" r:id="rId19"/>
    <p:sldId id="306" r:id="rId20"/>
    <p:sldId id="307" r:id="rId21"/>
    <p:sldId id="323" r:id="rId22"/>
    <p:sldId id="328" r:id="rId23"/>
    <p:sldId id="310" r:id="rId24"/>
    <p:sldId id="311" r:id="rId25"/>
    <p:sldId id="322" r:id="rId26"/>
    <p:sldId id="313" r:id="rId27"/>
  </p:sldIdLst>
  <p:sldSz cx="12192000" cy="6858000"/>
  <p:notesSz cx="6858000" cy="9144000"/>
  <p:embeddedFontLst>
    <p:embeddedFont>
      <p:font typeface="Calibri" panose="020F0502020204030204" pitchFamily="34" charset="0"/>
      <p:regular r:id="rId29"/>
      <p:bold r:id="rId30"/>
    </p:embeddedFont>
    <p:embeddedFont>
      <p:font typeface="Segoe UI Semibold" panose="020B0702040204020203" pitchFamily="34" charset="0"/>
      <p:regular r:id="rId31"/>
      <p:bold r:id="rId32"/>
      <p:italic r:id="rId33"/>
      <p:boldItalic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528" userDrawn="1">
          <p15:clr>
            <a:srgbClr val="A4A3A4"/>
          </p15:clr>
        </p15:guide>
        <p15:guide id="3" pos="7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B94"/>
    <a:srgbClr val="0D7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1061" autoAdjust="0"/>
  </p:normalViewPr>
  <p:slideViewPr>
    <p:cSldViewPr snapToGrid="0">
      <p:cViewPr varScale="1">
        <p:scale>
          <a:sx n="77" d="100"/>
          <a:sy n="77" d="100"/>
        </p:scale>
        <p:origin x="552" y="90"/>
      </p:cViewPr>
      <p:guideLst>
        <p:guide orient="horz" pos="3888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5E4A5-61F0-4A45-A308-BB450F325CC1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22913-3848-4702-9CA6-43C445879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20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9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4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01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7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8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90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99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64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2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89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2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08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22913-3848-4702-9CA6-43C445879C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65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278F43A-FB5C-B2EB-F9DE-AF246B9BCD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62" y="1376475"/>
            <a:ext cx="4742246" cy="456210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DAEE64-3165-EBF4-F20C-C39BD64C2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49891"/>
            <a:ext cx="4341467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304979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CE44F-0AC8-95A4-A0BE-37EFA2F15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8893175" cy="3266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5548F9-F8BC-EFDB-C687-8D0C5A93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97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24865" y="1495168"/>
            <a:ext cx="7692964" cy="428263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FF78D9-C1A2-526F-6420-B3D76D0B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495168"/>
            <a:ext cx="34050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3946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76163"/>
            <a:ext cx="12192000" cy="34289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9820320-FD11-BAF5-37F4-CF304DE6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4475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0699" y="155695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ABAD49B-FDB5-F77F-A443-0E3F5E7156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9319" y="1546501"/>
            <a:ext cx="2875271" cy="424135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366EAC-19C8-6C5F-048D-4DC4B555FC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074856" cy="1983107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56324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B0C6339-CA41-2A13-E31E-C9B624A249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8" y="2444345"/>
            <a:ext cx="3294042" cy="29417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1EF183C-CE0C-2B93-D215-252B683E94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18112" y="1645630"/>
            <a:ext cx="3294042" cy="438355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818556-CB74-61E7-75FD-256A2431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5537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77395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9F59937-5E08-66DF-EBE6-71F9DF9C98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00171" y="2561353"/>
            <a:ext cx="3254625" cy="21076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B3B78D-483A-DCE1-6079-3B46A855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0991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4056" y="2231136"/>
            <a:ext cx="3254626" cy="3255264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9FEAE8-5AF9-03B3-0844-DDBF6CB1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39311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91731" y="1426865"/>
            <a:ext cx="5869214" cy="294390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9BD62F-0B76-88A2-E29D-59829B77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600282"/>
            <a:ext cx="392948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01266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25143" y="1589524"/>
            <a:ext cx="6966857" cy="424736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799DE-AC33-6FB4-AA25-AEF9862E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365817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12768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0712" y="1320323"/>
            <a:ext cx="4204740" cy="498278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D27499-F706-FAB7-D036-ED85BD77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162" y="1320323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20452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199" y="3285120"/>
            <a:ext cx="5043461" cy="2555623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85313B9-1E3D-25CD-C016-3DA6D7EFD11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0341" y="1557495"/>
            <a:ext cx="5294667" cy="2842352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CE7931-72DD-ACE7-A685-6ECE67AA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05" y="1313548"/>
            <a:ext cx="4441950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523974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7469" y="2459715"/>
            <a:ext cx="4783157" cy="339408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21E2BF-599D-B1F9-D6E8-5DCA4FF2B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79152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1455" y="1552454"/>
            <a:ext cx="5613400" cy="4247361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0AE96D8-BF7F-6004-FB2D-86621585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1" y="3026520"/>
            <a:ext cx="4009871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2748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77973" y="2975832"/>
            <a:ext cx="8036051" cy="290684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2D82A6-9BE4-1B56-B81C-E40D68A6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925356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721" y="1373448"/>
            <a:ext cx="3484625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D8A88D9-93EB-19DF-C0DB-7F020B3F07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7323" y="1373448"/>
            <a:ext cx="2970520" cy="432396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CBFA21-027C-9D7E-86C4-6A892D55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3327970"/>
            <a:ext cx="3758662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53210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3530" y="2471257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D4F9BE-3AC0-19C2-9187-3FD8A481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56375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22483-4632-E171-2855-7D99A603FA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2564" y="2224603"/>
            <a:ext cx="10158413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6BE785-A8E6-66CF-A260-2DF94E4BC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22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125" y="1524612"/>
            <a:ext cx="5694218" cy="4420275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1626-1B9C-F9E7-848F-8656655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582794"/>
            <a:ext cx="3839049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74998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29" y="2337059"/>
            <a:ext cx="4928616" cy="330905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34112C-F87F-EA2E-4F5B-03A38B93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5522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58097"/>
            <a:ext cx="3526971" cy="473897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2C1E3-120D-3FEC-1B77-2A36BF6D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875" y="1553089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03250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1909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B098B3-79E1-266E-BB89-C5D12EB23DC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9547" y="2339818"/>
            <a:ext cx="2909350" cy="3427936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40E445-A68C-4D36-E75A-60468A3F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9643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882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B439235-1612-8175-756F-EC4690BF4E8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773345"/>
            <a:ext cx="5169483" cy="3004457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477963-0E68-6BE9-685A-14AC4960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040324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259" y="1470454"/>
            <a:ext cx="4463683" cy="4399900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E7F65-8C2A-99A3-29F7-AB052EE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772" y="1580088"/>
            <a:ext cx="4602724" cy="978729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008214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0990" y="2318009"/>
            <a:ext cx="3461119" cy="346111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45EB47-DFC0-2E76-0595-02B2E454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0464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6750" y="2200589"/>
            <a:ext cx="3461118" cy="3873499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1F8B9-D5FB-9194-E851-27D411D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46613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cho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17DE6-F88A-C90C-0129-AD6BC8A753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30723" y="1507524"/>
            <a:ext cx="3154531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DA4CFAE-E2E2-884F-70F5-32FCCDCD7A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22136" y="1507524"/>
            <a:ext cx="3154532" cy="4330568"/>
          </a:xfrm>
          <a:prstGeom prst="rect">
            <a:avLst/>
          </a:prstGeom>
          <a:pattFill prst="pct5">
            <a:fgClr>
              <a:srgbClr val="FF0000"/>
            </a:fgClr>
            <a:bgClr>
              <a:schemeClr val="bg1"/>
            </a:bgClr>
          </a:pattFill>
        </p:spPr>
        <p:txBody>
          <a:bodyPr/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DBEE-D77F-11A7-DCDC-8738B648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726" y="3211081"/>
            <a:ext cx="2159997" cy="1255728"/>
          </a:xfrm>
        </p:spPr>
        <p:txBody>
          <a:bodyPr>
            <a:sp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50006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C5D961B-A4A4-4C00-9552-A437343E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919" y="1335664"/>
            <a:ext cx="7551938" cy="584775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9847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15DC9D-6410-4FCE-22DB-5A4A3E96802F}"/>
              </a:ext>
            </a:extLst>
          </p:cNvPr>
          <p:cNvPicPr/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9263767-B6AA-FEF6-295D-20D68A167F80}"/>
              </a:ext>
            </a:extLst>
          </p:cNvPr>
          <p:cNvSpPr/>
          <p:nvPr userDrawn="1"/>
        </p:nvSpPr>
        <p:spPr>
          <a:xfrm>
            <a:off x="884503" y="6172205"/>
            <a:ext cx="685800" cy="685800"/>
          </a:xfrm>
          <a:prstGeom prst="rect">
            <a:avLst/>
          </a:prstGeom>
          <a:solidFill>
            <a:schemeClr val="accent1"/>
          </a:solidFill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60E2A6B-A809-4840-BF14-8648BC0BDF87}" type="slidenum">
              <a:rPr lang="id-ID" sz="1300" b="1" smtClean="0">
                <a:solidFill>
                  <a:schemeClr val="bg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pPr algn="ctr"/>
              <a:t>‹#›</a:t>
            </a:fld>
            <a:endParaRPr lang="en-US" sz="1300" b="1">
              <a:solidFill>
                <a:schemeClr val="bg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AD369-F2D1-9F1E-1936-EEF937EF9009}"/>
              </a:ext>
            </a:extLst>
          </p:cNvPr>
          <p:cNvSpPr/>
          <p:nvPr userDrawn="1"/>
        </p:nvSpPr>
        <p:spPr>
          <a:xfrm>
            <a:off x="9800473" y="6403136"/>
            <a:ext cx="1629527" cy="411478"/>
          </a:xfrm>
          <a:prstGeom prst="rect">
            <a:avLst/>
          </a:prstGeom>
          <a:noFill/>
          <a:ln w="25400" cap="rnd">
            <a:noFill/>
            <a:round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2"/>
                </a:solidFill>
                <a:latin typeface="Poppins Medium" pitchFamily="2" charset="77"/>
                <a:ea typeface="Inter" panose="02000503000000020004" pitchFamily="2" charset="0"/>
                <a:cs typeface="Poppins Medium" pitchFamily="2" charset="77"/>
              </a:rPr>
              <a:t>Copyright @ 2026 NTI </a:t>
            </a:r>
            <a:endParaRPr lang="en-US" sz="1000" dirty="0">
              <a:solidFill>
                <a:schemeClr val="tx2"/>
              </a:solidFill>
              <a:latin typeface="Poppins Medium" pitchFamily="2" charset="77"/>
              <a:ea typeface="Inter" panose="02000503000000020004" pitchFamily="2" charset="0"/>
              <a:cs typeface="Poppins Medium" pitchFamily="2" charset="77"/>
            </a:endParaRP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B3B6FB33-A672-9B82-41E4-0AC900F9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3067"/>
            <a:ext cx="10515600" cy="54784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en-US" dirty="0"/>
              <a:t>Click to edit Master title style</a:t>
            </a:r>
            <a:endParaRPr lang="en-EG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E7308B9-242D-32FB-28B8-815AFC14B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564" y="2008412"/>
            <a:ext cx="10515600" cy="3739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E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84B76-34FB-C4DC-593D-8783A64B409D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633075" y="184578"/>
            <a:ext cx="1768481" cy="8776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FDA9D8-55BC-8A23-77AE-11215C839C6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9549800" y="257729"/>
            <a:ext cx="1513435" cy="7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98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>
              <a:lumMod val="85000"/>
              <a:lumOff val="15000"/>
            </a:schemeClr>
          </a:solidFill>
          <a:latin typeface="Poppins Medium" pitchFamily="2" charset="77"/>
          <a:ea typeface="+mj-ea"/>
          <a:cs typeface="Poppins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 Medium" pitchFamily="2" charset="77"/>
          <a:ea typeface="+mn-ea"/>
          <a:cs typeface="Poppins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da9044964@gmail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BB33DD-B563-558B-A025-FB92064EDF1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DEECA3-5394-9AC0-01CC-D16A223C28EF}"/>
              </a:ext>
            </a:extLst>
          </p:cNvPr>
          <p:cNvSpPr/>
          <p:nvPr/>
        </p:nvSpPr>
        <p:spPr>
          <a:xfrm>
            <a:off x="8905060" y="1148050"/>
            <a:ext cx="2526013" cy="4742245"/>
          </a:xfrm>
          <a:prstGeom prst="rect">
            <a:avLst/>
          </a:prstGeom>
          <a:solidFill>
            <a:schemeClr val="accent1"/>
          </a:solidFill>
          <a:ln w="1270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09379A-6685-5A36-1A51-C194755EBC96}"/>
              </a:ext>
            </a:extLst>
          </p:cNvPr>
          <p:cNvSpPr txBox="1"/>
          <p:nvPr/>
        </p:nvSpPr>
        <p:spPr>
          <a:xfrm>
            <a:off x="760927" y="3206864"/>
            <a:ext cx="4430731" cy="185358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5400">
                <a:solidFill>
                  <a:schemeClr val="tx2"/>
                </a:solidFill>
                <a:latin typeface="Inter ExtraBold" panose="02000503000000020004" pitchFamily="2" charset="0"/>
                <a:ea typeface="+mj-ea"/>
                <a:cs typeface="+mj-cs"/>
              </a:defRPr>
            </a:lvl1pPr>
          </a:lstStyle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SUMMER</a:t>
            </a:r>
          </a:p>
          <a:p>
            <a:pPr algn="l"/>
            <a:r>
              <a:rPr lang="en-US" sz="6600" b="1" dirty="0">
                <a:latin typeface="Poppins Medium" pitchFamily="2" charset="77"/>
                <a:cs typeface="Poppins Medium" pitchFamily="2" charset="77"/>
              </a:rPr>
              <a:t>TRAINING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F8EEF-9065-C8BD-C95F-69F4F222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10" y="151463"/>
            <a:ext cx="1768481" cy="877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325AA9-937B-9722-93B6-6A87406DA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590" y="149934"/>
            <a:ext cx="1513435" cy="7313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39452" y="5267019"/>
            <a:ext cx="3801041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000" b="1" dirty="0" smtClean="0"/>
              <a:t>Instructor : </a:t>
            </a:r>
            <a:r>
              <a:rPr lang="en-US" sz="2000" b="1" dirty="0" err="1" smtClean="0"/>
              <a:t>Doaa</a:t>
            </a:r>
            <a:r>
              <a:rPr lang="en-US" sz="2000" b="1" dirty="0" smtClean="0"/>
              <a:t> Mohammed </a:t>
            </a:r>
          </a:p>
          <a:p>
            <a:r>
              <a:rPr lang="en-US" sz="2000" b="1" dirty="0" smtClean="0"/>
              <a:t>Data Analyst</a:t>
            </a:r>
            <a:endParaRPr lang="ar-EG" sz="2000" b="1" dirty="0"/>
          </a:p>
        </p:txBody>
      </p:sp>
    </p:spTree>
    <p:extLst>
      <p:ext uri="{BB962C8B-B14F-4D97-AF65-F5344CB8AC3E}">
        <p14:creationId xmlns:p14="http://schemas.microsoft.com/office/powerpoint/2010/main" val="3273835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0744C2-E677-420B-89A6-2E2BEE86E3C0}"/>
              </a:ext>
            </a:extLst>
          </p:cNvPr>
          <p:cNvSpPr/>
          <p:nvPr/>
        </p:nvSpPr>
        <p:spPr>
          <a:xfrm>
            <a:off x="587529" y="2051513"/>
            <a:ext cx="10961467" cy="3644900"/>
          </a:xfrm>
          <a:prstGeom prst="rect">
            <a:avLst/>
          </a:prstGeom>
          <a:solidFill>
            <a:srgbClr val="065B9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cs typeface="Poppins Medium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526AB-A15D-F80A-8A3D-31B493CC197F}"/>
              </a:ext>
            </a:extLst>
          </p:cNvPr>
          <p:cNvSpPr txBox="1"/>
          <p:nvPr/>
        </p:nvSpPr>
        <p:spPr>
          <a:xfrm>
            <a:off x="805385" y="3458465"/>
            <a:ext cx="101782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smtClean="0">
                <a:solidFill>
                  <a:schemeClr val="bg1"/>
                </a:solidFill>
              </a:rPr>
              <a:t>Session </a:t>
            </a:r>
            <a:r>
              <a:rPr lang="fr-FR" sz="4800" b="1" dirty="0">
                <a:solidFill>
                  <a:schemeClr val="bg1"/>
                </a:solidFill>
              </a:rPr>
              <a:t>2: Variables &amp; Data Types</a:t>
            </a:r>
            <a:endParaRPr lang="en-US" sz="4800" b="1" dirty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996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EA9D-4B17-A4A8-B56E-3BA9CF99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919" y="1435527"/>
            <a:ext cx="7551938" cy="584775"/>
          </a:xfrm>
        </p:spPr>
        <p:txBody>
          <a:bodyPr/>
          <a:lstStyle/>
          <a:p>
            <a:r>
              <a:rPr lang="en-US" dirty="0"/>
              <a:t>Session 2 Roadmap</a:t>
            </a:r>
            <a:endParaRPr lang="en-EG" dirty="0"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7734A-8AFC-2337-09AF-AB58741FE491}"/>
              </a:ext>
            </a:extLst>
          </p:cNvPr>
          <p:cNvSpPr txBox="1"/>
          <p:nvPr/>
        </p:nvSpPr>
        <p:spPr>
          <a:xfrm>
            <a:off x="1802185" y="2232142"/>
            <a:ext cx="522491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65B94"/>
                </a:solidFill>
                <a:cs typeface="Segoe UI Semibold" panose="020B0702040204020203" pitchFamily="34" charset="0"/>
              </a:rPr>
              <a:t>01.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Variables &amp; Naming Conventions</a:t>
            </a:r>
            <a:r>
              <a:rPr lang="en-US" sz="1600" dirty="0"/>
              <a:t>.</a:t>
            </a:r>
            <a:endParaRPr lang="en-US" sz="1600" b="1" dirty="0">
              <a:solidFill>
                <a:srgbClr val="065B94"/>
              </a:solidFill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13762-E9C8-494B-2737-93449D1F6990}"/>
              </a:ext>
            </a:extLst>
          </p:cNvPr>
          <p:cNvSpPr txBox="1"/>
          <p:nvPr/>
        </p:nvSpPr>
        <p:spPr>
          <a:xfrm>
            <a:off x="2088919" y="2972789"/>
            <a:ext cx="369810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smtClean="0">
                <a:solidFill>
                  <a:srgbClr val="065B94"/>
                </a:solidFill>
                <a:cs typeface="Segoe UI Semibold" panose="020B0702040204020203" pitchFamily="34" charset="0"/>
              </a:rPr>
              <a:t>02</a:t>
            </a:r>
            <a:r>
              <a:rPr lang="en-US" sz="2000" b="1" dirty="0">
                <a:solidFill>
                  <a:srgbClr val="065B94"/>
                </a:solidFill>
                <a:cs typeface="Segoe UI Semibold" panose="020B0702040204020203" pitchFamily="34" charset="0"/>
              </a:rPr>
              <a:t>.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Core Data Types.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C7D0A-EAE4-76C3-8048-7A6611AF1B8A}"/>
              </a:ext>
            </a:extLst>
          </p:cNvPr>
          <p:cNvSpPr txBox="1"/>
          <p:nvPr/>
        </p:nvSpPr>
        <p:spPr>
          <a:xfrm>
            <a:off x="2088919" y="3713437"/>
            <a:ext cx="417272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rgbClr val="065B94"/>
                </a:solidFill>
                <a:cs typeface="Segoe UI Semibold" panose="020B0702040204020203" pitchFamily="34" charset="0"/>
              </a:rPr>
              <a:t>03</a:t>
            </a:r>
            <a:r>
              <a:rPr lang="en-US" sz="1600" b="1" dirty="0" smtClean="0">
                <a:solidFill>
                  <a:srgbClr val="065B94"/>
                </a:solidFill>
                <a:cs typeface="Segoe UI Semibold" panose="020B0702040204020203" pitchFamily="34" charset="0"/>
              </a:rPr>
              <a:t>.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Type Casting &amp; User Input</a:t>
            </a:r>
            <a:r>
              <a:rPr lang="en-US" sz="1600" dirty="0"/>
              <a:t>.</a:t>
            </a:r>
            <a:endParaRPr lang="en-US" sz="1600" b="1" dirty="0">
              <a:solidFill>
                <a:srgbClr val="065B94"/>
              </a:solidFill>
              <a:cs typeface="Segoe UI Semibold" panose="020B07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5A373-EBE7-71B0-BE10-7EB2BB47E138}"/>
              </a:ext>
            </a:extLst>
          </p:cNvPr>
          <p:cNvSpPr txBox="1"/>
          <p:nvPr/>
        </p:nvSpPr>
        <p:spPr>
          <a:xfrm>
            <a:off x="2088919" y="4366361"/>
            <a:ext cx="555059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4.Hands-on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Lab: The Dynamic Calculator.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FCA91-4A36-AACB-04EE-91A1F6AA4555}"/>
              </a:ext>
            </a:extLst>
          </p:cNvPr>
          <p:cNvSpPr txBox="1"/>
          <p:nvPr/>
        </p:nvSpPr>
        <p:spPr>
          <a:xfrm>
            <a:off x="2088919" y="5076230"/>
            <a:ext cx="199715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cs typeface="Segoe UI Semibold" panose="020B0702040204020203" pitchFamily="34" charset="0"/>
              </a:rPr>
              <a:t>05. Thank You</a:t>
            </a:r>
          </a:p>
        </p:txBody>
      </p:sp>
    </p:spTree>
    <p:extLst>
      <p:ext uri="{BB962C8B-B14F-4D97-AF65-F5344CB8AC3E}">
        <p14:creationId xmlns:p14="http://schemas.microsoft.com/office/powerpoint/2010/main" val="155605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2E416-D2F6-5691-B5D3-0F318A91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Variables: Data Containers</a:t>
            </a:r>
            <a:endParaRPr lang="en-EG" dirty="0">
              <a:latin typeface="+mj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40701" y="2630467"/>
            <a:ext cx="821707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Reserved memory slots to store values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Dynamic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Typing: Python automatically detects the data type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: x = 10 (Assigning 10 to variable x).</a:t>
            </a:r>
            <a:endParaRPr lang="ar-EG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15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78634-F6B2-B5A9-441F-37C6B8A6B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068" y="1316734"/>
            <a:ext cx="4725282" cy="535531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Naming Conventions</a:t>
            </a:r>
            <a:endParaRPr lang="en-EG" sz="3200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2185" y="2252639"/>
            <a:ext cx="956988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Snake Case: Use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my_variable_name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(Standard Python style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Rules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: Must start with a letter or underscore, never a number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Avoid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: Keywords like </a:t>
            </a:r>
            <a:r>
              <a:rPr lang="en-US" sz="2400" b="1" dirty="0" smtClean="0">
                <a:solidFill>
                  <a:srgbClr val="FF0000"/>
                </a:solidFill>
              </a:rPr>
              <a:t>print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</a:rPr>
              <a:t>int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str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as variable names.</a:t>
            </a:r>
            <a:endParaRPr lang="ar-EG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27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10800-D88D-544B-9928-C765DD7B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Data Types</a:t>
            </a:r>
            <a:endParaRPr lang="en-EG" dirty="0"/>
          </a:p>
        </p:txBody>
      </p:sp>
      <p:sp>
        <p:nvSpPr>
          <p:cNvPr id="6" name="Rectangle 5"/>
          <p:cNvSpPr/>
          <p:nvPr/>
        </p:nvSpPr>
        <p:spPr>
          <a:xfrm>
            <a:off x="951979" y="2430050"/>
            <a:ext cx="959493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Integers (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): Whole numbers (e.g., 5, -10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Floats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(float): Numbers with decimals (e.g., 3.14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Strings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str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): Text enclosed in quotes (e.g., "Hello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").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Booleans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(bool): Logical values (True or False).</a:t>
            </a:r>
            <a:endParaRPr lang="ar-EG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CD770F-3897-47FC-371D-7EC698F2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 in Python</a:t>
            </a:r>
            <a:endParaRPr lang="en-EG" dirty="0"/>
          </a:p>
        </p:txBody>
      </p:sp>
      <p:sp>
        <p:nvSpPr>
          <p:cNvPr id="6" name="Rectangle 5"/>
          <p:cNvSpPr/>
          <p:nvPr/>
        </p:nvSpPr>
        <p:spPr>
          <a:xfrm>
            <a:off x="1039660" y="2617941"/>
            <a:ext cx="8818324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Operations: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+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 ,    </a:t>
            </a:r>
            <a:r>
              <a:rPr lang="en-US" sz="2800" b="1" dirty="0" smtClean="0">
                <a:solidFill>
                  <a:srgbClr val="FF0000"/>
                </a:solidFill>
              </a:rPr>
              <a:t>- 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 ,   </a:t>
            </a:r>
            <a:r>
              <a:rPr lang="en-US" sz="2800" b="1" dirty="0" smtClean="0">
                <a:solidFill>
                  <a:srgbClr val="FF0000"/>
                </a:solidFill>
              </a:rPr>
              <a:t>*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 ,   </a:t>
            </a:r>
            <a:r>
              <a:rPr lang="en-US" sz="2800" b="1" dirty="0" smtClean="0">
                <a:solidFill>
                  <a:srgbClr val="FF0000"/>
                </a:solidFill>
              </a:rPr>
              <a:t>/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 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rgbClr val="FF0000"/>
                </a:solidFill>
              </a:rPr>
              <a:t>/ =</a:t>
            </a:r>
            <a:r>
              <a:rPr lang="en-US" sz="28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 Float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 err="1" smtClean="0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vs float: Python manages the difference automatically in math.</a:t>
            </a:r>
            <a:endParaRPr lang="ar-EG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344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831341" y="2473850"/>
            <a:ext cx="8515157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Break Time! (15 Minutes)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92202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7AD466-D315-1A54-59BE-E0E6B059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821881"/>
            <a:ext cx="3929484" cy="535531"/>
          </a:xfrm>
        </p:spPr>
        <p:txBody>
          <a:bodyPr/>
          <a:lstStyle/>
          <a:p>
            <a:r>
              <a:rPr lang="en-US" dirty="0"/>
              <a:t>Strings: The Basics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789140" y="3105835"/>
            <a:ext cx="101335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Concatenation: "Hello" + " " + "World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".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Indexing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: Accessing characters by position (starts at 0).</a:t>
            </a:r>
            <a:endParaRPr lang="ar-EG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8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52564" y="2192401"/>
            <a:ext cx="10858855" cy="3266377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US" b="1" dirty="0" smtClean="0">
                <a:solidFill>
                  <a:srgbClr val="065B94"/>
                </a:solidFill>
              </a:rPr>
              <a:t>What </a:t>
            </a:r>
            <a:r>
              <a:rPr lang="en-US" b="1" dirty="0">
                <a:solidFill>
                  <a:srgbClr val="065B94"/>
                </a:solidFill>
              </a:rPr>
              <a:t>is the output of the following code: print("20" + "24</a:t>
            </a:r>
            <a:r>
              <a:rPr lang="en-US" b="1" dirty="0" smtClean="0">
                <a:solidFill>
                  <a:srgbClr val="065B94"/>
                </a:solidFill>
              </a:rPr>
              <a:t>")?</a:t>
            </a:r>
          </a:p>
          <a:p>
            <a:pPr marL="457200" indent="-457200">
              <a:buAutoNum type="arabicPeriod"/>
            </a:pPr>
            <a:endParaRPr lang="en-US" b="1" dirty="0" smtClean="0">
              <a:solidFill>
                <a:srgbClr val="065B94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065B94"/>
                </a:solidFill>
              </a:rPr>
              <a:t>How can we add a space between these two strings: </a:t>
            </a:r>
            <a:r>
              <a:rPr lang="en-US" b="1" dirty="0" err="1">
                <a:solidFill>
                  <a:srgbClr val="065B94"/>
                </a:solidFill>
              </a:rPr>
              <a:t>first_name</a:t>
            </a:r>
            <a:r>
              <a:rPr lang="en-US" b="1" dirty="0">
                <a:solidFill>
                  <a:srgbClr val="065B94"/>
                </a:solidFill>
              </a:rPr>
              <a:t> = "NTI" and </a:t>
            </a:r>
            <a:r>
              <a:rPr lang="en-US" b="1" dirty="0" err="1">
                <a:solidFill>
                  <a:srgbClr val="065B94"/>
                </a:solidFill>
              </a:rPr>
              <a:t>last_name</a:t>
            </a:r>
            <a:r>
              <a:rPr lang="en-US" b="1" dirty="0">
                <a:solidFill>
                  <a:srgbClr val="065B94"/>
                </a:solidFill>
              </a:rPr>
              <a:t> = "Training</a:t>
            </a:r>
            <a:r>
              <a:rPr lang="en-US" b="1" dirty="0" smtClean="0">
                <a:solidFill>
                  <a:srgbClr val="065B94"/>
                </a:solidFill>
              </a:rPr>
              <a:t>"?</a:t>
            </a:r>
          </a:p>
          <a:p>
            <a:pPr marL="457200" indent="-457200">
              <a:buAutoNum type="arabicPeriod"/>
            </a:pPr>
            <a:endParaRPr lang="en-US" b="1" dirty="0" smtClean="0">
              <a:solidFill>
                <a:srgbClr val="065B94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065B94"/>
                </a:solidFill>
              </a:rPr>
              <a:t>If word = "Python", what is the value of word[0</a:t>
            </a:r>
            <a:r>
              <a:rPr lang="en-US" b="1" dirty="0" smtClean="0">
                <a:solidFill>
                  <a:srgbClr val="065B94"/>
                </a:solidFill>
              </a:rPr>
              <a:t>]?</a:t>
            </a:r>
          </a:p>
          <a:p>
            <a:pPr marL="457200" indent="-457200">
              <a:buAutoNum type="arabicPeriod"/>
            </a:pPr>
            <a:endParaRPr lang="en-US" b="1" dirty="0" smtClean="0">
              <a:solidFill>
                <a:srgbClr val="065B94"/>
              </a:solidFill>
            </a:endParaRPr>
          </a:p>
          <a:p>
            <a:pPr marL="457200" indent="-457200">
              <a:buAutoNum type="arabicPeriod"/>
            </a:pPr>
            <a:r>
              <a:rPr lang="en-US" b="1" dirty="0">
                <a:solidFill>
                  <a:srgbClr val="065B94"/>
                </a:solidFill>
              </a:rPr>
              <a:t>What will happen if we try to access word[10] in the string </a:t>
            </a:r>
            <a:r>
              <a:rPr lang="en-US" b="1" dirty="0" smtClean="0">
                <a:solidFill>
                  <a:srgbClr val="065B94"/>
                </a:solidFill>
              </a:rPr>
              <a:t>"</a:t>
            </a:r>
            <a:r>
              <a:rPr lang="en-US" b="1" dirty="0">
                <a:solidFill>
                  <a:srgbClr val="065B94"/>
                </a:solidFill>
              </a:rPr>
              <a:t>Python</a:t>
            </a:r>
            <a:r>
              <a:rPr lang="en-US" b="1" dirty="0" smtClean="0">
                <a:solidFill>
                  <a:srgbClr val="065B94"/>
                </a:solidFill>
              </a:rPr>
              <a:t>"?</a:t>
            </a:r>
          </a:p>
          <a:p>
            <a:pPr marL="0" indent="0">
              <a:buNone/>
            </a:pPr>
            <a:endParaRPr lang="ar-EG" b="1" dirty="0">
              <a:solidFill>
                <a:srgbClr val="065B94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: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3400454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28969" y="2643338"/>
            <a:ext cx="8893175" cy="32663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rgbClr val="065B94"/>
                </a:solidFill>
              </a:rPr>
              <a:t>"</a:t>
            </a:r>
            <a:r>
              <a:rPr lang="en-US" sz="3200" dirty="0">
                <a:solidFill>
                  <a:srgbClr val="065B94"/>
                </a:solidFill>
              </a:rPr>
              <a:t>Create a variable named course with the value 'Programming'. Write a print statement to show only the letter 'r' from this word."</a:t>
            </a:r>
            <a:endParaRPr lang="ar-EG" sz="3200" dirty="0">
              <a:solidFill>
                <a:srgbClr val="065B94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2564" y="1355489"/>
            <a:ext cx="10515600" cy="547842"/>
          </a:xfrm>
        </p:spPr>
        <p:txBody>
          <a:bodyPr/>
          <a:lstStyle/>
          <a:p>
            <a:r>
              <a:rPr lang="en-US" dirty="0" smtClean="0"/>
              <a:t>Task(1)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41500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28D2C7-CEEA-6779-FA0E-43D3652E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12" y="1589524"/>
            <a:ext cx="5024204" cy="978729"/>
          </a:xfrm>
        </p:spPr>
        <p:txBody>
          <a:bodyPr/>
          <a:lstStyle/>
          <a:p>
            <a:r>
              <a:rPr lang="en-US" dirty="0"/>
              <a:t>Booleans: Logical Flow</a:t>
            </a:r>
            <a:endParaRPr lang="en-E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23D3C-4067-4EE9-DB0F-57A1CB321FD0}"/>
              </a:ext>
            </a:extLst>
          </p:cNvPr>
          <p:cNvSpPr txBox="1"/>
          <p:nvPr/>
        </p:nvSpPr>
        <p:spPr>
          <a:xfrm>
            <a:off x="825450" y="2383587"/>
            <a:ext cx="374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b="1" dirty="0"/>
              <a:t>Booleans: True or False</a:t>
            </a:r>
            <a:endParaRPr lang="en-US" sz="24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F2F5-4DC0-8A5B-43BE-726DD2C3AF2C}"/>
              </a:ext>
            </a:extLst>
          </p:cNvPr>
          <p:cNvSpPr txBox="1"/>
          <p:nvPr/>
        </p:nvSpPr>
        <p:spPr>
          <a:xfrm>
            <a:off x="1201231" y="3154310"/>
            <a:ext cx="6402068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Used for decision-making</a:t>
            </a:r>
            <a:r>
              <a:rPr lang="en-US" sz="28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Example</a:t>
            </a:r>
            <a:r>
              <a:rPr lang="en-US" sz="28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: </a:t>
            </a:r>
            <a:r>
              <a:rPr lang="en-US" sz="2800" b="1" dirty="0" smtClean="0">
                <a:solidFill>
                  <a:srgbClr val="C00000"/>
                </a:solidFill>
                <a:latin typeface="+mn-lt"/>
                <a:cs typeface="Segoe UI" panose="020B0502040204020203" pitchFamily="34" charset="0"/>
              </a:rPr>
              <a:t>10 &gt; 5 </a:t>
            </a:r>
            <a:r>
              <a:rPr lang="en-US" sz="2800" b="1" dirty="0" smtClean="0">
                <a:solidFill>
                  <a:srgbClr val="C00000"/>
                </a:solidFill>
                <a:latin typeface="+mn-lt"/>
                <a:cs typeface="Segoe UI" panose="020B0502040204020203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+mn-lt"/>
                <a:cs typeface="Segoe UI" panose="020B0502040204020203" pitchFamily="34" charset="0"/>
              </a:rPr>
              <a:t>= True</a:t>
            </a:r>
            <a:r>
              <a:rPr lang="en-US" sz="2800" dirty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09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9BE851-8669-DFBC-3FF1-F20DA06FF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405" y="1413834"/>
            <a:ext cx="5887233" cy="1103379"/>
          </a:xfrm>
        </p:spPr>
        <p:txBody>
          <a:bodyPr/>
          <a:lstStyle/>
          <a:p>
            <a:r>
              <a:rPr lang="en-US" sz="3600" dirty="0"/>
              <a:t>Checkpoint: Mini-Quiz</a:t>
            </a:r>
            <a:endParaRPr lang="en-EG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1F1F2-5223-AE6B-65DF-0221DE9E41C4}"/>
              </a:ext>
            </a:extLst>
          </p:cNvPr>
          <p:cNvSpPr txBox="1"/>
          <p:nvPr/>
        </p:nvSpPr>
        <p:spPr>
          <a:xfrm>
            <a:off x="5352991" y="3429000"/>
            <a:ext cx="55975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64920" y="2736502"/>
            <a:ext cx="1123584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Which of these is invalid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 smtClean="0">
                <a:solidFill>
                  <a:schemeClr val="accent6">
                    <a:lumMod val="75000"/>
                  </a:schemeClr>
                </a:solidFill>
              </a:rPr>
              <a:t>user_name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1st_name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800" dirty="0" err="1" smtClean="0">
                <a:solidFill>
                  <a:schemeClr val="accent6">
                    <a:lumMod val="75000"/>
                  </a:schemeClr>
                </a:solidFill>
              </a:rPr>
              <a:t>total_score</a:t>
            </a: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What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type is 5.0?</a:t>
            </a:r>
            <a:endParaRPr lang="ar-EG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06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831341" y="2473850"/>
            <a:ext cx="8515157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/>
              <a:t>Break Time! (15 Minutes)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11506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A3D099-E932-301A-BF46-FD04B70C5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032" y="1130675"/>
            <a:ext cx="7589562" cy="1421928"/>
          </a:xfrm>
        </p:spPr>
        <p:txBody>
          <a:bodyPr/>
          <a:lstStyle/>
          <a:p>
            <a:r>
              <a:rPr lang="en-US" dirty="0"/>
              <a:t>Type Casting</a:t>
            </a:r>
            <a:br>
              <a:rPr lang="en-US" dirty="0"/>
            </a:br>
            <a:r>
              <a:rPr lang="en-US" dirty="0" smtClean="0"/>
              <a:t>Type </a:t>
            </a:r>
            <a:r>
              <a:rPr lang="en-US" dirty="0"/>
              <a:t>Casting: Converting Types</a:t>
            </a:r>
            <a:br>
              <a:rPr lang="en-US" dirty="0"/>
            </a:b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642120" y="2552603"/>
            <a:ext cx="99194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(): Convert to integer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en-US" sz="3600" dirty="0" err="1" smtClean="0">
                <a:solidFill>
                  <a:srgbClr val="C00000"/>
                </a:solidFill>
              </a:rPr>
              <a:t>int</a:t>
            </a:r>
            <a:r>
              <a:rPr lang="en-US" sz="3600" dirty="0" smtClean="0">
                <a:solidFill>
                  <a:srgbClr val="C00000"/>
                </a:solidFill>
              </a:rPr>
              <a:t>(“20”) &gt;&gt;&gt; 20</a:t>
            </a:r>
            <a:endParaRPr lang="en-US" sz="3600" dirty="0" smtClean="0">
              <a:solidFill>
                <a:srgbClr val="C0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</a:rPr>
              <a:t>float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(): Convert to decimal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 err="1" smtClean="0">
                <a:solidFill>
                  <a:schemeClr val="accent6">
                    <a:lumMod val="75000"/>
                  </a:schemeClr>
                </a:solidFill>
              </a:rPr>
              <a:t>str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(): Convert to string</a:t>
            </a:r>
            <a:r>
              <a:rPr lang="en-US" sz="36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ar-EG" sz="3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023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What is the output of print(</a:t>
            </a:r>
            <a:r>
              <a:rPr lang="en-US" sz="2800" b="1" dirty="0" err="1">
                <a:solidFill>
                  <a:srgbClr val="C00000"/>
                </a:solidFill>
              </a:rPr>
              <a:t>int</a:t>
            </a:r>
            <a:r>
              <a:rPr lang="en-US" sz="2800" b="1" dirty="0">
                <a:solidFill>
                  <a:srgbClr val="C00000"/>
                </a:solidFill>
              </a:rPr>
              <a:t>(10.9</a:t>
            </a:r>
            <a:r>
              <a:rPr lang="en-US" sz="2800" b="1" dirty="0" smtClean="0">
                <a:solidFill>
                  <a:srgbClr val="C00000"/>
                </a:solidFill>
              </a:rPr>
              <a:t>))?</a:t>
            </a:r>
          </a:p>
          <a:p>
            <a:endParaRPr lang="en-US" sz="2800" b="1" dirty="0">
              <a:solidFill>
                <a:srgbClr val="C0000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Can we convert the string "3.14" to an integer directly using </a:t>
            </a:r>
            <a:r>
              <a:rPr lang="en-US" sz="2800" b="1" dirty="0" err="1">
                <a:solidFill>
                  <a:srgbClr val="C00000"/>
                </a:solidFill>
              </a:rPr>
              <a:t>int</a:t>
            </a:r>
            <a:r>
              <a:rPr lang="en-US" sz="2800" b="1" dirty="0">
                <a:solidFill>
                  <a:srgbClr val="C00000"/>
                </a:solidFill>
              </a:rPr>
              <a:t>("3.14")?</a:t>
            </a:r>
            <a:endParaRPr lang="ar-EG" sz="2800" b="1" dirty="0">
              <a:solidFill>
                <a:srgbClr val="C0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: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221087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A696BF-DCB1-1DCE-4297-6A7BEE3A0BC6}"/>
              </a:ext>
            </a:extLst>
          </p:cNvPr>
          <p:cNvSpPr txBox="1"/>
          <p:nvPr/>
        </p:nvSpPr>
        <p:spPr>
          <a:xfrm>
            <a:off x="6095999" y="2938389"/>
            <a:ext cx="5267093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28553" y="1276396"/>
            <a:ext cx="5168062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Getting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ar-EG" altLang="ar-E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ar-EG" altLang="ar-EG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EG" altLang="ar-EG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Function</a:t>
            </a:r>
            <a:endParaRPr kumimoji="0" lang="ar-EG" altLang="ar-E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78071" y="3105835"/>
            <a:ext cx="88684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Captures user data as a String</a:t>
            </a: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: name = input("Enter your name: ").</a:t>
            </a:r>
            <a:endParaRPr lang="ar-EG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841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6BFE8-E69C-20E6-2B41-DB0B2F9F114E}"/>
              </a:ext>
            </a:extLst>
          </p:cNvPr>
          <p:cNvSpPr/>
          <p:nvPr/>
        </p:nvSpPr>
        <p:spPr>
          <a:xfrm>
            <a:off x="9104081" y="1072599"/>
            <a:ext cx="2121131" cy="4247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184AAA-ECF6-DA6C-15A8-8B4D6A87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70" y="1455192"/>
            <a:ext cx="5281349" cy="978729"/>
          </a:xfrm>
        </p:spPr>
        <p:txBody>
          <a:bodyPr/>
          <a:lstStyle/>
          <a:p>
            <a:r>
              <a:rPr lang="en-US" dirty="0"/>
              <a:t>Handling Input &amp; Casting</a:t>
            </a:r>
            <a:endParaRPr lang="en-E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1428C-D914-0454-F18C-AF5931B84FE8}"/>
              </a:ext>
            </a:extLst>
          </p:cNvPr>
          <p:cNvSpPr txBox="1"/>
          <p:nvPr/>
        </p:nvSpPr>
        <p:spPr>
          <a:xfrm>
            <a:off x="612371" y="4283658"/>
            <a:ext cx="2294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1800" b="1" dirty="0">
              <a:solidFill>
                <a:srgbClr val="0D76BD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1C73B-330E-9B82-F69D-0BD791B89C37}"/>
              </a:ext>
            </a:extLst>
          </p:cNvPr>
          <p:cNvSpPr txBox="1"/>
          <p:nvPr/>
        </p:nvSpPr>
        <p:spPr>
          <a:xfrm>
            <a:off x="612370" y="4622212"/>
            <a:ext cx="46733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300">
                <a:solidFill>
                  <a:schemeClr val="tx2"/>
                </a:solidFill>
                <a:latin typeface="DM Sans" pitchFamily="2" charset="0"/>
              </a:defRPr>
            </a:lvl1pPr>
          </a:lstStyle>
          <a:p>
            <a:r>
              <a:rPr lang="en-US" sz="1600" dirty="0" smtClean="0">
                <a:solidFill>
                  <a:srgbClr val="065B94"/>
                </a:solidFill>
                <a:latin typeface="+mn-lt"/>
                <a:cs typeface="Segoe UI" panose="020B0502040204020203" pitchFamily="34" charset="0"/>
              </a:rPr>
              <a:t> </a:t>
            </a:r>
            <a:endParaRPr lang="en-US" sz="1600" dirty="0">
              <a:solidFill>
                <a:srgbClr val="065B94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21189" y="2837108"/>
            <a:ext cx="792897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Problem: age = input("Age: ") stores "20" (text), not 20 (number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Solution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 age =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(input("Age: ")).</a:t>
            </a:r>
            <a:endParaRPr lang="ar-EG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797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016C7-CF03-F004-6EEF-46CD4567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Error Handling Basics</a:t>
            </a:r>
            <a:endParaRPr lang="en-EG" dirty="0"/>
          </a:p>
        </p:txBody>
      </p:sp>
      <p:sp>
        <p:nvSpPr>
          <p:cNvPr id="4" name="Rectangle 3"/>
          <p:cNvSpPr/>
          <p:nvPr/>
        </p:nvSpPr>
        <p:spPr>
          <a:xfrm>
            <a:off x="652565" y="2617940"/>
            <a:ext cx="1098411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What if a user enters "ABC" when you ask for a number</a:t>
            </a: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Python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will raise a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</a:rPr>
              <a:t>ValueError</a:t>
            </a: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accent6">
                    <a:lumMod val="75000"/>
                  </a:schemeClr>
                </a:solidFill>
              </a:rPr>
              <a:t>Tip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: Always validate user input.</a:t>
            </a:r>
            <a:endParaRPr lang="ar-EG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03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20E2A9-8CCD-DC8A-4B92-5AC934F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87" y="1332434"/>
            <a:ext cx="5838396" cy="535531"/>
          </a:xfrm>
        </p:spPr>
        <p:txBody>
          <a:bodyPr wrap="square">
            <a:spAutoFit/>
          </a:bodyPr>
          <a:lstStyle/>
          <a:p>
            <a:r>
              <a:rPr lang="en-US" dirty="0"/>
              <a:t>Hands-on Lab 2: Calculator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766170" y="2791970"/>
            <a:ext cx="108976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Task 1: Ask user for two numbers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Task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2: Perform addition, subtraction, multiplication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Task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3: Print results with descriptive messages.</a:t>
            </a:r>
            <a:endParaRPr lang="ar-EG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4022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2564" y="1177623"/>
            <a:ext cx="10515600" cy="978729"/>
          </a:xfrm>
        </p:spPr>
        <p:txBody>
          <a:bodyPr/>
          <a:lstStyle/>
          <a:p>
            <a:r>
              <a:rPr lang="en-US" dirty="0"/>
              <a:t>Quick </a:t>
            </a:r>
            <a:r>
              <a:rPr lang="en-US" dirty="0" smtClean="0"/>
              <a:t>Quiz</a:t>
            </a:r>
            <a:br>
              <a:rPr lang="en-US" dirty="0" smtClean="0"/>
            </a:br>
            <a:endParaRPr lang="ar-EG" dirty="0"/>
          </a:p>
        </p:txBody>
      </p:sp>
      <p:sp>
        <p:nvSpPr>
          <p:cNvPr id="5" name="Rectangle 4"/>
          <p:cNvSpPr/>
          <p:nvPr/>
        </p:nvSpPr>
        <p:spPr>
          <a:xfrm>
            <a:off x="868470" y="1790602"/>
            <a:ext cx="75740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1.Which </a:t>
            </a:r>
            <a:r>
              <a:rPr lang="en-US" b="1" dirty="0"/>
              <a:t>of the following is a VALID variable name in Python</a:t>
            </a:r>
            <a:r>
              <a:rPr lang="en-US" b="1" dirty="0" smtClean="0"/>
              <a:t>?</a:t>
            </a:r>
          </a:p>
          <a:p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2nd_user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user-name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total_score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class</a:t>
            </a:r>
            <a:endParaRPr lang="ar-EG" dirty="0"/>
          </a:p>
        </p:txBody>
      </p:sp>
      <p:sp>
        <p:nvSpPr>
          <p:cNvPr id="6" name="Rectangle 5"/>
          <p:cNvSpPr/>
          <p:nvPr/>
        </p:nvSpPr>
        <p:spPr>
          <a:xfrm>
            <a:off x="868470" y="3970844"/>
            <a:ext cx="407675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2.What </a:t>
            </a:r>
            <a:r>
              <a:rPr lang="en-US" b="1" dirty="0"/>
              <a:t>is the data type of x = 10.0</a:t>
            </a:r>
            <a:r>
              <a:rPr lang="en-US" b="1" dirty="0" smtClean="0"/>
              <a:t>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Int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bool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468659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77" y="1500209"/>
            <a:ext cx="5601482" cy="15527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077" y="3608818"/>
            <a:ext cx="5601482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33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0C5A4-465E-96E5-8869-F21B6EA6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298" y="1491242"/>
            <a:ext cx="3839049" cy="535531"/>
          </a:xfrm>
        </p:spPr>
        <p:txBody>
          <a:bodyPr/>
          <a:lstStyle/>
          <a:p>
            <a:r>
              <a:rPr lang="en-US" dirty="0"/>
              <a:t>The Lab Challenge</a:t>
            </a:r>
            <a:endParaRPr lang="en-EG" dirty="0"/>
          </a:p>
        </p:txBody>
      </p:sp>
      <p:sp>
        <p:nvSpPr>
          <p:cNvPr id="5" name="Rectangle 4"/>
          <p:cNvSpPr/>
          <p:nvPr/>
        </p:nvSpPr>
        <p:spPr>
          <a:xfrm>
            <a:off x="1628384" y="2967335"/>
            <a:ext cx="948220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Ask for user name and birth year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Calculate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current age (assuming 2026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Print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: "Hello [Name], you are [Age] years old!"</a:t>
            </a:r>
            <a:endParaRPr lang="ar-EG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385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2EDE95-A92E-98C9-467D-C7E587DF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64" y="1399222"/>
            <a:ext cx="10515600" cy="535531"/>
          </a:xfrm>
        </p:spPr>
        <p:txBody>
          <a:bodyPr>
            <a:spAutoFit/>
          </a:bodyPr>
          <a:lstStyle/>
          <a:p>
            <a:r>
              <a:rPr lang="en-US" dirty="0"/>
              <a:t>Summary</a:t>
            </a:r>
            <a:endParaRPr lang="en-EG" dirty="0"/>
          </a:p>
        </p:txBody>
      </p:sp>
      <p:sp>
        <p:nvSpPr>
          <p:cNvPr id="13" name="Rectangle 12"/>
          <p:cNvSpPr/>
          <p:nvPr/>
        </p:nvSpPr>
        <p:spPr>
          <a:xfrm>
            <a:off x="1377863" y="2329841"/>
            <a:ext cx="908137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Variables store and manage data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Naming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conventions matter for professional code</a:t>
            </a: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 smtClean="0">
                <a:solidFill>
                  <a:schemeClr val="accent6">
                    <a:lumMod val="75000"/>
                  </a:schemeClr>
                </a:solidFill>
              </a:rPr>
              <a:t>Input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requires casting to work with numbers.</a:t>
            </a:r>
            <a:endParaRPr lang="ar-EG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695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90B87-1450-BA19-803D-DB5B813FFE54}"/>
              </a:ext>
            </a:extLst>
          </p:cNvPr>
          <p:cNvSpPr/>
          <p:nvPr/>
        </p:nvSpPr>
        <p:spPr>
          <a:xfrm>
            <a:off x="1831341" y="2473850"/>
            <a:ext cx="8515157" cy="32552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Questions?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153418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DFA90E-9E1C-4C7F-3466-7FDC6778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109" y="1469989"/>
            <a:ext cx="9758365" cy="701731"/>
          </a:xfrm>
        </p:spPr>
        <p:txBody>
          <a:bodyPr/>
          <a:lstStyle/>
          <a:p>
            <a:r>
              <a:rPr lang="en-US" sz="4400" dirty="0"/>
              <a:t>Thank </a:t>
            </a:r>
            <a:r>
              <a:rPr lang="en-US" sz="4400" dirty="0" smtClean="0"/>
              <a:t>You</a:t>
            </a:r>
            <a:endParaRPr lang="en-EG" sz="4400" dirty="0"/>
          </a:p>
        </p:txBody>
      </p:sp>
      <p:sp>
        <p:nvSpPr>
          <p:cNvPr id="7" name="Rectangle 6"/>
          <p:cNvSpPr/>
          <p:nvPr/>
        </p:nvSpPr>
        <p:spPr>
          <a:xfrm>
            <a:off x="3048000" y="3105835"/>
            <a:ext cx="6096000" cy="30777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Keep practicing variables and input logic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Instructor: </a:t>
            </a:r>
            <a:r>
              <a:rPr lang="en-US" sz="2400" dirty="0" err="1" smtClean="0">
                <a:solidFill>
                  <a:schemeClr val="accent6">
                    <a:lumMod val="75000"/>
                  </a:schemeClr>
                </a:solidFill>
              </a:rPr>
              <a:t>Doaa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 Mohammed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Email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  <a:hlinkClick r:id="rId3"/>
              </a:rPr>
              <a:t>da9044964@gmail.com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 smtClean="0"/>
              <a:t>             </a:t>
            </a:r>
            <a:r>
              <a:rPr lang="en-US" sz="3200" b="1" dirty="0" smtClean="0"/>
              <a:t>See </a:t>
            </a:r>
            <a:r>
              <a:rPr lang="en-US" sz="3200" b="1" dirty="0"/>
              <a:t>you in Session 3!</a:t>
            </a:r>
            <a:endParaRPr lang="ar-EG" sz="3200" b="1" dirty="0"/>
          </a:p>
        </p:txBody>
      </p:sp>
    </p:spTree>
    <p:extLst>
      <p:ext uri="{BB962C8B-B14F-4D97-AF65-F5344CB8AC3E}">
        <p14:creationId xmlns:p14="http://schemas.microsoft.com/office/powerpoint/2010/main" val="384907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TI Brand">
      <a:dk1>
        <a:srgbClr val="000000"/>
      </a:dk1>
      <a:lt1>
        <a:srgbClr val="FFFFFF"/>
      </a:lt1>
      <a:dk2>
        <a:srgbClr val="06588F"/>
      </a:dk2>
      <a:lt2>
        <a:srgbClr val="FFFFFF"/>
      </a:lt2>
      <a:accent1>
        <a:srgbClr val="0E639E"/>
      </a:accent1>
      <a:accent2>
        <a:srgbClr val="E9A713"/>
      </a:accent2>
      <a:accent3>
        <a:srgbClr val="EA7355"/>
      </a:accent3>
      <a:accent4>
        <a:srgbClr val="4FA9AC"/>
      </a:accent4>
      <a:accent5>
        <a:srgbClr val="43BCFF"/>
      </a:accent5>
      <a:accent6>
        <a:srgbClr val="6079C2"/>
      </a:accent6>
      <a:hlink>
        <a:srgbClr val="688CC1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I &amp; ESE" id="{1E3C099D-4D26-3541-9A32-31697215961B}" vid="{7F984A55-E95C-A54B-B073-2F5FB430A0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439</TotalTime>
  <Words>698</Words>
  <Application>Microsoft Office PowerPoint</Application>
  <PresentationFormat>Widescreen</PresentationFormat>
  <Paragraphs>154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Inter</vt:lpstr>
      <vt:lpstr>Arial Unicode MS</vt:lpstr>
      <vt:lpstr>DM Sans</vt:lpstr>
      <vt:lpstr>Calibri</vt:lpstr>
      <vt:lpstr>Segoe UI Semibold</vt:lpstr>
      <vt:lpstr>Wingdings</vt:lpstr>
      <vt:lpstr>Courier New</vt:lpstr>
      <vt:lpstr>Poppins Medium</vt:lpstr>
      <vt:lpstr>Segoe UI</vt:lpstr>
      <vt:lpstr>Office Theme</vt:lpstr>
      <vt:lpstr>PowerPoint Presentation</vt:lpstr>
      <vt:lpstr>PowerPoint Presentation</vt:lpstr>
      <vt:lpstr>Session 2 Roadmap</vt:lpstr>
      <vt:lpstr>Variables: Data Containers</vt:lpstr>
      <vt:lpstr>PowerPoint Presentation</vt:lpstr>
      <vt:lpstr>Introduction to Data Types</vt:lpstr>
      <vt:lpstr>Numbers in Python</vt:lpstr>
      <vt:lpstr>PowerPoint Presentation</vt:lpstr>
      <vt:lpstr>Strings: The Basics</vt:lpstr>
      <vt:lpstr>Questions :</vt:lpstr>
      <vt:lpstr>Task(1)</vt:lpstr>
      <vt:lpstr>Booleans: Logical Flow</vt:lpstr>
      <vt:lpstr>Checkpoint: Mini-Quiz</vt:lpstr>
      <vt:lpstr>PowerPoint Presentation</vt:lpstr>
      <vt:lpstr>Type Casting Type Casting: Converting Types </vt:lpstr>
      <vt:lpstr>Questions :</vt:lpstr>
      <vt:lpstr>Getting User Input      The input() Function </vt:lpstr>
      <vt:lpstr>Handling Input &amp; Casting</vt:lpstr>
      <vt:lpstr>Error Handling Basics</vt:lpstr>
      <vt:lpstr>Hands-on Lab 2: Calculator</vt:lpstr>
      <vt:lpstr>Quick Quiz </vt:lpstr>
      <vt:lpstr>PowerPoint Presentation</vt:lpstr>
      <vt:lpstr>The Lab Challenge</vt:lpstr>
      <vt:lpstr>Summary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Sally Samir</dc:creator>
  <cp:lastModifiedBy>SM</cp:lastModifiedBy>
  <cp:revision>43</cp:revision>
  <dcterms:created xsi:type="dcterms:W3CDTF">2026-03-27T11:30:08Z</dcterms:created>
  <dcterms:modified xsi:type="dcterms:W3CDTF">2026-07-12T23:43:28Z</dcterms:modified>
</cp:coreProperties>
</file>