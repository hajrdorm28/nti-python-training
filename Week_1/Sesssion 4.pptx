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</p:sldIdLst>
  <p:sldSz cx="12192000" cy="6858000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</p:embeddedFont>
    <p:embeddedFont>
      <p:font typeface="Segoe UI Semibold" panose="020B07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5" d="100"/>
          <a:sy n="75" d="100"/>
        </p:scale>
        <p:origin x="588" y="6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26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7030" y="5198302"/>
            <a:ext cx="4961358" cy="113877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400" dirty="0" smtClean="0"/>
              <a:t>Instructor : </a:t>
            </a:r>
            <a:r>
              <a:rPr lang="en-US" sz="3400" dirty="0" err="1" smtClean="0"/>
              <a:t>Doaa</a:t>
            </a:r>
            <a:r>
              <a:rPr lang="en-US" sz="3400" dirty="0" smtClean="0"/>
              <a:t> </a:t>
            </a:r>
            <a:r>
              <a:rPr lang="en-US" sz="3400" dirty="0" err="1" smtClean="0"/>
              <a:t>M.Taha</a:t>
            </a:r>
            <a:endParaRPr lang="en-US" sz="3400" dirty="0" smtClean="0"/>
          </a:p>
          <a:p>
            <a:r>
              <a:rPr lang="en-US" sz="3400" dirty="0" smtClean="0"/>
              <a:t>Data Analyst</a:t>
            </a:r>
            <a:endParaRPr lang="ar-EG" sz="3400" dirty="0"/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174170" y="2132902"/>
            <a:ext cx="1157524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814193" y="3308153"/>
            <a:ext cx="10008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Session 4 : Functions</a:t>
            </a:r>
            <a:endParaRPr lang="en-US" sz="4800" b="1" dirty="0">
              <a:solidFill>
                <a:schemeClr val="bg1"/>
              </a:solidFill>
            </a:endParaRPr>
          </a:p>
          <a:p>
            <a:endParaRPr lang="en-US" sz="4800" b="1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en-EG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4147" y="2440529"/>
            <a:ext cx="672230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2200" dirty="0" smtClean="0">
                <a:solidFill>
                  <a:srgbClr val="C00000"/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Define </a:t>
            </a:r>
            <a:r>
              <a:rPr lang="en-US" sz="2200" dirty="0">
                <a:solidFill>
                  <a:srgbClr val="C00000"/>
                </a:solidFill>
              </a:rPr>
              <a:t>a function</a:t>
            </a:r>
            <a:r>
              <a:rPr lang="en-US" sz="22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Create </a:t>
            </a:r>
            <a:r>
              <a:rPr lang="en-US" sz="2200" dirty="0">
                <a:solidFill>
                  <a:srgbClr val="C00000"/>
                </a:solidFill>
              </a:rPr>
              <a:t>and call functions</a:t>
            </a:r>
            <a:r>
              <a:rPr lang="en-US" sz="22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Pass </a:t>
            </a:r>
            <a:r>
              <a:rPr lang="en-US" sz="2200" dirty="0">
                <a:solidFill>
                  <a:srgbClr val="C00000"/>
                </a:solidFill>
              </a:rPr>
              <a:t>parameters to functions</a:t>
            </a:r>
            <a:r>
              <a:rPr lang="en-US" sz="22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Return </a:t>
            </a:r>
            <a:r>
              <a:rPr lang="en-US" sz="2200" dirty="0">
                <a:solidFill>
                  <a:srgbClr val="C00000"/>
                </a:solidFill>
              </a:rPr>
              <a:t>values using return</a:t>
            </a:r>
            <a:r>
              <a:rPr lang="en-US" sz="22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Use </a:t>
            </a:r>
            <a:r>
              <a:rPr lang="en-US" sz="2200" dirty="0">
                <a:solidFill>
                  <a:srgbClr val="C00000"/>
                </a:solidFill>
              </a:rPr>
              <a:t>default and keyword arguments</a:t>
            </a:r>
            <a:r>
              <a:rPr lang="en-US" sz="2200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solidFill>
                  <a:srgbClr val="C00000"/>
                </a:solidFill>
              </a:rPr>
              <a:t>Solve </a:t>
            </a:r>
            <a:r>
              <a:rPr lang="en-US" sz="2200" dirty="0">
                <a:solidFill>
                  <a:srgbClr val="C00000"/>
                </a:solidFill>
              </a:rPr>
              <a:t>problems using functions.</a:t>
            </a:r>
            <a:endParaRPr lang="ar-EG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7" y="1316734"/>
            <a:ext cx="10886513" cy="4625882"/>
          </a:xfrm>
        </p:spPr>
        <p:txBody>
          <a:bodyPr/>
          <a:lstStyle/>
          <a:p>
            <a:endParaRPr lang="en-US" b="1" dirty="0"/>
          </a:p>
          <a:p>
            <a:pPr marL="0" indent="0">
              <a:buNone/>
            </a:pPr>
            <a:r>
              <a:rPr lang="en-US" sz="2800" b="1" dirty="0"/>
              <a:t>Why Do We Need Functions?</a:t>
            </a:r>
          </a:p>
          <a:p>
            <a:pPr marL="0" indent="0">
              <a:buNone/>
            </a:pPr>
            <a:r>
              <a:rPr lang="en-US" dirty="0"/>
              <a:t>Imagine you need to calculate the area of 100 rectangles.</a:t>
            </a:r>
          </a:p>
          <a:p>
            <a:pPr marL="0" indent="0">
              <a:buNone/>
            </a:pPr>
            <a:r>
              <a:rPr lang="en-US" dirty="0"/>
              <a:t>Without functions, you will repeat the same code many times.</a:t>
            </a:r>
          </a:p>
          <a:p>
            <a:pPr marL="0" indent="0">
              <a:buNone/>
            </a:pPr>
            <a:r>
              <a:rPr lang="en-US" dirty="0"/>
              <a:t>Functions help us: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Reuse code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Reduce repetition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Improve readability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Make debugging easier </a:t>
            </a:r>
          </a:p>
          <a:p>
            <a:endParaRPr lang="en-EG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Function Syntax</a:t>
            </a:r>
            <a:endParaRPr lang="en-EG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1198E-A3DE-A704-09AD-777609A67DCD}"/>
              </a:ext>
            </a:extLst>
          </p:cNvPr>
          <p:cNvSpPr txBox="1"/>
          <p:nvPr/>
        </p:nvSpPr>
        <p:spPr>
          <a:xfrm>
            <a:off x="5467992" y="2158817"/>
            <a:ext cx="128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66BA89-F880-6908-B765-C20843A43815}"/>
              </a:ext>
            </a:extLst>
          </p:cNvPr>
          <p:cNvSpPr txBox="1"/>
          <p:nvPr/>
        </p:nvSpPr>
        <p:spPr>
          <a:xfrm>
            <a:off x="4366408" y="2484903"/>
            <a:ext cx="3117535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algn="just"/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18B82-5015-6581-1D9C-61F61639A309}"/>
              </a:ext>
            </a:extLst>
          </p:cNvPr>
          <p:cNvSpPr txBox="1"/>
          <p:nvPr/>
        </p:nvSpPr>
        <p:spPr>
          <a:xfrm>
            <a:off x="5453180" y="3796195"/>
            <a:ext cx="128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F0AC1-41D8-F547-8E2A-27D4A2D08E89}"/>
              </a:ext>
            </a:extLst>
          </p:cNvPr>
          <p:cNvSpPr txBox="1"/>
          <p:nvPr/>
        </p:nvSpPr>
        <p:spPr>
          <a:xfrm>
            <a:off x="4315956" y="4129306"/>
            <a:ext cx="3117535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algn="just"/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216" y="2228682"/>
            <a:ext cx="8141918" cy="37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Function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231726" y="2152431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EG" sz="2200" b="1" dirty="0" err="1">
                <a:solidFill>
                  <a:srgbClr val="C00000"/>
                </a:solidFill>
              </a:rPr>
              <a:t>def</a:t>
            </a:r>
            <a:r>
              <a:rPr lang="ar-EG" sz="2200" b="1" dirty="0">
                <a:solidFill>
                  <a:srgbClr val="C00000"/>
                </a:solidFill>
              </a:rPr>
              <a:t> </a:t>
            </a:r>
            <a:r>
              <a:rPr lang="ar-EG" sz="2200" b="1" dirty="0" err="1" smtClean="0">
                <a:solidFill>
                  <a:srgbClr val="065B94"/>
                </a:solidFill>
              </a:rPr>
              <a:t>greet</a:t>
            </a:r>
            <a:r>
              <a:rPr lang="ar-EG" sz="2200" b="1" dirty="0" smtClean="0">
                <a:solidFill>
                  <a:srgbClr val="065B94"/>
                </a:solidFill>
              </a:rPr>
              <a:t>)</a:t>
            </a:r>
            <a:r>
              <a:rPr lang="en-US" sz="2200" b="1" dirty="0" smtClean="0">
                <a:solidFill>
                  <a:srgbClr val="065B94"/>
                </a:solidFill>
              </a:rPr>
              <a:t>)</a:t>
            </a:r>
            <a:r>
              <a:rPr lang="en-US" sz="2200" b="1" dirty="0" smtClean="0">
                <a:solidFill>
                  <a:srgbClr val="C00000"/>
                </a:solidFill>
              </a:rPr>
              <a:t>:</a:t>
            </a:r>
            <a:endParaRPr lang="ar-EG" sz="2200" b="1" dirty="0">
              <a:solidFill>
                <a:srgbClr val="C00000"/>
              </a:solidFill>
            </a:endParaRPr>
          </a:p>
          <a:p>
            <a:r>
              <a:rPr lang="ar-EG" sz="2200" b="1" dirty="0">
                <a:solidFill>
                  <a:srgbClr val="C00000"/>
                </a:solidFill>
              </a:rPr>
              <a:t>    </a:t>
            </a:r>
            <a:r>
              <a:rPr lang="ar-EG" sz="2200" b="1" dirty="0" err="1">
                <a:solidFill>
                  <a:srgbClr val="C00000"/>
                </a:solidFill>
              </a:rPr>
              <a:t>print</a:t>
            </a:r>
            <a:r>
              <a:rPr lang="ar-EG" sz="2200" b="1" dirty="0">
                <a:solidFill>
                  <a:srgbClr val="C00000"/>
                </a:solidFill>
              </a:rPr>
              <a:t>("</a:t>
            </a:r>
            <a:r>
              <a:rPr lang="ar-EG" sz="2200" b="1" dirty="0" err="1">
                <a:solidFill>
                  <a:srgbClr val="C00000"/>
                </a:solidFill>
              </a:rPr>
              <a:t>Hello</a:t>
            </a:r>
            <a:r>
              <a:rPr lang="ar-EG" sz="2200" b="1" dirty="0">
                <a:solidFill>
                  <a:srgbClr val="C00000"/>
                </a:solidFill>
              </a:rPr>
              <a:t>")</a:t>
            </a:r>
          </a:p>
          <a:p>
            <a:endParaRPr lang="ar-EG" sz="2200" b="1" dirty="0">
              <a:solidFill>
                <a:srgbClr val="C00000"/>
              </a:solidFill>
            </a:endParaRPr>
          </a:p>
          <a:p>
            <a:r>
              <a:rPr lang="ar-EG" sz="2200" b="1" dirty="0" err="1">
                <a:solidFill>
                  <a:srgbClr val="065B94"/>
                </a:solidFill>
              </a:rPr>
              <a:t>greet</a:t>
            </a:r>
            <a:r>
              <a:rPr lang="ar-EG" sz="2200" b="1" dirty="0">
                <a:solidFill>
                  <a:srgbClr val="065B94"/>
                </a:solidFill>
              </a:rPr>
              <a:t>()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6048" y="4796849"/>
            <a:ext cx="711060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function called </a:t>
            </a:r>
            <a:r>
              <a:rPr lang="en-US" sz="2200" b="1" dirty="0">
                <a:solidFill>
                  <a:srgbClr val="C00000"/>
                </a:solidFill>
              </a:rPr>
              <a:t>welcome() </a:t>
            </a:r>
            <a:r>
              <a:rPr lang="en-US" sz="2200" dirty="0"/>
              <a:t>that prints</a:t>
            </a:r>
            <a:r>
              <a:rPr lang="en-US" sz="2200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r>
              <a:rPr lang="en-US" sz="2200" b="1" dirty="0" smtClean="0">
                <a:solidFill>
                  <a:srgbClr val="C00000"/>
                </a:solidFill>
              </a:rPr>
              <a:t>Welcome </a:t>
            </a:r>
            <a:r>
              <a:rPr lang="en-US" sz="2200" b="1" dirty="0">
                <a:solidFill>
                  <a:srgbClr val="C00000"/>
                </a:solidFill>
              </a:rPr>
              <a:t>to NTI</a:t>
            </a:r>
            <a:endParaRPr lang="ar-EG" sz="22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564" y="3897833"/>
            <a:ext cx="1927131" cy="60016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300" b="1" dirty="0">
                <a:solidFill>
                  <a:srgbClr val="065B94"/>
                </a:solidFill>
              </a:rPr>
              <a:t>Exercise</a:t>
            </a:r>
            <a:endParaRPr lang="ar-EG" sz="33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618399" y="2467626"/>
            <a:ext cx="7149821" cy="2772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b="1" dirty="0" err="1"/>
              <a:t>def</a:t>
            </a:r>
            <a:r>
              <a:rPr lang="en-US" sz="2500" b="1" dirty="0"/>
              <a:t> greet(</a:t>
            </a:r>
            <a:r>
              <a:rPr lang="en-US" sz="2500" b="1" dirty="0">
                <a:solidFill>
                  <a:srgbClr val="C00000"/>
                </a:solidFill>
              </a:rPr>
              <a:t>name</a:t>
            </a:r>
            <a:r>
              <a:rPr lang="en-US" sz="2500" b="1" dirty="0"/>
              <a:t>):</a:t>
            </a:r>
          </a:p>
          <a:p>
            <a:r>
              <a:rPr lang="en-US" sz="2500" b="1" dirty="0"/>
              <a:t>    print("Hello", name)</a:t>
            </a:r>
          </a:p>
          <a:p>
            <a:endParaRPr lang="en-US" sz="2500" b="1" dirty="0"/>
          </a:p>
          <a:p>
            <a:r>
              <a:rPr lang="en-US" sz="2500" b="1" dirty="0"/>
              <a:t>greet("Ahmed")</a:t>
            </a:r>
          </a:p>
          <a:p>
            <a:r>
              <a:rPr lang="en-US" sz="2500" b="1" dirty="0"/>
              <a:t>greet("Sara")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734425"/>
            <a:ext cx="10515600" cy="1865126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Functions with Parameters</a:t>
            </a:r>
            <a:br>
              <a:rPr lang="en-US" dirty="0"/>
            </a:br>
            <a:r>
              <a:rPr lang="en-US" b="0" dirty="0" err="1"/>
              <a:t>Parameters</a:t>
            </a:r>
            <a:r>
              <a:rPr lang="en-US" b="0" dirty="0"/>
              <a:t> allow us to send data to a </a:t>
            </a:r>
            <a:r>
              <a:rPr lang="en-US" b="0" dirty="0" smtClean="0"/>
              <a:t>function</a:t>
            </a:r>
            <a:r>
              <a:rPr lang="en-US" b="0" dirty="0"/>
              <a:t/>
            </a:r>
            <a:br>
              <a:rPr lang="en-US" b="0" dirty="0"/>
            </a:br>
            <a:endParaRPr lang="en-EG" b="0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1" y="1814956"/>
            <a:ext cx="6339437" cy="549381"/>
          </a:xfrm>
        </p:spPr>
        <p:txBody>
          <a:bodyPr/>
          <a:lstStyle/>
          <a:p>
            <a:r>
              <a:rPr lang="en-US" sz="3300" dirty="0"/>
              <a:t>Multiple Parameters</a:t>
            </a:r>
            <a:endParaRPr lang="en-EG" sz="3300" dirty="0"/>
          </a:p>
        </p:txBody>
      </p:sp>
      <p:sp>
        <p:nvSpPr>
          <p:cNvPr id="2" name="Rectangle 1"/>
          <p:cNvSpPr/>
          <p:nvPr/>
        </p:nvSpPr>
        <p:spPr>
          <a:xfrm>
            <a:off x="906048" y="2853174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2800" dirty="0" err="1">
                <a:solidFill>
                  <a:srgbClr val="FF0000"/>
                </a:solidFill>
              </a:rPr>
              <a:t>def</a:t>
            </a:r>
            <a:r>
              <a:rPr lang="es-ES" sz="2800" dirty="0">
                <a:solidFill>
                  <a:srgbClr val="FF0000"/>
                </a:solidFill>
              </a:rPr>
              <a:t> </a:t>
            </a:r>
            <a:r>
              <a:rPr lang="es-ES" sz="2800" dirty="0" err="1">
                <a:solidFill>
                  <a:srgbClr val="FF0000"/>
                </a:solidFill>
              </a:rPr>
              <a:t>add</a:t>
            </a:r>
            <a:r>
              <a:rPr lang="es-ES" sz="2800" dirty="0">
                <a:solidFill>
                  <a:srgbClr val="FF0000"/>
                </a:solidFill>
              </a:rPr>
              <a:t>(x, y):</a:t>
            </a:r>
          </a:p>
          <a:p>
            <a:r>
              <a:rPr lang="es-ES" sz="2800" dirty="0">
                <a:solidFill>
                  <a:srgbClr val="FF0000"/>
                </a:solidFill>
              </a:rPr>
              <a:t>    </a:t>
            </a:r>
            <a:r>
              <a:rPr lang="es-ES" sz="2800" dirty="0" err="1">
                <a:solidFill>
                  <a:srgbClr val="FF0000"/>
                </a:solidFill>
              </a:rPr>
              <a:t>print</a:t>
            </a:r>
            <a:r>
              <a:rPr lang="es-ES" sz="2800" dirty="0">
                <a:solidFill>
                  <a:srgbClr val="FF0000"/>
                </a:solidFill>
              </a:rPr>
              <a:t>(</a:t>
            </a:r>
            <a:r>
              <a:rPr lang="es-ES" sz="2800" b="1" dirty="0">
                <a:solidFill>
                  <a:srgbClr val="065B94"/>
                </a:solidFill>
              </a:rPr>
              <a:t>x + y</a:t>
            </a:r>
            <a:r>
              <a:rPr lang="es-ES" sz="2800" dirty="0">
                <a:solidFill>
                  <a:srgbClr val="FF0000"/>
                </a:solidFill>
              </a:rPr>
              <a:t>)</a:t>
            </a:r>
          </a:p>
          <a:p>
            <a:endParaRPr lang="es-ES" sz="2800" dirty="0">
              <a:solidFill>
                <a:srgbClr val="FF0000"/>
              </a:solidFill>
            </a:endParaRPr>
          </a:p>
          <a:p>
            <a:r>
              <a:rPr lang="es-ES" sz="2800" dirty="0" err="1">
                <a:solidFill>
                  <a:srgbClr val="FF0000"/>
                </a:solidFill>
              </a:rPr>
              <a:t>add</a:t>
            </a:r>
            <a:r>
              <a:rPr lang="es-ES" sz="2800" dirty="0">
                <a:solidFill>
                  <a:srgbClr val="FF0000"/>
                </a:solidFill>
              </a:rPr>
              <a:t>(5,3)</a:t>
            </a:r>
          </a:p>
          <a:p>
            <a:r>
              <a:rPr lang="es-ES" sz="2800" dirty="0" err="1">
                <a:solidFill>
                  <a:srgbClr val="FF0000"/>
                </a:solidFill>
              </a:rPr>
              <a:t>add</a:t>
            </a:r>
            <a:r>
              <a:rPr lang="es-ES" sz="2800" dirty="0">
                <a:solidFill>
                  <a:srgbClr val="FF0000"/>
                </a:solidFill>
              </a:rPr>
              <a:t>(10,7)</a:t>
            </a:r>
            <a:endParaRPr lang="ar-EG" sz="28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3682" y="1851119"/>
            <a:ext cx="150233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b="1" dirty="0"/>
              <a:t>Exercise</a:t>
            </a:r>
            <a:endParaRPr lang="ar-EG" sz="2500" b="1" dirty="0"/>
          </a:p>
        </p:txBody>
      </p:sp>
      <p:sp>
        <p:nvSpPr>
          <p:cNvPr id="5" name="Rectangle 4"/>
          <p:cNvSpPr/>
          <p:nvPr/>
        </p:nvSpPr>
        <p:spPr>
          <a:xfrm>
            <a:off x="5789100" y="2393312"/>
            <a:ext cx="616867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Create a function that prints the rectangle </a:t>
            </a:r>
            <a:r>
              <a:rPr lang="en-US" sz="2200" dirty="0" smtClean="0"/>
              <a:t>area .</a:t>
            </a:r>
            <a:endParaRPr lang="ar-EG" sz="2200" dirty="0"/>
          </a:p>
        </p:txBody>
      </p:sp>
      <p:sp>
        <p:nvSpPr>
          <p:cNvPr id="6" name="Rectangle 5"/>
          <p:cNvSpPr/>
          <p:nvPr/>
        </p:nvSpPr>
        <p:spPr>
          <a:xfrm>
            <a:off x="8063258" y="3607226"/>
            <a:ext cx="3501280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2300" b="1" dirty="0" err="1">
                <a:solidFill>
                  <a:srgbClr val="FF0000"/>
                </a:solidFill>
              </a:rPr>
              <a:t>rectangle</a:t>
            </a:r>
            <a:r>
              <a:rPr lang="ar-EG" sz="2300" b="1" dirty="0">
                <a:solidFill>
                  <a:srgbClr val="FF0000"/>
                </a:solidFill>
              </a:rPr>
              <a:t>(</a:t>
            </a:r>
            <a:r>
              <a:rPr lang="ar-EG" sz="2300" b="1" dirty="0" err="1">
                <a:solidFill>
                  <a:srgbClr val="FF0000"/>
                </a:solidFill>
              </a:rPr>
              <a:t>length</a:t>
            </a:r>
            <a:r>
              <a:rPr lang="ar-EG" sz="2300" b="1" dirty="0">
                <a:solidFill>
                  <a:srgbClr val="FF0000"/>
                </a:solidFill>
              </a:rPr>
              <a:t>, </a:t>
            </a:r>
            <a:r>
              <a:rPr lang="ar-EG" sz="2300" b="1" dirty="0" err="1">
                <a:solidFill>
                  <a:srgbClr val="FF0000"/>
                </a:solidFill>
              </a:rPr>
              <a:t>width</a:t>
            </a:r>
            <a:r>
              <a:rPr lang="ar-EG" sz="23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232" y="1307493"/>
            <a:ext cx="9558626" cy="4967514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65B94"/>
                </a:solidFill>
              </a:rPr>
              <a:t>Practice </a:t>
            </a:r>
            <a:r>
              <a:rPr lang="en-US" dirty="0" smtClean="0">
                <a:solidFill>
                  <a:srgbClr val="065B94"/>
                </a:solidFill>
              </a:rPr>
              <a:t>Time</a:t>
            </a:r>
            <a:br>
              <a:rPr lang="en-US" dirty="0" smtClean="0">
                <a:solidFill>
                  <a:srgbClr val="065B94"/>
                </a:solidFill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b="0" dirty="0"/>
              <a:t>Write functions to</a:t>
            </a:r>
            <a:r>
              <a:rPr lang="en-US" b="0" dirty="0" smtClean="0"/>
              <a:t>:</a:t>
            </a:r>
            <a:br>
              <a:rPr lang="en-US" b="0" dirty="0" smtClean="0"/>
            </a:br>
            <a:r>
              <a:rPr lang="en-US" b="0" dirty="0"/>
              <a:t/>
            </a:r>
            <a:br>
              <a:rPr lang="en-US" b="0" dirty="0"/>
            </a:br>
            <a:r>
              <a:rPr lang="en-US" b="0" dirty="0"/>
              <a:t/>
            </a:r>
            <a:br>
              <a:rPr lang="en-US" b="0" dirty="0"/>
            </a:br>
            <a:r>
              <a:rPr lang="en-US" b="0" dirty="0"/>
              <a:t>Print student name. </a:t>
            </a:r>
            <a:br>
              <a:rPr lang="en-US" b="0" dirty="0"/>
            </a:br>
            <a:r>
              <a:rPr lang="en-US" b="0" dirty="0"/>
              <a:t>Print country name. </a:t>
            </a:r>
            <a:br>
              <a:rPr lang="en-US" b="0" dirty="0"/>
            </a:br>
            <a:r>
              <a:rPr lang="en-US" b="0" dirty="0"/>
              <a:t>Calculate circle area. </a:t>
            </a:r>
            <a:br>
              <a:rPr lang="en-US" b="0" dirty="0"/>
            </a:br>
            <a:r>
              <a:rPr lang="en-US" b="0" dirty="0"/>
              <a:t>Calculate average of 3 numbers. </a:t>
            </a:r>
            <a:br>
              <a:rPr lang="en-US" b="0" dirty="0"/>
            </a:br>
            <a:endParaRPr lang="en-EG" b="0" dirty="0"/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1088178" y="833358"/>
            <a:ext cx="38010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EG" altLang="ar-E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ar-EG" altLang="ar-E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Statement</a:t>
            </a:r>
            <a:endParaRPr kumimoji="0" lang="ar-EG" altLang="ar-EG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8178" y="2033687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dirty="0" smtClean="0"/>
              <a:t> </a:t>
            </a:r>
            <a:r>
              <a:rPr lang="en-US" sz="3000" dirty="0"/>
              <a:t>sends a value back to the caller.</a:t>
            </a:r>
            <a:endParaRPr lang="ar-EG" sz="3000" dirty="0"/>
          </a:p>
        </p:txBody>
      </p:sp>
      <p:sp>
        <p:nvSpPr>
          <p:cNvPr id="7" name="Rectangle 6"/>
          <p:cNvSpPr/>
          <p:nvPr/>
        </p:nvSpPr>
        <p:spPr>
          <a:xfrm>
            <a:off x="1607507" y="2764779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 err="1">
                <a:solidFill>
                  <a:srgbClr val="065B94"/>
                </a:solidFill>
              </a:rPr>
              <a:t>def</a:t>
            </a:r>
            <a:r>
              <a:rPr lang="en-US" sz="3200" dirty="0">
                <a:solidFill>
                  <a:srgbClr val="065B94"/>
                </a:solidFill>
              </a:rPr>
              <a:t> add(</a:t>
            </a:r>
            <a:r>
              <a:rPr lang="en-US" sz="3200" dirty="0" err="1">
                <a:solidFill>
                  <a:srgbClr val="065B94"/>
                </a:solidFill>
              </a:rPr>
              <a:t>a,b</a:t>
            </a:r>
            <a:r>
              <a:rPr lang="en-US" sz="3200" dirty="0">
                <a:solidFill>
                  <a:srgbClr val="065B94"/>
                </a:solidFill>
              </a:rPr>
              <a:t>):</a:t>
            </a:r>
          </a:p>
          <a:p>
            <a:r>
              <a:rPr lang="en-US" sz="3200" dirty="0">
                <a:solidFill>
                  <a:srgbClr val="065B94"/>
                </a:solidFill>
              </a:rPr>
              <a:t>    return </a:t>
            </a:r>
            <a:r>
              <a:rPr lang="en-US" sz="3200" dirty="0" err="1">
                <a:solidFill>
                  <a:srgbClr val="065B94"/>
                </a:solidFill>
              </a:rPr>
              <a:t>a+b</a:t>
            </a:r>
            <a:endParaRPr lang="en-US" sz="3200" dirty="0">
              <a:solidFill>
                <a:srgbClr val="065B94"/>
              </a:solidFill>
            </a:endParaRPr>
          </a:p>
          <a:p>
            <a:endParaRPr lang="en-US" sz="3200" dirty="0">
              <a:solidFill>
                <a:srgbClr val="065B94"/>
              </a:solidFill>
            </a:endParaRPr>
          </a:p>
          <a:p>
            <a:r>
              <a:rPr lang="en-US" sz="3200" dirty="0">
                <a:solidFill>
                  <a:srgbClr val="065B94"/>
                </a:solidFill>
              </a:rPr>
              <a:t>result = add(5,7)</a:t>
            </a:r>
          </a:p>
          <a:p>
            <a:endParaRPr lang="en-US" sz="3200" dirty="0">
              <a:solidFill>
                <a:srgbClr val="065B94"/>
              </a:solidFill>
            </a:endParaRPr>
          </a:p>
          <a:p>
            <a:r>
              <a:rPr lang="en-US" sz="3200" dirty="0">
                <a:solidFill>
                  <a:srgbClr val="065B94"/>
                </a:solidFill>
              </a:rPr>
              <a:t>print(result)</a:t>
            </a:r>
            <a:endParaRPr lang="ar-EG" sz="32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260723"/>
            <a:ext cx="4441950" cy="535531"/>
          </a:xfrm>
        </p:spPr>
        <p:txBody>
          <a:bodyPr/>
          <a:lstStyle/>
          <a:p>
            <a:r>
              <a:rPr lang="en-US" dirty="0"/>
              <a:t>print() vs return</a:t>
            </a:r>
            <a:endParaRPr lang="en-E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225" y="1796254"/>
            <a:ext cx="6829419" cy="22703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093" y="4183786"/>
            <a:ext cx="9066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Write a function that returns the square of a </a:t>
            </a:r>
            <a:r>
              <a:rPr lang="en-US" sz="2800" b="1" dirty="0" smtClean="0"/>
              <a:t>number</a:t>
            </a:r>
            <a:endParaRPr lang="ar-EG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2287481" y="5073134"/>
            <a:ext cx="191430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square(5)</a:t>
            </a:r>
            <a:endParaRPr lang="ar-EG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A696BF-DCB1-1DCE-4297-6A7BEE3A0BC6}"/>
              </a:ext>
            </a:extLst>
          </p:cNvPr>
          <p:cNvSpPr txBox="1"/>
          <p:nvPr/>
        </p:nvSpPr>
        <p:spPr>
          <a:xfrm>
            <a:off x="6095999" y="2938389"/>
            <a:ext cx="5267093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42168-686B-25F9-DAE5-2A3DEF501D48}"/>
              </a:ext>
            </a:extLst>
          </p:cNvPr>
          <p:cNvSpPr txBox="1"/>
          <p:nvPr/>
        </p:nvSpPr>
        <p:spPr>
          <a:xfrm>
            <a:off x="6008316" y="4528850"/>
            <a:ext cx="5267093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28970" y="838070"/>
            <a:ext cx="67753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Returning</a:t>
            </a:r>
            <a:r>
              <a:rPr kumimoji="0" lang="ar-EG" altLang="ar-EG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ar-EG" altLang="ar-EG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n-US" altLang="ar-EG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ar-EG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3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ar-EG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46125" y="3146394"/>
            <a:ext cx="66972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rgbClr val="FF0000"/>
                </a:solidFill>
              </a:rPr>
              <a:t>def</a:t>
            </a:r>
            <a:r>
              <a:rPr lang="en-US" sz="3000" dirty="0">
                <a:solidFill>
                  <a:srgbClr val="FF0000"/>
                </a:solidFill>
              </a:rPr>
              <a:t> calculate(a, b):</a:t>
            </a:r>
          </a:p>
          <a:p>
            <a:r>
              <a:rPr lang="en-US" sz="3000" dirty="0">
                <a:solidFill>
                  <a:srgbClr val="FF0000"/>
                </a:solidFill>
              </a:rPr>
              <a:t>    return </a:t>
            </a:r>
            <a:r>
              <a:rPr lang="en-US" sz="3000" dirty="0" err="1">
                <a:solidFill>
                  <a:srgbClr val="FF0000"/>
                </a:solidFill>
              </a:rPr>
              <a:t>a+b</a:t>
            </a:r>
            <a:r>
              <a:rPr lang="en-US" sz="3000" dirty="0">
                <a:solidFill>
                  <a:srgbClr val="FF0000"/>
                </a:solidFill>
              </a:rPr>
              <a:t>, a-b</a:t>
            </a:r>
          </a:p>
          <a:p>
            <a:endParaRPr lang="en-US" sz="3000" dirty="0">
              <a:solidFill>
                <a:srgbClr val="FF0000"/>
              </a:solidFill>
            </a:endParaRPr>
          </a:p>
          <a:p>
            <a:r>
              <a:rPr lang="en-US" sz="3000" dirty="0">
                <a:solidFill>
                  <a:srgbClr val="FF0000"/>
                </a:solidFill>
              </a:rPr>
              <a:t>x, y = calculate(10, 5)</a:t>
            </a:r>
          </a:p>
          <a:p>
            <a:endParaRPr lang="en-US" sz="3000" dirty="0">
              <a:solidFill>
                <a:srgbClr val="FF0000"/>
              </a:solidFill>
            </a:endParaRPr>
          </a:p>
          <a:p>
            <a:r>
              <a:rPr lang="en-US" sz="3000" dirty="0">
                <a:solidFill>
                  <a:srgbClr val="FF0000"/>
                </a:solidFill>
              </a:rPr>
              <a:t>print(x)</a:t>
            </a:r>
          </a:p>
          <a:p>
            <a:r>
              <a:rPr lang="en-US" sz="3000" dirty="0">
                <a:solidFill>
                  <a:srgbClr val="FF0000"/>
                </a:solidFill>
              </a:rPr>
              <a:t>print(y)</a:t>
            </a:r>
            <a:endParaRPr lang="ar-EG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1C73B-330E-9B82-F69D-0BD791B89C37}"/>
              </a:ext>
            </a:extLst>
          </p:cNvPr>
          <p:cNvSpPr txBox="1"/>
          <p:nvPr/>
        </p:nvSpPr>
        <p:spPr>
          <a:xfrm>
            <a:off x="612370" y="4622212"/>
            <a:ext cx="46733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13620" y="969929"/>
            <a:ext cx="608905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b="1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Practice</a:t>
            </a:r>
            <a:r>
              <a:rPr lang="ar-EG" altLang="ar-EG" dirty="0">
                <a:solidFill>
                  <a:srgbClr val="065B94"/>
                </a:solidFill>
                <a:latin typeface="Arial" panose="020B0604020202020204" pitchFamily="34" charset="0"/>
              </a:rPr>
              <a:t/>
            </a:r>
            <a:br>
              <a:rPr lang="ar-EG" altLang="ar-EG" dirty="0">
                <a:solidFill>
                  <a:srgbClr val="065B94"/>
                </a:solidFill>
                <a:latin typeface="Arial" panose="020B0604020202020204" pitchFamily="34" charset="0"/>
              </a:rPr>
            </a:br>
            <a:endParaRPr kumimoji="0" lang="ar-EG" altLang="ar-EG" b="1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ar-EG" altLang="ar-EG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EG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ar-EG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</a:t>
            </a:r>
            <a:r>
              <a:rPr kumimoji="0" lang="ar-EG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endParaRPr kumimoji="0" lang="ar-EG" altLang="ar-EG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result</a:t>
            </a:r>
            <a:r>
              <a:rPr kumimoji="0" lang="ar-EG" altLang="ar-EG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ar-EG" altLang="ar-EG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</a:t>
            </a:r>
            <a:r>
              <a:rPr lang="ar-EG" altLang="ar-EG" sz="2200" dirty="0" smtClean="0">
                <a:solidFill>
                  <a:schemeClr val="tx1"/>
                </a:solidFill>
                <a:latin typeface="Arial Unicode MS"/>
              </a:rPr>
              <a:t>)</a:t>
            </a:r>
            <a:r>
              <a:rPr lang="en-US" altLang="ar-EG" sz="2200" dirty="0" smtClean="0">
                <a:solidFill>
                  <a:schemeClr val="tx1"/>
                </a:solidFill>
                <a:latin typeface="Arial Unicode MS"/>
              </a:rPr>
              <a:t>10,20)</a:t>
            </a:r>
            <a:endParaRPr kumimoji="0" lang="ar-EG" altLang="ar-EG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85372"/>
            <a:ext cx="10515600" cy="563231"/>
          </a:xfrm>
        </p:spPr>
        <p:txBody>
          <a:bodyPr>
            <a:spAutoFit/>
          </a:bodyPr>
          <a:lstStyle/>
          <a:p>
            <a:r>
              <a:rPr lang="en-US" sz="3400" dirty="0"/>
              <a:t>Default Arguments</a:t>
            </a:r>
            <a:endParaRPr lang="en-EG" sz="3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BC6FE-ED0A-9C03-1D39-92956056C9AF}"/>
              </a:ext>
            </a:extLst>
          </p:cNvPr>
          <p:cNvSpPr txBox="1"/>
          <p:nvPr/>
        </p:nvSpPr>
        <p:spPr>
          <a:xfrm>
            <a:off x="652564" y="2062717"/>
            <a:ext cx="10431748" cy="739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3200" dirty="0"/>
              <a:t>A default argument is used when no value is provided.</a:t>
            </a:r>
            <a:endParaRPr lang="en-US" sz="32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310583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 err="1">
                <a:solidFill>
                  <a:srgbClr val="065B94"/>
                </a:solidFill>
              </a:rPr>
              <a:t>def</a:t>
            </a:r>
            <a:r>
              <a:rPr lang="en-US" sz="3200" b="1" dirty="0">
                <a:solidFill>
                  <a:srgbClr val="065B94"/>
                </a:solidFill>
              </a:rPr>
              <a:t> greet(name="Guest"): </a:t>
            </a:r>
            <a:endParaRPr lang="en-US" sz="3200" b="1" dirty="0" smtClean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  </a:t>
            </a:r>
          </a:p>
          <a:p>
            <a:r>
              <a:rPr lang="en-US" sz="3200" b="1" dirty="0">
                <a:solidFill>
                  <a:srgbClr val="065B94"/>
                </a:solidFill>
              </a:rPr>
              <a:t> </a:t>
            </a:r>
            <a:r>
              <a:rPr lang="en-US" sz="3200" b="1" dirty="0" smtClean="0">
                <a:solidFill>
                  <a:srgbClr val="065B94"/>
                </a:solidFill>
              </a:rPr>
              <a:t>  </a:t>
            </a:r>
            <a:r>
              <a:rPr lang="en-US" sz="3200" b="1" dirty="0">
                <a:solidFill>
                  <a:srgbClr val="065B94"/>
                </a:solidFill>
              </a:rPr>
              <a:t>print("Welcome", name</a:t>
            </a:r>
            <a:r>
              <a:rPr lang="en-US" sz="3200" b="1" dirty="0" smtClean="0">
                <a:solidFill>
                  <a:srgbClr val="065B94"/>
                </a:solidFill>
              </a:rPr>
              <a:t>)</a:t>
            </a:r>
          </a:p>
          <a:p>
            <a:endParaRPr lang="en-US" sz="3200" b="1" dirty="0">
              <a:solidFill>
                <a:srgbClr val="065B94"/>
              </a:solidFill>
            </a:endParaRPr>
          </a:p>
          <a:p>
            <a:r>
              <a:rPr lang="en-US" sz="3200" b="1" dirty="0" smtClean="0">
                <a:solidFill>
                  <a:srgbClr val="065B94"/>
                </a:solidFill>
              </a:rPr>
              <a:t>greet()</a:t>
            </a:r>
          </a:p>
          <a:p>
            <a:r>
              <a:rPr lang="en-US" sz="3200" b="1" dirty="0" smtClean="0">
                <a:solidFill>
                  <a:srgbClr val="065B94"/>
                </a:solidFill>
              </a:rPr>
              <a:t>greet</a:t>
            </a:r>
            <a:r>
              <a:rPr lang="en-US" sz="3200" b="1" dirty="0">
                <a:solidFill>
                  <a:srgbClr val="065B94"/>
                </a:solidFill>
              </a:rPr>
              <a:t>("Ahmed")</a:t>
            </a:r>
            <a:endParaRPr lang="ar-EG" sz="32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B6FB9E-2CE8-8ADA-BDF5-32C5C5E0620B}"/>
              </a:ext>
            </a:extLst>
          </p:cNvPr>
          <p:cNvSpPr txBox="1"/>
          <p:nvPr/>
        </p:nvSpPr>
        <p:spPr>
          <a:xfrm>
            <a:off x="1213937" y="3748925"/>
            <a:ext cx="3931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2000" b="1" dirty="0" err="1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Exemple</a:t>
            </a:r>
            <a:endParaRPr lang="en-US" sz="2000" b="1" dirty="0" smtClean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  <a:p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  <a:p>
            <a:r>
              <a:rPr lang="en-US" sz="30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Power(5)</a:t>
            </a:r>
          </a:p>
          <a:p>
            <a:r>
              <a:rPr lang="en-US" sz="30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Power(5,3)</a:t>
            </a:r>
            <a:endParaRPr lang="en-US" sz="30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13937" y="1039686"/>
            <a:ext cx="494886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</a:t>
            </a:r>
            <a:r>
              <a:rPr kumimoji="0" lang="en-US" altLang="ar-EG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ar-EG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Write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function</a:t>
            </a:r>
            <a:endParaRPr kumimoji="0" lang="ar-EG" altLang="ar-EG" sz="2800" b="0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98690" y="3318038"/>
            <a:ext cx="35878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power(base, exponent=2)</a:t>
            </a:r>
            <a:endParaRPr lang="ar-EG" sz="2200" b="1" dirty="0"/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174170" y="2132902"/>
            <a:ext cx="1157524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4180563" y="3243957"/>
            <a:ext cx="100082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</a:rPr>
              <a:t>Thank You</a:t>
            </a:r>
            <a:endParaRPr lang="en-US" sz="5400" b="1" dirty="0">
              <a:solidFill>
                <a:schemeClr val="bg1"/>
              </a:solidFill>
            </a:endParaRPr>
          </a:p>
          <a:p>
            <a:endParaRPr lang="en-US" sz="4800" b="1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52482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</TotalTime>
  <Words>383</Words>
  <Application>Microsoft Office PowerPoint</Application>
  <PresentationFormat>Widescreen</PresentationFormat>
  <Paragraphs>110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Unicode MS</vt:lpstr>
      <vt:lpstr>Segoe UI</vt:lpstr>
      <vt:lpstr>Poppins Medium</vt:lpstr>
      <vt:lpstr>Calibri</vt:lpstr>
      <vt:lpstr>Wingdings</vt:lpstr>
      <vt:lpstr>Inter</vt:lpstr>
      <vt:lpstr>DM Sans</vt:lpstr>
      <vt:lpstr>Segoe UI Semibold</vt:lpstr>
      <vt:lpstr>Office Theme</vt:lpstr>
      <vt:lpstr>PowerPoint Presentation</vt:lpstr>
      <vt:lpstr>PowerPoint Presentation</vt:lpstr>
      <vt:lpstr>Learning Outcomes</vt:lpstr>
      <vt:lpstr>PowerPoint Presentation</vt:lpstr>
      <vt:lpstr>Function Syntax</vt:lpstr>
      <vt:lpstr>Calling a Function</vt:lpstr>
      <vt:lpstr> Functions with Parameters Parameters allow us to send data to a function </vt:lpstr>
      <vt:lpstr>Multiple Parameters</vt:lpstr>
      <vt:lpstr> Practice Time  Write functions to:   Print student name.  Print country name.  Calculate circle area.  Calculate average of 3 numbers.  </vt:lpstr>
      <vt:lpstr>  The return Statement</vt:lpstr>
      <vt:lpstr>print() vs return</vt:lpstr>
      <vt:lpstr>  Returning Multiple Values  A function can return more than one value. </vt:lpstr>
      <vt:lpstr>  Practice  Write a function that returns:  Sum   Average   of two numbers.  Example result = calc)10,20)</vt:lpstr>
      <vt:lpstr>Default Arguments</vt:lpstr>
      <vt:lpstr> Practice  Write a function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41</cp:revision>
  <dcterms:created xsi:type="dcterms:W3CDTF">2026-03-27T11:30:08Z</dcterms:created>
  <dcterms:modified xsi:type="dcterms:W3CDTF">2026-07-17T12:12:17Z</dcterms:modified>
</cp:coreProperties>
</file>