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94" r:id="rId3"/>
    <p:sldId id="321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10" r:id="rId19"/>
    <p:sldId id="311" r:id="rId20"/>
  </p:sldIdLst>
  <p:sldSz cx="12192000" cy="6858000"/>
  <p:notesSz cx="6858000" cy="9144000"/>
  <p:embeddedFontLst>
    <p:embeddedFont>
      <p:font typeface="Calibri" panose="020F0502020204030204" pitchFamily="34" charset="0"/>
      <p:regular r:id="rId22"/>
      <p:bold r:id="rId23"/>
    </p:embeddedFont>
    <p:embeddedFont>
      <p:font typeface="Segoe UI Semibold" panose="020B0702040204020203" pitchFamily="34" charset="0"/>
      <p:regular r:id="rId24"/>
      <p:bold r:id="rId25"/>
      <p:italic r:id="rId26"/>
      <p:boldItalic r:id="rId27"/>
    </p:embeddedFont>
    <p:embeddedFont>
      <p:font typeface="Segoe UI" panose="020B0502040204020203" pitchFamily="3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528" userDrawn="1">
          <p15:clr>
            <a:srgbClr val="A4A3A4"/>
          </p15:clr>
        </p15:guide>
        <p15:guide id="3" pos="71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5B94"/>
    <a:srgbClr val="0D76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62" autoAdjust="0"/>
    <p:restoredTop sz="91061" autoAdjust="0"/>
  </p:normalViewPr>
  <p:slideViewPr>
    <p:cSldViewPr snapToGrid="0">
      <p:cViewPr>
        <p:scale>
          <a:sx n="70" d="100"/>
          <a:sy n="70" d="100"/>
        </p:scale>
        <p:origin x="792" y="222"/>
      </p:cViewPr>
      <p:guideLst>
        <p:guide orient="horz" pos="3888"/>
        <p:guide pos="528"/>
        <p:guide pos="71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5E4A5-61F0-4A45-A308-BB450F325CC1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D22913-3848-4702-9CA6-43C445879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20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69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64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01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37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473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84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991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64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723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7227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808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B278F43A-FB5C-B2EB-F9DE-AF246B9BCDD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62" y="1376475"/>
            <a:ext cx="4742246" cy="456210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DAEE64-3165-EBF4-F20C-C39BD64C2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549891"/>
            <a:ext cx="4341467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23049793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CE44F-0AC8-95A4-A0BE-37EFA2F155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2564" y="2192401"/>
            <a:ext cx="8893175" cy="3266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75548F9-F8BC-EFDB-C687-8D0C5A936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3971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24865" y="1495168"/>
            <a:ext cx="7692964" cy="4282634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FF78D9-C1A2-526F-6420-B3D76D0BD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495168"/>
            <a:ext cx="3405071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539461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76163"/>
            <a:ext cx="12192000" cy="342899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9820320-FD11-BAF5-37F4-CF304DE64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6844756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90699" y="1556951"/>
            <a:ext cx="2875271" cy="424135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ABAD49B-FDB5-F77F-A443-0E3F5E7156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69319" y="1546501"/>
            <a:ext cx="2875271" cy="424135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66EAC-19C8-6C5F-048D-4DC4B555FC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068" y="1316734"/>
            <a:ext cx="4074856" cy="1983107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556324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7B0C6339-CA41-2A13-E31E-C9B624A249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198" y="2444345"/>
            <a:ext cx="3294042" cy="294174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1EF183C-CE0C-2B93-D215-252B683E94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18112" y="1645630"/>
            <a:ext cx="3294042" cy="438355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9818556-CB74-61E7-75FD-256A24315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355375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77395" y="2561353"/>
            <a:ext cx="3254625" cy="21076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9F59937-5E08-66DF-EBE6-71F9DF9C98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00171" y="2561353"/>
            <a:ext cx="3254625" cy="21076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B3B78D-483A-DCE1-6079-3B46A8551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00991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74056" y="2231136"/>
            <a:ext cx="3254626" cy="3255264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9FEAE8-5AF9-03B3-0844-DDBF6CB13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393111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91731" y="1426865"/>
            <a:ext cx="5869214" cy="294390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9BD62F-0B76-88A2-E29D-59829B77C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600282"/>
            <a:ext cx="3929484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012669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25143" y="1589524"/>
            <a:ext cx="6966857" cy="424736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FF799DE-AC33-6FB4-AA25-AEF9862EA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589524"/>
            <a:ext cx="365817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127684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0712" y="1320323"/>
            <a:ext cx="4204740" cy="498278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2D27499-F706-FAB7-D036-ED85BD77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162" y="1320323"/>
            <a:ext cx="383904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204529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199" y="3285120"/>
            <a:ext cx="5043461" cy="2555623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85313B9-1E3D-25CD-C016-3DA6D7EFD11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10341" y="1557495"/>
            <a:ext cx="5294667" cy="284235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4CE7931-72DD-ACE7-A685-6ECE67AAB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705" y="1313548"/>
            <a:ext cx="4441950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523974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7469" y="2459715"/>
            <a:ext cx="4783157" cy="33940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721E2BF-599D-B1F9-D6E8-5DCA4FF2B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791520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81455" y="1552454"/>
            <a:ext cx="5613400" cy="4247361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AE96D8-BF7F-6004-FB2D-866215855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71" y="3026520"/>
            <a:ext cx="4009871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927487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77973" y="2975832"/>
            <a:ext cx="8036051" cy="290684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2D82A6-9BE4-1B56-B81C-E40D68A6C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9253564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721" y="1373448"/>
            <a:ext cx="3484625" cy="432396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CD8A88D9-93EB-19DF-C0DB-7F020B3F07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57323" y="1373448"/>
            <a:ext cx="2970520" cy="432396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BFA21-027C-9D7E-86C4-6A892D55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3327970"/>
            <a:ext cx="3758662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0532107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83530" y="2471257"/>
            <a:ext cx="4928616" cy="330905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D4F9BE-3AC0-19C2-9187-3FD8A481A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256375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22483-4632-E171-2855-7D99A603FA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2564" y="2224603"/>
            <a:ext cx="10158413" cy="3467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6BE785-A8E6-66CF-A260-2DF94E4BC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22038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125" y="1524612"/>
            <a:ext cx="5694218" cy="4420275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521626-1B9C-F9E7-848F-8656655CF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582794"/>
            <a:ext cx="383904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0749987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84629" y="2337059"/>
            <a:ext cx="4928616" cy="330905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34112C-F87F-EA2E-4F5B-03A38B938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55222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458097"/>
            <a:ext cx="3526971" cy="473897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A2C1E3-120D-3FEC-1B77-2A36BF6D4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6875" y="1553089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603250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51909" y="2339818"/>
            <a:ext cx="2909350" cy="342793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40B098B3-79E1-266E-BB89-C5D12EB23DC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59547" y="2339818"/>
            <a:ext cx="2909350" cy="342793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740E445-A68C-4D36-E75A-60468A3FE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6896438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9882" y="2773345"/>
            <a:ext cx="5169483" cy="300445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B439235-1612-8175-756F-EC4690BF4E8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2773345"/>
            <a:ext cx="5169483" cy="300445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F477963-0E68-6BE9-685A-14AC4960E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40324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64259" y="1470454"/>
            <a:ext cx="4463683" cy="439990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E7F65-8C2A-99A3-29F7-AB052EE6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5772" y="1580088"/>
            <a:ext cx="4602724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30082140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90990" y="2318009"/>
            <a:ext cx="3461119" cy="346111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45EB47-DFC0-2E76-0595-02B2E4546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404645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6750" y="2200589"/>
            <a:ext cx="3461118" cy="387349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21F8B9-D5FB-9194-E851-27D411D7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8466134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30723" y="1507524"/>
            <a:ext cx="3154531" cy="433056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FDA4CFAE-E2E2-884F-70F5-32FCCDCD7A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22136" y="1507524"/>
            <a:ext cx="3154532" cy="433056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DBEE-D77F-11A7-DCDC-8738B648E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726" y="3211081"/>
            <a:ext cx="2159997" cy="1255728"/>
          </a:xfrm>
        </p:spPr>
        <p:txBody>
          <a:bodyPr>
            <a:sp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500069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C5D961B-A4A4-4C00-9552-A437343EF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8919" y="1335664"/>
            <a:ext cx="7551938" cy="584775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lnSpc>
                <a:spcPct val="10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98475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15DC9D-6410-4FCE-22DB-5A4A3E96802F}"/>
              </a:ext>
            </a:extLst>
          </p:cNvPr>
          <p:cNvPicPr/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9263767-B6AA-FEF6-295D-20D68A167F80}"/>
              </a:ext>
            </a:extLst>
          </p:cNvPr>
          <p:cNvSpPr/>
          <p:nvPr userDrawn="1"/>
        </p:nvSpPr>
        <p:spPr>
          <a:xfrm>
            <a:off x="884503" y="6172205"/>
            <a:ext cx="685800" cy="685800"/>
          </a:xfrm>
          <a:prstGeom prst="rect">
            <a:avLst/>
          </a:prstGeom>
          <a:solidFill>
            <a:schemeClr val="accent1"/>
          </a:solidFill>
          <a:ln w="25400" cap="rnd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60E2A6B-A809-4840-BF14-8648BC0BDF87}" type="slidenum">
              <a:rPr lang="id-ID" sz="1300" b="1" smtClean="0">
                <a:solidFill>
                  <a:schemeClr val="bg2"/>
                </a:solidFill>
                <a:latin typeface="Poppins Medium" pitchFamily="2" charset="77"/>
                <a:ea typeface="Inter" panose="02000503000000020004" pitchFamily="2" charset="0"/>
                <a:cs typeface="Poppins Medium" pitchFamily="2" charset="77"/>
              </a:rPr>
              <a:pPr algn="ctr"/>
              <a:t>‹#›</a:t>
            </a:fld>
            <a:endParaRPr lang="en-US" sz="1300" b="1">
              <a:solidFill>
                <a:schemeClr val="bg2"/>
              </a:solidFill>
              <a:latin typeface="Poppins Medium" pitchFamily="2" charset="77"/>
              <a:ea typeface="Inter" panose="02000503000000020004" pitchFamily="2" charset="0"/>
              <a:cs typeface="Poppins Medium" pitchFamily="2" charset="7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DAD369-F2D1-9F1E-1936-EEF937EF9009}"/>
              </a:ext>
            </a:extLst>
          </p:cNvPr>
          <p:cNvSpPr/>
          <p:nvPr userDrawn="1"/>
        </p:nvSpPr>
        <p:spPr>
          <a:xfrm>
            <a:off x="9800473" y="6403136"/>
            <a:ext cx="1629527" cy="411478"/>
          </a:xfrm>
          <a:prstGeom prst="rect">
            <a:avLst/>
          </a:prstGeom>
          <a:noFill/>
          <a:ln w="25400" cap="rnd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2"/>
                </a:solidFill>
                <a:latin typeface="Poppins Medium" pitchFamily="2" charset="77"/>
                <a:ea typeface="Inter" panose="02000503000000020004" pitchFamily="2" charset="0"/>
                <a:cs typeface="Poppins Medium" pitchFamily="2" charset="77"/>
              </a:rPr>
              <a:t>Copyright @ 2026 NTI </a:t>
            </a:r>
            <a:endParaRPr lang="en-US" sz="1000" dirty="0">
              <a:solidFill>
                <a:schemeClr val="tx2"/>
              </a:solidFill>
              <a:latin typeface="Poppins Medium" pitchFamily="2" charset="77"/>
              <a:ea typeface="Inter" panose="02000503000000020004" pitchFamily="2" charset="0"/>
              <a:cs typeface="Poppins Medium" pitchFamily="2" charset="77"/>
            </a:endParaRP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B3B6FB33-A672-9B82-41E4-0AC900F93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3067"/>
            <a:ext cx="10515600" cy="547842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en-US" dirty="0"/>
              <a:t>Click to edit Master title style</a:t>
            </a:r>
            <a:endParaRPr lang="en-EG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E7308B9-242D-32FB-28B8-815AFC14B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564" y="2008412"/>
            <a:ext cx="10515600" cy="3739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E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484B76-34FB-C4DC-593D-8783A64B409D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633075" y="184578"/>
            <a:ext cx="1768481" cy="8776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FDA9D8-55BC-8A23-77AE-11215C839C67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9549800" y="257729"/>
            <a:ext cx="1513435" cy="73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98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  <p:sldLayoutId id="2147483682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>
              <a:lumMod val="85000"/>
              <a:lumOff val="15000"/>
            </a:schemeClr>
          </a:solidFill>
          <a:latin typeface="Poppins Medium" pitchFamily="2" charset="77"/>
          <a:ea typeface="+mj-ea"/>
          <a:cs typeface="Poppins Medium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8BB33DD-B563-558B-A025-FB92064EDF1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9DEECA3-5394-9AC0-01CC-D16A223C28EF}"/>
              </a:ext>
            </a:extLst>
          </p:cNvPr>
          <p:cNvSpPr/>
          <p:nvPr/>
        </p:nvSpPr>
        <p:spPr>
          <a:xfrm>
            <a:off x="8905060" y="1148050"/>
            <a:ext cx="2526013" cy="4742245"/>
          </a:xfrm>
          <a:prstGeom prst="rect">
            <a:avLst/>
          </a:prstGeom>
          <a:solidFill>
            <a:schemeClr val="accent1"/>
          </a:solidFill>
          <a:ln w="12700" cap="rnd">
            <a:noFill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09379A-6685-5A36-1A51-C194755EBC96}"/>
              </a:ext>
            </a:extLst>
          </p:cNvPr>
          <p:cNvSpPr txBox="1"/>
          <p:nvPr/>
        </p:nvSpPr>
        <p:spPr>
          <a:xfrm>
            <a:off x="760927" y="3206864"/>
            <a:ext cx="6817320" cy="185358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5400">
                <a:solidFill>
                  <a:schemeClr val="tx2"/>
                </a:solidFill>
                <a:latin typeface="Inter ExtraBold" panose="02000503000000020004" pitchFamily="2" charset="0"/>
                <a:ea typeface="+mj-ea"/>
                <a:cs typeface="+mj-cs"/>
              </a:defRPr>
            </a:lvl1pPr>
          </a:lstStyle>
          <a:p>
            <a:pPr algn="l"/>
            <a:r>
              <a:rPr lang="en-US" sz="6600" b="1" dirty="0">
                <a:latin typeface="Poppins Medium" pitchFamily="2" charset="77"/>
                <a:cs typeface="Poppins Medium" pitchFamily="2" charset="77"/>
              </a:rPr>
              <a:t>SUMMER</a:t>
            </a:r>
          </a:p>
          <a:p>
            <a:pPr algn="l"/>
            <a:r>
              <a:rPr lang="en-US" sz="6600" b="1" dirty="0">
                <a:latin typeface="Poppins Medium" pitchFamily="2" charset="77"/>
                <a:cs typeface="Poppins Medium" pitchFamily="2" charset="77"/>
              </a:rPr>
              <a:t>TRAINING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AF8EEF-9065-C8BD-C95F-69F4F2221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10" y="151463"/>
            <a:ext cx="1768481" cy="8776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325AA9-937B-9722-93B6-6A87406DAF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8590" y="149934"/>
            <a:ext cx="1513435" cy="7313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75091" y="5520963"/>
            <a:ext cx="18473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ar-EG" dirty="0"/>
          </a:p>
        </p:txBody>
      </p:sp>
      <p:sp>
        <p:nvSpPr>
          <p:cNvPr id="12" name="TextBox 11"/>
          <p:cNvSpPr txBox="1"/>
          <p:nvPr/>
        </p:nvSpPr>
        <p:spPr>
          <a:xfrm>
            <a:off x="760927" y="5411244"/>
            <a:ext cx="5385499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</a:rPr>
              <a:t>Instructor : </a:t>
            </a: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</a:rPr>
              <a:t>Doaa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</a:rPr>
              <a:t> Mohammed</a:t>
            </a:r>
          </a:p>
          <a:p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</a:rPr>
              <a:t>Data Analyst</a:t>
            </a:r>
            <a:endParaRPr lang="ar-EG" sz="24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835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0744C2-E677-420B-89A6-2E2BEE86E3C0}"/>
              </a:ext>
            </a:extLst>
          </p:cNvPr>
          <p:cNvSpPr/>
          <p:nvPr/>
        </p:nvSpPr>
        <p:spPr>
          <a:xfrm>
            <a:off x="161644" y="1857330"/>
            <a:ext cx="11863341" cy="3644900"/>
          </a:xfrm>
          <a:prstGeom prst="rect">
            <a:avLst/>
          </a:prstGeom>
          <a:solidFill>
            <a:srgbClr val="065B9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cs typeface="Poppins Medium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0526AB-A15D-F80A-8A3D-31B493CC197F}"/>
              </a:ext>
            </a:extLst>
          </p:cNvPr>
          <p:cNvSpPr txBox="1"/>
          <p:nvPr/>
        </p:nvSpPr>
        <p:spPr>
          <a:xfrm>
            <a:off x="805385" y="3458465"/>
            <a:ext cx="82638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Programming using Python</a:t>
            </a:r>
            <a:endParaRPr lang="en-US" sz="4800" b="1" dirty="0">
              <a:solidFill>
                <a:schemeClr val="bg1"/>
              </a:solidFill>
              <a:latin typeface="Poppins Medium" pitchFamily="2" charset="77"/>
              <a:cs typeface="Poppins Medium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FA7865-DA21-71EE-25E2-E3AA0EAA629B}"/>
              </a:ext>
            </a:extLst>
          </p:cNvPr>
          <p:cNvSpPr txBox="1"/>
          <p:nvPr/>
        </p:nvSpPr>
        <p:spPr>
          <a:xfrm>
            <a:off x="1378715" y="4289462"/>
            <a:ext cx="99084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Session 1: Introduction to Programming and Development Environment</a:t>
            </a:r>
            <a:endParaRPr lang="en-US" sz="2400" b="1" dirty="0">
              <a:solidFill>
                <a:schemeClr val="bg1"/>
              </a:solidFill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967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3EA9D-4B17-A4A8-B56E-3BA9CF999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8919" y="1435527"/>
            <a:ext cx="7551938" cy="584775"/>
          </a:xfrm>
        </p:spPr>
        <p:txBody>
          <a:bodyPr/>
          <a:lstStyle/>
          <a:p>
            <a:r>
              <a:rPr lang="en-US" dirty="0"/>
              <a:t>"Session Agenda" </a:t>
            </a:r>
            <a:endParaRPr lang="en-EG" dirty="0">
              <a:latin typeface="+mn-lt"/>
              <a:cs typeface="Segoe UI Semibold" panose="020B07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B7734A-8AFC-2337-09AF-AB58741FE491}"/>
              </a:ext>
            </a:extLst>
          </p:cNvPr>
          <p:cNvSpPr txBox="1"/>
          <p:nvPr/>
        </p:nvSpPr>
        <p:spPr>
          <a:xfrm>
            <a:off x="225468" y="2349515"/>
            <a:ext cx="508556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b="1" dirty="0" smtClean="0">
                <a:solidFill>
                  <a:srgbClr val="065B94"/>
                </a:solidFill>
                <a:cs typeface="Segoe UI Semibold" panose="020B0702040204020203" pitchFamily="34" charset="0"/>
              </a:rPr>
              <a:t>01.</a:t>
            </a:r>
            <a:r>
              <a:rPr lang="en-US" sz="1600" b="1" dirty="0" smtClean="0"/>
              <a:t>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Introduction: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 What is Programming &amp; Python? </a:t>
            </a:r>
            <a:endParaRPr lang="en-US" sz="1600" b="1" dirty="0">
              <a:solidFill>
                <a:schemeClr val="accent6">
                  <a:lumMod val="75000"/>
                </a:schemeClr>
              </a:solidFill>
              <a:cs typeface="Segoe UI Semibold" panose="020B07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613762-E9C8-494B-2737-93449D1F6990}"/>
              </a:ext>
            </a:extLst>
          </p:cNvPr>
          <p:cNvSpPr txBox="1"/>
          <p:nvPr/>
        </p:nvSpPr>
        <p:spPr>
          <a:xfrm>
            <a:off x="225468" y="3104434"/>
            <a:ext cx="4960307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02. Environment Setup: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 Tools &amp; IDE Configuration.</a:t>
            </a:r>
            <a:endParaRPr lang="en-US" sz="1600" b="1" dirty="0">
              <a:solidFill>
                <a:schemeClr val="accent6">
                  <a:lumMod val="75000"/>
                </a:schemeClr>
              </a:solidFill>
              <a:cs typeface="Segoe UI Semibold" panose="020B07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5C7D0A-EAE4-76C3-8048-7A6611AF1B8A}"/>
              </a:ext>
            </a:extLst>
          </p:cNvPr>
          <p:cNvSpPr txBox="1"/>
          <p:nvPr/>
        </p:nvSpPr>
        <p:spPr>
          <a:xfrm>
            <a:off x="225468" y="4015775"/>
            <a:ext cx="508556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fr-FR" sz="1600" b="1" dirty="0">
                <a:solidFill>
                  <a:schemeClr val="accent6">
                    <a:lumMod val="75000"/>
                  </a:schemeClr>
                </a:solidFill>
              </a:rPr>
              <a:t>03. Python Basics:</a:t>
            </a:r>
            <a:r>
              <a:rPr lang="fr-FR" sz="16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600" dirty="0" err="1">
                <a:solidFill>
                  <a:schemeClr val="accent6">
                    <a:lumMod val="75000"/>
                  </a:schemeClr>
                </a:solidFill>
              </a:rPr>
              <a:t>Syntax</a:t>
            </a:r>
            <a:r>
              <a:rPr lang="fr-FR" sz="1600" dirty="0">
                <a:solidFill>
                  <a:schemeClr val="accent6">
                    <a:lumMod val="75000"/>
                  </a:schemeClr>
                </a:solidFill>
              </a:rPr>
              <a:t>, Indentation &amp; </a:t>
            </a:r>
            <a:r>
              <a:rPr lang="fr-FR" sz="1600" dirty="0" err="1">
                <a:solidFill>
                  <a:schemeClr val="accent6">
                    <a:lumMod val="75000"/>
                  </a:schemeClr>
                </a:solidFill>
              </a:rPr>
              <a:t>Comments</a:t>
            </a:r>
            <a:r>
              <a:rPr lang="fr-FR" sz="1600" dirty="0">
                <a:solidFill>
                  <a:schemeClr val="accent6">
                    <a:lumMod val="75000"/>
                  </a:schemeClr>
                </a:solidFill>
              </a:rPr>
              <a:t>. </a:t>
            </a:r>
            <a:endParaRPr lang="en-US" sz="1600" b="1" dirty="0">
              <a:solidFill>
                <a:schemeClr val="accent6">
                  <a:lumMod val="75000"/>
                </a:schemeClr>
              </a:solidFill>
              <a:cs typeface="Segoe UI Semibold" panose="020B07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5A373-EBE7-71B0-BE10-7EB2BB47E138}"/>
              </a:ext>
            </a:extLst>
          </p:cNvPr>
          <p:cNvSpPr txBox="1"/>
          <p:nvPr/>
        </p:nvSpPr>
        <p:spPr>
          <a:xfrm>
            <a:off x="225469" y="4848905"/>
            <a:ext cx="589975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04. Hands-on Lab 1: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 Coding Challenges &amp; Troubleshooting. </a:t>
            </a:r>
            <a:endParaRPr lang="en-US" sz="1600" b="1" dirty="0">
              <a:solidFill>
                <a:schemeClr val="accent6">
                  <a:lumMod val="75000"/>
                </a:schemeClr>
              </a:solidFill>
              <a:cs typeface="Segoe UI Semibold" panose="020B07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DFCA91-4A36-AACB-04EE-91A1F6AA4555}"/>
              </a:ext>
            </a:extLst>
          </p:cNvPr>
          <p:cNvSpPr txBox="1"/>
          <p:nvPr/>
        </p:nvSpPr>
        <p:spPr>
          <a:xfrm>
            <a:off x="225468" y="5677777"/>
            <a:ext cx="607512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05. Wrap-up: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 Summary, Q&amp;A &amp; Next Steps.</a:t>
            </a:r>
            <a:endParaRPr lang="en-US" sz="1600" b="1" dirty="0">
              <a:solidFill>
                <a:schemeClr val="accent6">
                  <a:lumMod val="75000"/>
                </a:schemeClr>
              </a:solidFill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055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02E416-D2F6-5691-B5D3-0F318A918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Programming?</a:t>
            </a:r>
            <a:endParaRPr lang="en-EG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778136-80FD-6B50-54D6-A3954F50D64C}"/>
              </a:ext>
            </a:extLst>
          </p:cNvPr>
          <p:cNvSpPr txBox="1"/>
          <p:nvPr/>
        </p:nvSpPr>
        <p:spPr>
          <a:xfrm>
            <a:off x="325677" y="2774756"/>
            <a:ext cx="10842487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 smtClean="0"/>
              <a:t> 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Programming is the medium used to communicate with a computer, providing specific instructions to solve problems. Since computers do not understand human language, we use languages like Python as an intermediary.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415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78634-F6B2-B5A9-441F-37C6B8A6B0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2276" y="1529676"/>
            <a:ext cx="4074856" cy="480131"/>
          </a:xfrm>
        </p:spPr>
        <p:txBody>
          <a:bodyPr/>
          <a:lstStyle/>
          <a:p>
            <a:r>
              <a:rPr lang="en-US" sz="2800" b="1" dirty="0"/>
              <a:t>Why Python?</a:t>
            </a:r>
            <a:endParaRPr lang="en-EG" sz="2800" b="1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B868D7-DD20-6B80-29D2-AD9AAE9BAECF}"/>
              </a:ext>
            </a:extLst>
          </p:cNvPr>
          <p:cNvSpPr txBox="1"/>
          <p:nvPr/>
        </p:nvSpPr>
        <p:spPr>
          <a:xfrm>
            <a:off x="726687" y="2545640"/>
            <a:ext cx="80791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800" b="1" dirty="0" smtClean="0"/>
              <a:t>1.Simple </a:t>
            </a:r>
            <a:r>
              <a:rPr lang="en-US" sz="1800" b="1" dirty="0"/>
              <a:t>&amp; Readable:</a:t>
            </a:r>
            <a:r>
              <a:rPr lang="en-US" sz="1800" dirty="0"/>
              <a:t> Syntax designed to be intuitive and close to English</a:t>
            </a:r>
            <a:r>
              <a:rPr lang="en-US" sz="1800" dirty="0" smtClean="0"/>
              <a:t>.</a:t>
            </a:r>
          </a:p>
          <a:p>
            <a:pPr>
              <a:lnSpc>
                <a:spcPct val="100000"/>
              </a:lnSpc>
            </a:pPr>
            <a:endParaRPr lang="en-US" sz="1800" b="1" dirty="0">
              <a:solidFill>
                <a:srgbClr val="0D76BD"/>
              </a:solidFill>
              <a:latin typeface="+mn-lt"/>
              <a:cs typeface="Segoe UI Semibold" panose="020B0702040204020203" pitchFamily="34" charset="0"/>
            </a:endParaRPr>
          </a:p>
          <a:p>
            <a:pPr>
              <a:lnSpc>
                <a:spcPct val="100000"/>
              </a:lnSpc>
            </a:pPr>
            <a:endParaRPr lang="en-US" sz="1800" b="1" dirty="0">
              <a:solidFill>
                <a:srgbClr val="0D76BD"/>
              </a:solidFill>
              <a:latin typeface="+mn-lt"/>
              <a:cs typeface="Segoe UI Semibold" panose="020B07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6105B5-C0E3-4290-D9C8-D15B0C979A23}"/>
              </a:ext>
            </a:extLst>
          </p:cNvPr>
          <p:cNvSpPr txBox="1"/>
          <p:nvPr/>
        </p:nvSpPr>
        <p:spPr>
          <a:xfrm>
            <a:off x="726686" y="2884194"/>
            <a:ext cx="7878695" cy="457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r>
              <a:rPr lang="en-US" sz="1800" b="1" dirty="0" smtClean="0"/>
              <a:t>2.Versatile</a:t>
            </a:r>
            <a:r>
              <a:rPr lang="en-US" sz="1800" b="1" dirty="0"/>
              <a:t>:</a:t>
            </a:r>
            <a:r>
              <a:rPr lang="en-US" sz="1800" dirty="0"/>
              <a:t> Suitable for both small scripts and large-scale applications.</a:t>
            </a:r>
            <a:endParaRPr lang="en-US" sz="1800" b="1" dirty="0" smtClean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44AD78-6F93-C0EA-5222-99F1AE1282F6}"/>
              </a:ext>
            </a:extLst>
          </p:cNvPr>
          <p:cNvSpPr txBox="1"/>
          <p:nvPr/>
        </p:nvSpPr>
        <p:spPr>
          <a:xfrm>
            <a:off x="726685" y="4561897"/>
            <a:ext cx="8943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800" b="1" dirty="0" smtClean="0"/>
              <a:t>4.Huge </a:t>
            </a:r>
            <a:r>
              <a:rPr lang="en-US" sz="1800" b="1" dirty="0"/>
              <a:t>Community:</a:t>
            </a:r>
            <a:r>
              <a:rPr lang="en-US" sz="1800" dirty="0"/>
              <a:t> Millions of developers contributing to libraries and documentation.</a:t>
            </a:r>
            <a:endParaRPr lang="en-US" sz="1800" b="1" dirty="0">
              <a:solidFill>
                <a:srgbClr val="0D76BD"/>
              </a:solidFill>
              <a:latin typeface="+mn-lt"/>
              <a:cs typeface="Segoe UI Semibold" panose="020B0702040204020203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6686" y="3571925"/>
            <a:ext cx="88056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3.Interpretation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: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An interpreted language, making it excellent for rapid testing and debugging.</a:t>
            </a:r>
            <a:endParaRPr lang="ar-EG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279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810800-D88D-544B-9928-C765DD7B8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824" y="1674795"/>
            <a:ext cx="10515600" cy="535531"/>
          </a:xfrm>
        </p:spPr>
        <p:txBody>
          <a:bodyPr/>
          <a:lstStyle/>
          <a:p>
            <a:r>
              <a:rPr lang="en-US" dirty="0"/>
              <a:t>Python Use Cases</a:t>
            </a:r>
            <a:endParaRPr lang="en-EG" dirty="0"/>
          </a:p>
        </p:txBody>
      </p:sp>
      <p:sp>
        <p:nvSpPr>
          <p:cNvPr id="6" name="Rectangle 5"/>
          <p:cNvSpPr/>
          <p:nvPr/>
        </p:nvSpPr>
        <p:spPr>
          <a:xfrm>
            <a:off x="1231725" y="2978518"/>
            <a:ext cx="929013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Data Science: Analyzing complex datasets and </a:t>
            </a:r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</a:rPr>
              <a:t>visualization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Artificial Intelligence: Machine Learning, Deep Learning, and NLP</a:t>
            </a:r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</a:rPr>
              <a:t>Web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Development: Building secure and scalable back-end systems</a:t>
            </a:r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</a:rPr>
              <a:t>Automation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: Scripting repetitive tasks to save time.</a:t>
            </a:r>
            <a:endParaRPr lang="ar-EG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9683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CD770F-3897-47FC-371D-7EC698F2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Environments</a:t>
            </a:r>
            <a:endParaRPr lang="en-E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CF3ACB-2003-6900-BA70-FD3F5558C214}"/>
              </a:ext>
            </a:extLst>
          </p:cNvPr>
          <p:cNvSpPr txBox="1"/>
          <p:nvPr/>
        </p:nvSpPr>
        <p:spPr>
          <a:xfrm>
            <a:off x="1688672" y="2301908"/>
            <a:ext cx="372257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Local Development</a:t>
            </a:r>
            <a:r>
              <a:rPr lang="en-US" sz="2000" dirty="0"/>
              <a:t>: VS Code + Python (Best for deep learning, local file management, and full project control). </a:t>
            </a:r>
            <a:endParaRPr lang="en-US" sz="2000" dirty="0">
              <a:solidFill>
                <a:srgbClr val="065B94"/>
              </a:solidFill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6929BD-239D-CA5C-A481-0DA779349AEC}"/>
              </a:ext>
            </a:extLst>
          </p:cNvPr>
          <p:cNvSpPr txBox="1"/>
          <p:nvPr/>
        </p:nvSpPr>
        <p:spPr>
          <a:xfrm>
            <a:off x="6549857" y="2301908"/>
            <a:ext cx="40847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Cloud Development:</a:t>
            </a:r>
            <a:r>
              <a:rPr lang="en-US" sz="2000" dirty="0"/>
              <a:t> Google </a:t>
            </a:r>
            <a:r>
              <a:rPr lang="en-US" sz="2000" dirty="0" err="1"/>
              <a:t>Colab</a:t>
            </a:r>
            <a:r>
              <a:rPr lang="en-US" sz="2000" dirty="0"/>
              <a:t> (Best for data science, quick prototyping, and zero-setup configuration). </a:t>
            </a:r>
            <a:endParaRPr lang="en-US" sz="2000" dirty="0">
              <a:solidFill>
                <a:srgbClr val="065B94"/>
              </a:solidFill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88672" y="5310416"/>
            <a:ext cx="102862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Choose the path that matches your current setup and project needs. </a:t>
            </a:r>
            <a:endParaRPr lang="ar-EG" sz="2400" b="1" dirty="0"/>
          </a:p>
        </p:txBody>
      </p:sp>
    </p:spTree>
    <p:extLst>
      <p:ext uri="{BB962C8B-B14F-4D97-AF65-F5344CB8AC3E}">
        <p14:creationId xmlns:p14="http://schemas.microsoft.com/office/powerpoint/2010/main" val="889344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4FB870-6B5F-BCFC-FE68-5F08948EE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Setup (VS Code + Python)</a:t>
            </a:r>
            <a:endParaRPr lang="en-EG" dirty="0"/>
          </a:p>
        </p:txBody>
      </p:sp>
      <p:sp>
        <p:nvSpPr>
          <p:cNvPr id="15" name="Rectangle 14"/>
          <p:cNvSpPr/>
          <p:nvPr/>
        </p:nvSpPr>
        <p:spPr>
          <a:xfrm>
            <a:off x="939453" y="2828836"/>
            <a:ext cx="1057196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sz="2000" b="1">
                <a:solidFill>
                  <a:schemeClr val="accent6">
                    <a:lumMod val="75000"/>
                  </a:schemeClr>
                </a:solidFill>
              </a:rPr>
              <a:t>Installation</a:t>
            </a:r>
            <a:r>
              <a:rPr lang="en-US" sz="2000">
                <a:solidFill>
                  <a:schemeClr val="accent6">
                    <a:lumMod val="75000"/>
                  </a:schemeClr>
                </a:solidFill>
              </a:rPr>
              <a:t>: Download Python from python.org and install VS Code</a:t>
            </a:r>
            <a:r>
              <a:rPr lang="en-US" sz="2000">
                <a:solidFill>
                  <a:schemeClr val="accent6">
                    <a:lumMod val="75000"/>
                  </a:schemeClr>
                </a:solidFill>
              </a:rPr>
              <a:t>. </a:t>
            </a:r>
            <a:endParaRPr lang="en-US" sz="2000" smtClean="0">
              <a:solidFill>
                <a:schemeClr val="accent6">
                  <a:lumMod val="75000"/>
                </a:schemeClr>
              </a:solidFill>
            </a:endParaRPr>
          </a:p>
          <a:p>
            <a:pPr marL="457200" indent="-457200">
              <a:buFont typeface="+mj-lt"/>
              <a:buAutoNum type="arabicParenR"/>
            </a:pP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Configuration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: Remember to "Add Python to PATH" during installation. </a:t>
            </a:r>
            <a:endParaRPr lang="en-US" sz="2000" dirty="0" smtClean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sz="2000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</a:rPr>
              <a:t>3)   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Validation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: Use python --version in your terminal to verify.</a:t>
            </a:r>
            <a:endParaRPr lang="ar-EG" sz="200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202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7AD466-D315-1A54-59BE-E0E6B059E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1" y="1600282"/>
            <a:ext cx="7116052" cy="978729"/>
          </a:xfrm>
        </p:spPr>
        <p:txBody>
          <a:bodyPr/>
          <a:lstStyle/>
          <a:p>
            <a:r>
              <a:rPr lang="en-US" dirty="0"/>
              <a:t>Cloud Setup (Google </a:t>
            </a:r>
            <a:r>
              <a:rPr lang="en-US" dirty="0" err="1"/>
              <a:t>Colab</a:t>
            </a:r>
            <a:r>
              <a:rPr lang="en-US" dirty="0"/>
              <a:t>)</a:t>
            </a:r>
            <a:endParaRPr lang="en-EG" dirty="0"/>
          </a:p>
        </p:txBody>
      </p:sp>
      <p:sp>
        <p:nvSpPr>
          <p:cNvPr id="5" name="Rectangle 4"/>
          <p:cNvSpPr/>
          <p:nvPr/>
        </p:nvSpPr>
        <p:spPr>
          <a:xfrm>
            <a:off x="814192" y="2690336"/>
            <a:ext cx="918157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>
                <a:solidFill>
                  <a:schemeClr val="accent6">
                    <a:lumMod val="75000"/>
                  </a:schemeClr>
                </a:solidFill>
              </a:rPr>
              <a:t>Accessibility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: Accessible via any web browser with a Google account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. </a:t>
            </a:r>
            <a:endParaRPr lang="en-US" smtClean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Zero Installation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: No local configuration or system-level troubleshooting required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Data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Science Ready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: Pre-installed with popular libraries for data analysis and AI. </a:t>
            </a:r>
            <a:endParaRPr lang="ar-EG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386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28D2C7-CEEA-6779-FA0E-43D3652E7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589524"/>
            <a:ext cx="5813344" cy="978729"/>
          </a:xfrm>
        </p:spPr>
        <p:txBody>
          <a:bodyPr/>
          <a:lstStyle/>
          <a:p>
            <a:r>
              <a:rPr lang="en-US" dirty="0"/>
              <a:t>The Logic of Code Execution</a:t>
            </a:r>
            <a:endParaRPr lang="en-E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BF2F5-4DC0-8A5B-43BE-726DD2C3AF2C}"/>
              </a:ext>
            </a:extLst>
          </p:cNvPr>
          <p:cNvSpPr txBox="1"/>
          <p:nvPr/>
        </p:nvSpPr>
        <p:spPr>
          <a:xfrm>
            <a:off x="662612" y="2981611"/>
            <a:ext cx="975904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065B94"/>
                </a:solidFill>
                <a:latin typeface="+mn-lt"/>
                <a:cs typeface="Segoe UI" panose="020B0502040204020203" pitchFamily="34" charset="0"/>
              </a:rPr>
              <a:t>Sequential Processing</a:t>
            </a:r>
            <a:r>
              <a:rPr lang="en-US" sz="1600" dirty="0">
                <a:solidFill>
                  <a:srgbClr val="065B94"/>
                </a:solidFill>
                <a:latin typeface="+mn-lt"/>
                <a:cs typeface="Segoe UI" panose="020B0502040204020203" pitchFamily="34" charset="0"/>
              </a:rPr>
              <a:t>: Computers read code line-by-line, from top to bottom</a:t>
            </a:r>
            <a:r>
              <a:rPr lang="en-US" sz="1600" dirty="0" smtClean="0">
                <a:solidFill>
                  <a:srgbClr val="065B94"/>
                </a:solidFill>
                <a:latin typeface="+mn-lt"/>
                <a:cs typeface="Segoe UI" panose="020B0502040204020203" pitchFamily="34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 smtClean="0">
              <a:solidFill>
                <a:srgbClr val="065B94"/>
              </a:solidFill>
              <a:latin typeface="+mn-lt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 smtClean="0">
                <a:solidFill>
                  <a:srgbClr val="065B94"/>
                </a:solidFill>
                <a:latin typeface="+mn-lt"/>
                <a:cs typeface="Segoe UI" panose="020B0502040204020203" pitchFamily="34" charset="0"/>
              </a:rPr>
              <a:t>The </a:t>
            </a:r>
            <a:r>
              <a:rPr lang="en-US" sz="1800" b="1" dirty="0">
                <a:solidFill>
                  <a:srgbClr val="065B94"/>
                </a:solidFill>
                <a:latin typeface="+mn-lt"/>
                <a:cs typeface="Segoe UI" panose="020B0502040204020203" pitchFamily="34" charset="0"/>
              </a:rPr>
              <a:t>Interpreter</a:t>
            </a:r>
            <a:r>
              <a:rPr lang="en-US" sz="1600" dirty="0">
                <a:solidFill>
                  <a:srgbClr val="065B94"/>
                </a:solidFill>
                <a:latin typeface="+mn-lt"/>
                <a:cs typeface="Segoe UI" panose="020B0502040204020203" pitchFamily="34" charset="0"/>
              </a:rPr>
              <a:t>: Python converts your code into instructions the machine understands</a:t>
            </a:r>
            <a:r>
              <a:rPr lang="en-US" sz="1600" dirty="0" smtClean="0">
                <a:solidFill>
                  <a:srgbClr val="065B94"/>
                </a:solidFill>
                <a:latin typeface="+mn-lt"/>
                <a:cs typeface="Segoe UI" panose="020B0502040204020203" pitchFamily="34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 smtClean="0">
              <a:solidFill>
                <a:srgbClr val="065B94"/>
              </a:solidFill>
              <a:latin typeface="+mn-lt"/>
              <a:cs typeface="Segoe UI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 smtClean="0">
                <a:solidFill>
                  <a:srgbClr val="065B94"/>
                </a:solidFill>
                <a:latin typeface="+mn-lt"/>
                <a:cs typeface="Segoe UI" panose="020B0502040204020203" pitchFamily="34" charset="0"/>
              </a:rPr>
              <a:t>Precision</a:t>
            </a:r>
            <a:r>
              <a:rPr lang="en-US" sz="1600" dirty="0">
                <a:solidFill>
                  <a:srgbClr val="065B94"/>
                </a:solidFill>
                <a:latin typeface="+mn-lt"/>
                <a:cs typeface="Segoe UI" panose="020B0502040204020203" pitchFamily="34" charset="0"/>
              </a:rPr>
              <a:t>: Computers are literal; a single typo will cause a </a:t>
            </a:r>
            <a:r>
              <a:rPr lang="en-US" sz="1600" dirty="0" err="1">
                <a:solidFill>
                  <a:srgbClr val="065B94"/>
                </a:solidFill>
                <a:latin typeface="+mn-lt"/>
                <a:cs typeface="Segoe UI" panose="020B0502040204020203" pitchFamily="34" charset="0"/>
              </a:rPr>
              <a:t>SyntaxError</a:t>
            </a:r>
            <a:r>
              <a:rPr lang="en-US" sz="1600" dirty="0">
                <a:solidFill>
                  <a:srgbClr val="065B94"/>
                </a:solidFill>
                <a:latin typeface="+mn-lt"/>
                <a:cs typeface="Segoe UI" panose="020B0502040204020203" pitchFamily="34" charset="0"/>
              </a:rPr>
              <a:t>. Code must be exact!</a:t>
            </a:r>
            <a:endParaRPr lang="en-US" sz="1600" dirty="0">
              <a:solidFill>
                <a:srgbClr val="065B94"/>
              </a:solidFill>
              <a:latin typeface="+mn-lt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92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9BE851-8669-DFBC-3FF1-F20DA06FF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359" y="1320323"/>
            <a:ext cx="9436091" cy="978729"/>
          </a:xfrm>
        </p:spPr>
        <p:txBody>
          <a:bodyPr/>
          <a:lstStyle/>
          <a:p>
            <a:r>
              <a:rPr lang="en-US" dirty="0"/>
              <a:t>The Anatomy of a Command</a:t>
            </a:r>
            <a:endParaRPr lang="en-EG" dirty="0"/>
          </a:p>
        </p:txBody>
      </p:sp>
      <p:sp>
        <p:nvSpPr>
          <p:cNvPr id="6" name="Rectangle 5"/>
          <p:cNvSpPr/>
          <p:nvPr/>
        </p:nvSpPr>
        <p:spPr>
          <a:xfrm>
            <a:off x="1502415" y="2656655"/>
            <a:ext cx="7027809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The Function</a:t>
            </a:r>
            <a:r>
              <a:rPr lang="en-US" dirty="0"/>
              <a:t>: print() is the action (like a </a:t>
            </a:r>
            <a:r>
              <a:rPr lang="en-US"/>
              <a:t>verb</a:t>
            </a:r>
            <a:r>
              <a:rPr lang="en-US" smtClean="0"/>
              <a:t>).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The</a:t>
            </a:r>
            <a:r>
              <a:rPr lang="en-US" dirty="0" smtClean="0"/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Argument</a:t>
            </a:r>
            <a:r>
              <a:rPr lang="en-US" dirty="0"/>
              <a:t>: The text inside ("...") is the data </a:t>
            </a:r>
            <a:r>
              <a:rPr lang="en-US" dirty="0" smtClean="0"/>
              <a:t>being processed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endParaRPr lang="en-US" dirty="0" smtClean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The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Rule</a:t>
            </a:r>
            <a:r>
              <a:rPr lang="en-US" dirty="0"/>
              <a:t>: Always use opening ( and closing ) brackets.</a:t>
            </a:r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172006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A3D099-E932-301A-BF46-FD04B70C5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3" y="1039124"/>
            <a:ext cx="6387063" cy="978729"/>
          </a:xfrm>
        </p:spPr>
        <p:txBody>
          <a:bodyPr/>
          <a:lstStyle/>
          <a:p>
            <a:r>
              <a:rPr lang="en-US" dirty="0"/>
              <a:t>Your First Script: "Hello World"</a:t>
            </a:r>
            <a:endParaRPr lang="en-EG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616" y="2634017"/>
            <a:ext cx="7357618" cy="130555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2563" y="4380931"/>
            <a:ext cx="8245777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/>
              <a:t>Explanation</a:t>
            </a:r>
            <a:r>
              <a:rPr lang="en-US"/>
              <a:t>: </a:t>
            </a:r>
            <a:r>
              <a:rPr lang="en-US">
                <a:solidFill>
                  <a:srgbClr val="065B94"/>
                </a:solidFill>
              </a:rPr>
              <a:t>This sends a text message to the </a:t>
            </a:r>
            <a:r>
              <a:rPr lang="en-US">
                <a:solidFill>
                  <a:srgbClr val="065B94"/>
                </a:solidFill>
              </a:rPr>
              <a:t>console</a:t>
            </a:r>
            <a:r>
              <a:rPr lang="en-US" smtClean="0">
                <a:solidFill>
                  <a:srgbClr val="065B94"/>
                </a:solidFill>
              </a:rPr>
              <a:t>.</a:t>
            </a:r>
          </a:p>
          <a:p>
            <a:endParaRPr lang="en-US" dirty="0" smtClean="0">
              <a:solidFill>
                <a:srgbClr val="065B94"/>
              </a:solidFill>
            </a:endParaRPr>
          </a:p>
          <a:p>
            <a:r>
              <a:rPr lang="en-US" sz="2000" b="1" dirty="0" smtClean="0"/>
              <a:t>Best </a:t>
            </a:r>
            <a:r>
              <a:rPr lang="en-US" sz="2000" b="1" dirty="0"/>
              <a:t>Practice</a:t>
            </a:r>
            <a:r>
              <a:rPr lang="en-US" dirty="0"/>
              <a:t>:</a:t>
            </a:r>
            <a:r>
              <a:rPr lang="en-US" dirty="0">
                <a:solidFill>
                  <a:srgbClr val="065B94"/>
                </a:solidFill>
              </a:rPr>
              <a:t> Use double quotes " or single quotes ' (keep it consistent!).</a:t>
            </a:r>
            <a:endParaRPr lang="ar-EG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023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3307BB-0D80-ECE3-B4AA-C80615F23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Syntax Rules</a:t>
            </a:r>
            <a:endParaRPr lang="en-EG" dirty="0"/>
          </a:p>
        </p:txBody>
      </p:sp>
      <p:sp>
        <p:nvSpPr>
          <p:cNvPr id="4" name="Rectangle 3"/>
          <p:cNvSpPr/>
          <p:nvPr/>
        </p:nvSpPr>
        <p:spPr>
          <a:xfrm>
            <a:off x="652564" y="2828836"/>
            <a:ext cx="951501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065B94"/>
                </a:solidFill>
              </a:rPr>
              <a:t>Case Sensitivity</a:t>
            </a:r>
            <a:r>
              <a:rPr lang="en-US"/>
              <a:t>: Python is case-sensitive; Print is not the same </a:t>
            </a:r>
            <a:r>
              <a:rPr lang="en-US"/>
              <a:t>as </a:t>
            </a:r>
            <a:r>
              <a:rPr lang="en-US" smtClean="0"/>
              <a:t>print.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sz="2000" b="1" dirty="0" smtClean="0">
                <a:solidFill>
                  <a:srgbClr val="065B94"/>
                </a:solidFill>
              </a:rPr>
              <a:t>One </a:t>
            </a:r>
            <a:r>
              <a:rPr lang="en-US" sz="2000" b="1" dirty="0">
                <a:solidFill>
                  <a:srgbClr val="065B94"/>
                </a:solidFill>
              </a:rPr>
              <a:t>Statement Per Line</a:t>
            </a:r>
            <a:r>
              <a:rPr lang="en-US" dirty="0"/>
              <a:t>: Keep your code clean for better readability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sz="2000" b="1" dirty="0" smtClean="0">
                <a:solidFill>
                  <a:srgbClr val="065B94"/>
                </a:solidFill>
              </a:rPr>
              <a:t>Whitespace</a:t>
            </a:r>
            <a:r>
              <a:rPr lang="en-US" dirty="0"/>
              <a:t>: Extra spaces at the end of lines are ignored, but indentation is critical!</a:t>
            </a:r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127841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06BFE8-E69C-20E6-2B41-DB0B2F9F114E}"/>
              </a:ext>
            </a:extLst>
          </p:cNvPr>
          <p:cNvSpPr/>
          <p:nvPr/>
        </p:nvSpPr>
        <p:spPr>
          <a:xfrm>
            <a:off x="9104081" y="1072599"/>
            <a:ext cx="2121131" cy="42473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184AAA-ECF6-DA6C-15A8-8B4D6A873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70" y="1443379"/>
            <a:ext cx="6689181" cy="978729"/>
          </a:xfrm>
        </p:spPr>
        <p:txBody>
          <a:bodyPr/>
          <a:lstStyle/>
          <a:p>
            <a:r>
              <a:rPr lang="en-US" dirty="0"/>
              <a:t>The Golden Rule: Indentation</a:t>
            </a:r>
            <a:endParaRPr lang="en-E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81C73B-330E-9B82-F69D-0BD791B89C37}"/>
              </a:ext>
            </a:extLst>
          </p:cNvPr>
          <p:cNvSpPr txBox="1"/>
          <p:nvPr/>
        </p:nvSpPr>
        <p:spPr>
          <a:xfrm>
            <a:off x="612370" y="4622212"/>
            <a:ext cx="4673307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r>
              <a:rPr lang="en-US" sz="1600" dirty="0" smtClean="0">
                <a:solidFill>
                  <a:srgbClr val="065B94"/>
                </a:solidFill>
                <a:latin typeface="+mn-lt"/>
                <a:cs typeface="Segoe UI" panose="020B0502040204020203" pitchFamily="34" charset="0"/>
              </a:rPr>
              <a:t> </a:t>
            </a:r>
            <a:endParaRPr lang="en-US" sz="1600" dirty="0">
              <a:solidFill>
                <a:srgbClr val="065B94"/>
              </a:solidFill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87104" y="2828836"/>
            <a:ext cx="825689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/>
              <a:t>Purpose</a:t>
            </a:r>
            <a:r>
              <a:rPr lang="en-US" sz="2000"/>
              <a:t>: Defines blocks of code (like loops or </a:t>
            </a:r>
            <a:r>
              <a:rPr lang="en-US" sz="2000"/>
              <a:t>functions</a:t>
            </a:r>
            <a:r>
              <a:rPr lang="en-US" sz="2000" smtClean="0"/>
              <a:t>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 smtClean="0"/>
              <a:t>The </a:t>
            </a:r>
            <a:r>
              <a:rPr lang="en-US" sz="2000" b="1" dirty="0"/>
              <a:t>Standard</a:t>
            </a:r>
            <a:r>
              <a:rPr lang="en-US" sz="2000" dirty="0"/>
              <a:t>: Use 4 spaces per level</a:t>
            </a:r>
            <a:r>
              <a:rPr lang="en-US" sz="2000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 smtClean="0"/>
              <a:t>Result</a:t>
            </a:r>
            <a:r>
              <a:rPr lang="en-US" sz="2000" dirty="0"/>
              <a:t>: Incorrect indentation = </a:t>
            </a:r>
            <a:r>
              <a:rPr lang="en-US" sz="2000" dirty="0" err="1"/>
              <a:t>IndentationError</a:t>
            </a:r>
            <a:r>
              <a:rPr lang="en-US" sz="2000" dirty="0"/>
              <a:t>. Consistency is key.</a:t>
            </a:r>
            <a:endParaRPr lang="ar-EG" sz="2000"/>
          </a:p>
        </p:txBody>
      </p:sp>
    </p:spTree>
    <p:extLst>
      <p:ext uri="{BB962C8B-B14F-4D97-AF65-F5344CB8AC3E}">
        <p14:creationId xmlns:p14="http://schemas.microsoft.com/office/powerpoint/2010/main" val="2041797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8016C7-CF03-F004-6EEF-46CD4567C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/>
          <a:p>
            <a:r>
              <a:rPr lang="en-US" dirty="0"/>
              <a:t>Coding Best Practices: Comments</a:t>
            </a:r>
            <a:endParaRPr lang="en-EG" dirty="0"/>
          </a:p>
        </p:txBody>
      </p:sp>
      <p:sp>
        <p:nvSpPr>
          <p:cNvPr id="4" name="Rectangle 3"/>
          <p:cNvSpPr/>
          <p:nvPr/>
        </p:nvSpPr>
        <p:spPr>
          <a:xfrm>
            <a:off x="968991" y="2828836"/>
            <a:ext cx="934871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>
                <a:solidFill>
                  <a:srgbClr val="065B94"/>
                </a:solidFill>
              </a:rPr>
              <a:t>Purpose</a:t>
            </a:r>
            <a:r>
              <a:rPr lang="en-US" sz="2000">
                <a:solidFill>
                  <a:srgbClr val="065B94"/>
                </a:solidFill>
              </a:rPr>
              <a:t>: Explain the "why" behind your code, not just the </a:t>
            </a:r>
            <a:r>
              <a:rPr lang="en-US" sz="2000">
                <a:solidFill>
                  <a:srgbClr val="065B94"/>
                </a:solidFill>
              </a:rPr>
              <a:t>"</a:t>
            </a:r>
            <a:r>
              <a:rPr lang="en-US" sz="2000" smtClean="0">
                <a:solidFill>
                  <a:srgbClr val="065B94"/>
                </a:solidFill>
              </a:rPr>
              <a:t>how’’.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 smtClean="0">
              <a:solidFill>
                <a:srgbClr val="065B94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 smtClean="0">
                <a:solidFill>
                  <a:srgbClr val="065B94"/>
                </a:solidFill>
              </a:rPr>
              <a:t>Syntax</a:t>
            </a:r>
            <a:r>
              <a:rPr lang="en-US" sz="2000" dirty="0">
                <a:solidFill>
                  <a:srgbClr val="065B94"/>
                </a:solidFill>
              </a:rPr>
              <a:t>: Use # for single-line comments</a:t>
            </a:r>
            <a:r>
              <a:rPr lang="en-US" sz="2000" dirty="0" smtClean="0">
                <a:solidFill>
                  <a:srgbClr val="065B94"/>
                </a:solidFill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 smtClean="0">
              <a:solidFill>
                <a:srgbClr val="065B94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 smtClean="0">
                <a:solidFill>
                  <a:srgbClr val="065B94"/>
                </a:solidFill>
              </a:rPr>
              <a:t>Impact</a:t>
            </a:r>
            <a:r>
              <a:rPr lang="en-US" sz="2000" dirty="0">
                <a:solidFill>
                  <a:srgbClr val="065B94"/>
                </a:solidFill>
              </a:rPr>
              <a:t>: Well-commented code is easier to maintain and debug, which is a key skill for professional developers</a:t>
            </a:r>
            <a:r>
              <a:rPr lang="en-US" dirty="0"/>
              <a:t>.</a:t>
            </a:r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69903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20E2A9-8CCD-DC8A-4B92-5AC934FE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624" y="1496207"/>
            <a:ext cx="6215860" cy="535531"/>
          </a:xfrm>
        </p:spPr>
        <p:txBody>
          <a:bodyPr wrap="square">
            <a:spAutoFit/>
          </a:bodyPr>
          <a:lstStyle/>
          <a:p>
            <a:r>
              <a:rPr lang="en-US" dirty="0"/>
              <a:t>Mini-Quiz: Spot the Error!</a:t>
            </a:r>
            <a:endParaRPr lang="en-EG" dirty="0"/>
          </a:p>
        </p:txBody>
      </p:sp>
      <p:sp>
        <p:nvSpPr>
          <p:cNvPr id="6" name="Rectangle 5"/>
          <p:cNvSpPr/>
          <p:nvPr/>
        </p:nvSpPr>
        <p:spPr>
          <a:xfrm>
            <a:off x="1583140" y="2690336"/>
            <a:ext cx="9676262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smtClean="0">
                <a:solidFill>
                  <a:srgbClr val="065B94"/>
                </a:solidFill>
              </a:rPr>
              <a:t>Display </a:t>
            </a:r>
            <a:r>
              <a:rPr lang="en-US" sz="2000" b="1">
                <a:solidFill>
                  <a:srgbClr val="065B94"/>
                </a:solidFill>
              </a:rPr>
              <a:t>these three </a:t>
            </a:r>
            <a:r>
              <a:rPr lang="en-US" sz="2000" b="1">
                <a:solidFill>
                  <a:srgbClr val="065B94"/>
                </a:solidFill>
              </a:rPr>
              <a:t>snippets</a:t>
            </a:r>
            <a:r>
              <a:rPr lang="en-US" sz="2000" b="1" smtClean="0">
                <a:solidFill>
                  <a:srgbClr val="065B94"/>
                </a:solidFill>
              </a:rPr>
              <a:t>:</a:t>
            </a:r>
          </a:p>
          <a:p>
            <a:endParaRPr lang="en-US" sz="2000" b="1" dirty="0" smtClean="0">
              <a:solidFill>
                <a:srgbClr val="065B94"/>
              </a:solidFill>
            </a:endParaRPr>
          </a:p>
          <a:p>
            <a:endParaRPr lang="en-US" dirty="0"/>
          </a:p>
          <a:p>
            <a:r>
              <a:rPr lang="en-US" dirty="0" smtClean="0"/>
              <a:t>Print</a:t>
            </a:r>
            <a:r>
              <a:rPr lang="en-US" dirty="0"/>
              <a:t>("Hello") (Case sensitivity issue</a:t>
            </a:r>
            <a:r>
              <a:rPr lang="en-US" dirty="0" smtClean="0"/>
              <a:t>).</a:t>
            </a:r>
          </a:p>
          <a:p>
            <a:endParaRPr lang="en-US" dirty="0" smtClean="0"/>
          </a:p>
          <a:p>
            <a:r>
              <a:rPr lang="en-US" dirty="0" smtClean="0"/>
              <a:t>print</a:t>
            </a:r>
            <a:r>
              <a:rPr lang="en-US" dirty="0"/>
              <a:t>("Hello) (Missing closing quote).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print</a:t>
            </a:r>
            <a:r>
              <a:rPr lang="en-US" dirty="0"/>
              <a:t>("Hello") (Unnecessary indentation</a:t>
            </a:r>
            <a:r>
              <a:rPr lang="en-US" dirty="0" smtClean="0"/>
              <a:t>).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.</a:t>
            </a:r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12540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0553F9-89F1-3AD4-F39F-53C710BCE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Lab 1: Execution</a:t>
            </a:r>
            <a:endParaRPr lang="en-EG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652564" y="3142546"/>
            <a:ext cx="6862969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ar-EG" altLang="ar-EG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</a:t>
            </a:r>
            <a:r>
              <a:rPr kumimoji="0" lang="ar-EG" altLang="ar-EG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ar-EG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1:</a:t>
            </a:r>
            <a:r>
              <a:rPr kumimoji="0" lang="en-US" altLang="ar-EG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Print</a:t>
            </a: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</a:t>
            </a: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</a:t>
            </a: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</a:t>
            </a: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dream</a:t>
            </a: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career</a:t>
            </a: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ar-EG" altLang="ar-EG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ar-EG" altLang="ar-EG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</a:t>
            </a:r>
            <a:r>
              <a:rPr lang="ar-EG" altLang="ar-EG" sz="2000" b="1" dirty="0">
                <a:latin typeface="Arial" panose="020B0604020202020204" pitchFamily="34" charset="0"/>
              </a:rPr>
              <a:t> </a:t>
            </a:r>
            <a:r>
              <a:rPr lang="en-US" altLang="ar-EG" sz="2000" b="1" dirty="0" smtClean="0">
                <a:latin typeface="Arial" panose="020B0604020202020204" pitchFamily="34" charset="0"/>
              </a:rPr>
              <a:t>2</a:t>
            </a:r>
            <a:r>
              <a:rPr lang="en-US" altLang="ar-EG" sz="2000" b="1" dirty="0">
                <a:latin typeface="Arial" panose="020B0604020202020204" pitchFamily="34" charset="0"/>
              </a:rPr>
              <a:t>:</a:t>
            </a: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</a:t>
            </a: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ar-EG" altLang="ar-EG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comment</a:t>
            </a: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explaining</a:t>
            </a: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</a:t>
            </a: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</a:t>
            </a: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</a:t>
            </a: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does</a:t>
            </a: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ar-EG" altLang="ar-EG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ar-EG" altLang="ar-EG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</a:t>
            </a:r>
            <a:r>
              <a:rPr lang="ar-EG" altLang="ar-EG" sz="2000" b="1" dirty="0">
                <a:latin typeface="Arial" panose="020B0604020202020204" pitchFamily="34" charset="0"/>
              </a:rPr>
              <a:t> </a:t>
            </a:r>
            <a:r>
              <a:rPr lang="en-US" altLang="ar-EG" sz="2000" b="1" smtClean="0">
                <a:latin typeface="Arial" panose="020B0604020202020204" pitchFamily="34" charset="0"/>
              </a:rPr>
              <a:t>3</a:t>
            </a:r>
            <a:r>
              <a:rPr lang="en-US" altLang="ar-EG" sz="2000" b="1">
                <a:latin typeface="Arial" panose="020B0604020202020204" pitchFamily="34" charset="0"/>
              </a:rPr>
              <a:t>:</a:t>
            </a:r>
            <a:r>
              <a:rPr kumimoji="0" lang="ar-EG" altLang="ar-EG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Intentionally</a:t>
            </a: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cause</a:t>
            </a: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ar-EG" altLang="ar-EG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SyntaxError</a:t>
            </a: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ar-EG" altLang="ar-EG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and</a:t>
            </a: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ar-EG" altLang="ar-EG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fix</a:t>
            </a: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ar-EG" altLang="ar-EG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it</a:t>
            </a:r>
            <a:r>
              <a:rPr kumimoji="0" lang="ar-EG" altLang="ar-EG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ar-EG" altLang="ar-EG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188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C0C5A4-465E-96E5-8869-F21B6EA65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804393"/>
            <a:ext cx="5857418" cy="535531"/>
          </a:xfrm>
        </p:spPr>
        <p:txBody>
          <a:bodyPr/>
          <a:lstStyle/>
          <a:p>
            <a:r>
              <a:rPr lang="en-US" dirty="0"/>
              <a:t>Wrap-up &amp; Summary</a:t>
            </a:r>
            <a:endParaRPr lang="en-EG" dirty="0"/>
          </a:p>
        </p:txBody>
      </p:sp>
      <p:sp>
        <p:nvSpPr>
          <p:cNvPr id="5" name="Rectangle 4"/>
          <p:cNvSpPr/>
          <p:nvPr/>
        </p:nvSpPr>
        <p:spPr>
          <a:xfrm>
            <a:off x="1405719" y="2828836"/>
            <a:ext cx="978544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>
                <a:solidFill>
                  <a:srgbClr val="065B94"/>
                </a:solidFill>
              </a:rPr>
              <a:t>Python basics and environment </a:t>
            </a:r>
            <a:r>
              <a:rPr lang="en-US" sz="2000" b="1">
                <a:solidFill>
                  <a:srgbClr val="065B94"/>
                </a:solidFill>
              </a:rPr>
              <a:t>setup</a:t>
            </a:r>
            <a:r>
              <a:rPr lang="en-US" sz="2000" b="1" smtClean="0">
                <a:solidFill>
                  <a:srgbClr val="065B94"/>
                </a:solidFill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b="1" dirty="0" smtClean="0">
              <a:solidFill>
                <a:srgbClr val="065B94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 smtClean="0">
                <a:solidFill>
                  <a:srgbClr val="065B94"/>
                </a:solidFill>
              </a:rPr>
              <a:t>Understanding </a:t>
            </a:r>
            <a:r>
              <a:rPr lang="en-US" sz="2000" b="1" dirty="0">
                <a:solidFill>
                  <a:srgbClr val="065B94"/>
                </a:solidFill>
              </a:rPr>
              <a:t>code execution and syntax</a:t>
            </a:r>
            <a:r>
              <a:rPr lang="en-US" sz="2000" b="1" dirty="0" smtClean="0">
                <a:solidFill>
                  <a:srgbClr val="065B94"/>
                </a:solidFill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b="1" dirty="0" smtClean="0">
              <a:solidFill>
                <a:srgbClr val="065B94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 smtClean="0">
                <a:solidFill>
                  <a:srgbClr val="065B94"/>
                </a:solidFill>
              </a:rPr>
              <a:t>Learning </a:t>
            </a:r>
            <a:r>
              <a:rPr lang="en-US" sz="2000" b="1" dirty="0">
                <a:solidFill>
                  <a:srgbClr val="065B94"/>
                </a:solidFill>
              </a:rPr>
              <a:t>to write, run, and debug basic scripts</a:t>
            </a:r>
            <a:r>
              <a:rPr lang="en-US" sz="2000" b="1" dirty="0" smtClean="0">
                <a:solidFill>
                  <a:srgbClr val="065B94"/>
                </a:solidFill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b="1" dirty="0" smtClean="0">
              <a:solidFill>
                <a:srgbClr val="065B94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 smtClean="0">
                <a:solidFill>
                  <a:srgbClr val="065B94"/>
                </a:solidFill>
              </a:rPr>
              <a:t>Next </a:t>
            </a:r>
            <a:r>
              <a:rPr lang="en-US" sz="2000" b="1" dirty="0">
                <a:solidFill>
                  <a:srgbClr val="065B94"/>
                </a:solidFill>
              </a:rPr>
              <a:t>Session: We will dive into "Data Types" and how Python stores information.</a:t>
            </a:r>
            <a:endParaRPr lang="ar-EG" sz="2000" b="1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385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BB7CE8-00A3-366D-9216-C83BB6DD6115}"/>
              </a:ext>
            </a:extLst>
          </p:cNvPr>
          <p:cNvSpPr/>
          <p:nvPr/>
        </p:nvSpPr>
        <p:spPr>
          <a:xfrm>
            <a:off x="9531635" y="2695874"/>
            <a:ext cx="2450475" cy="36776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2EDE95-A92E-98C9-467D-C7E587DF0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12451"/>
            <a:ext cx="10515600" cy="757130"/>
          </a:xfrm>
        </p:spPr>
        <p:txBody>
          <a:bodyPr>
            <a:spAutoFit/>
          </a:bodyPr>
          <a:lstStyle/>
          <a:p>
            <a:pPr algn="ctr"/>
            <a:r>
              <a:rPr lang="en-US" sz="4800" dirty="0">
                <a:solidFill>
                  <a:srgbClr val="065B94"/>
                </a:solidFill>
              </a:rPr>
              <a:t>Thank </a:t>
            </a:r>
            <a:r>
              <a:rPr lang="en-US" sz="4800" dirty="0" smtClean="0">
                <a:solidFill>
                  <a:srgbClr val="065B94"/>
                </a:solidFill>
              </a:rPr>
              <a:t>You</a:t>
            </a:r>
            <a:endParaRPr lang="en-EG" sz="4800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695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NTI Brand">
      <a:dk1>
        <a:srgbClr val="000000"/>
      </a:dk1>
      <a:lt1>
        <a:srgbClr val="FFFFFF"/>
      </a:lt1>
      <a:dk2>
        <a:srgbClr val="06588F"/>
      </a:dk2>
      <a:lt2>
        <a:srgbClr val="FFFFFF"/>
      </a:lt2>
      <a:accent1>
        <a:srgbClr val="0E639E"/>
      </a:accent1>
      <a:accent2>
        <a:srgbClr val="E9A713"/>
      </a:accent2>
      <a:accent3>
        <a:srgbClr val="EA7355"/>
      </a:accent3>
      <a:accent4>
        <a:srgbClr val="4FA9AC"/>
      </a:accent4>
      <a:accent5>
        <a:srgbClr val="43BCFF"/>
      </a:accent5>
      <a:accent6>
        <a:srgbClr val="6079C2"/>
      </a:accent6>
      <a:hlink>
        <a:srgbClr val="688CC1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TI &amp; ESE" id="{1E3C099D-4D26-3541-9A32-31697215961B}" vid="{7F984A55-E95C-A54B-B073-2F5FB430A04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354</TotalTime>
  <Words>757</Words>
  <Application>Microsoft Office PowerPoint</Application>
  <PresentationFormat>Widescreen</PresentationFormat>
  <Paragraphs>125</Paragraphs>
  <Slides>19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Calibri</vt:lpstr>
      <vt:lpstr>Poppins Medium</vt:lpstr>
      <vt:lpstr>Wingdings</vt:lpstr>
      <vt:lpstr>Segoe UI Semibold</vt:lpstr>
      <vt:lpstr>DM Sans</vt:lpstr>
      <vt:lpstr>Inter</vt:lpstr>
      <vt:lpstr>Segoe UI</vt:lpstr>
      <vt:lpstr>Arial</vt:lpstr>
      <vt:lpstr>Arial Unicode MS</vt:lpstr>
      <vt:lpstr>Office Theme</vt:lpstr>
      <vt:lpstr>PowerPoint Presentation</vt:lpstr>
      <vt:lpstr>PowerPoint Presentation</vt:lpstr>
      <vt:lpstr>"Session Agenda" </vt:lpstr>
      <vt:lpstr>What is Programming?</vt:lpstr>
      <vt:lpstr>PowerPoint Presentation</vt:lpstr>
      <vt:lpstr>Python Use Cases</vt:lpstr>
      <vt:lpstr>Development Environments</vt:lpstr>
      <vt:lpstr>Local Setup (VS Code + Python)</vt:lpstr>
      <vt:lpstr>Cloud Setup (Google Colab)</vt:lpstr>
      <vt:lpstr>The Logic of Code Execution</vt:lpstr>
      <vt:lpstr>The Anatomy of a Command</vt:lpstr>
      <vt:lpstr>Your First Script: "Hello World"</vt:lpstr>
      <vt:lpstr>Python Syntax Rules</vt:lpstr>
      <vt:lpstr>The Golden Rule: Indentation</vt:lpstr>
      <vt:lpstr>Coding Best Practices: Comments</vt:lpstr>
      <vt:lpstr>Mini-Quiz: Spot the Error!</vt:lpstr>
      <vt:lpstr>Hands-on Lab 1: Execution</vt:lpstr>
      <vt:lpstr>Wrap-up &amp; 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Sally Samir</dc:creator>
  <cp:lastModifiedBy>SM</cp:lastModifiedBy>
  <cp:revision>42</cp:revision>
  <dcterms:created xsi:type="dcterms:W3CDTF">2026-03-27T11:30:08Z</dcterms:created>
  <dcterms:modified xsi:type="dcterms:W3CDTF">2026-06-30T19:30:53Z</dcterms:modified>
</cp:coreProperties>
</file>