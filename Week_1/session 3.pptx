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94" r:id="rId3"/>
    <p:sldId id="321" r:id="rId4"/>
    <p:sldId id="295" r:id="rId5"/>
    <p:sldId id="296" r:id="rId6"/>
    <p:sldId id="297" r:id="rId7"/>
    <p:sldId id="298" r:id="rId8"/>
    <p:sldId id="300" r:id="rId9"/>
    <p:sldId id="301" r:id="rId10"/>
    <p:sldId id="302" r:id="rId11"/>
    <p:sldId id="303" r:id="rId12"/>
    <p:sldId id="304" r:id="rId13"/>
    <p:sldId id="306" r:id="rId14"/>
    <p:sldId id="307" r:id="rId15"/>
    <p:sldId id="308" r:id="rId16"/>
    <p:sldId id="313" r:id="rId17"/>
    <p:sldId id="299" r:id="rId18"/>
    <p:sldId id="322" r:id="rId19"/>
  </p:sldIdLst>
  <p:sldSz cx="12192000" cy="6858000"/>
  <p:notesSz cx="6858000" cy="9144000"/>
  <p:embeddedFontLs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</p:embeddedFont>
    <p:embeddedFont>
      <p:font typeface="Segoe UI Semibold" panose="020B0702040204020203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26" autoAdjust="0"/>
    <p:restoredTop sz="91061" autoAdjust="0"/>
  </p:normalViewPr>
  <p:slideViewPr>
    <p:cSldViewPr snapToGrid="0">
      <p:cViewPr varScale="1">
        <p:scale>
          <a:sx n="77" d="100"/>
          <a:sy n="77" d="100"/>
        </p:scale>
        <p:origin x="912" y="90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4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39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65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1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C5D961B-A4A4-4C00-9552-A437343E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919" y="1335664"/>
            <a:ext cx="7551938" cy="584775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9847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0850" y="5296383"/>
            <a:ext cx="3801041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 dirty="0" smtClean="0"/>
              <a:t>Instructor : </a:t>
            </a:r>
            <a:r>
              <a:rPr lang="en-US" sz="2000" b="1" dirty="0" err="1" smtClean="0"/>
              <a:t>Doaa</a:t>
            </a:r>
            <a:r>
              <a:rPr lang="en-US" sz="2000" b="1" dirty="0" smtClean="0"/>
              <a:t> Mohammed </a:t>
            </a:r>
          </a:p>
          <a:p>
            <a:r>
              <a:rPr lang="en-US" sz="2000" b="1" dirty="0" smtClean="0"/>
              <a:t>Data Analyst</a:t>
            </a:r>
            <a:endParaRPr lang="ar-EG" sz="2000" b="1" dirty="0"/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662686" y="2170480"/>
            <a:ext cx="11149358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2272177" y="3412298"/>
            <a:ext cx="793037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2"/>
                </a:solidFill>
              </a:rPr>
              <a:t>Session 03</a:t>
            </a:r>
          </a:p>
          <a:p>
            <a:pPr algn="ctr"/>
            <a:r>
              <a:rPr lang="en-US" sz="3600" b="1" dirty="0">
                <a:solidFill>
                  <a:schemeClr val="bg2"/>
                </a:solidFill>
              </a:rPr>
              <a:t>Control Flow: Decisions and Loops</a:t>
            </a:r>
          </a:p>
          <a:p>
            <a:endParaRPr lang="en-US" sz="4800" b="1" dirty="0">
              <a:solidFill>
                <a:schemeClr val="bg2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A7865-DA21-71EE-25E2-E3AA0EAA629B}"/>
              </a:ext>
            </a:extLst>
          </p:cNvPr>
          <p:cNvSpPr txBox="1"/>
          <p:nvPr/>
        </p:nvSpPr>
        <p:spPr>
          <a:xfrm>
            <a:off x="890200" y="410479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b="1" dirty="0">
              <a:solidFill>
                <a:schemeClr val="bg2"/>
              </a:solidFill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EA9D-4B17-A4A8-B56E-3BA9CF99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565" y="1661742"/>
            <a:ext cx="7551938" cy="584775"/>
          </a:xfrm>
        </p:spPr>
        <p:txBody>
          <a:bodyPr/>
          <a:lstStyle/>
          <a:p>
            <a:r>
              <a:rPr lang="en-US" dirty="0"/>
              <a:t>Agenda</a:t>
            </a:r>
            <a:endParaRPr lang="en-EG" dirty="0"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6197" y="2967335"/>
            <a:ext cx="102337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Comparison Operators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Conditional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Statements (if,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elif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, else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Loops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(for, while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Hands-on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Lab: Smart Decision Making.</a:t>
            </a:r>
            <a:endParaRPr lang="ar-EG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05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  <a:endParaRPr lang="en-EG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69928" y="2554690"/>
            <a:ext cx="85135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== (Equal), != (Not equal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&gt;,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&lt;, &gt;=,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&lt;=.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Result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: All comparisons return a Boolean (True/False).</a:t>
            </a:r>
            <a:endParaRPr lang="ar-EG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535531"/>
          </a:xfrm>
        </p:spPr>
        <p:txBody>
          <a:bodyPr/>
          <a:lstStyle/>
          <a:p>
            <a:r>
              <a:rPr lang="en-US" sz="3200" b="1" dirty="0"/>
              <a:t>If-Statements</a:t>
            </a:r>
            <a:endParaRPr lang="en-EG" sz="3200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3939" y="2216487"/>
            <a:ext cx="90646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 if statement executes code only if the condition is True.</a:t>
            </a:r>
            <a:endParaRPr lang="ar-EG" sz="2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718" y="3457794"/>
            <a:ext cx="7809890" cy="15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52564" y="1405377"/>
            <a:ext cx="49808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Expanded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elif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else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ar-EG" altLang="ar-EG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32559" y="254216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if: The first condition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err="1" smtClean="0">
                <a:solidFill>
                  <a:schemeClr val="accent6">
                    <a:lumMod val="75000"/>
                  </a:schemeClr>
                </a:solidFill>
              </a:rPr>
              <a:t>elif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: Alternative conditions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else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: The "everything else" scenario.</a:t>
            </a:r>
            <a:endParaRPr lang="ar-EG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2058444" y="2441955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and: Both must be True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0&amp;0&gt;0  1&amp;0&gt;0 0&amp;1&gt;0 1&amp;1&gt;1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or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: At least one must be True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: Reverses the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boolean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value</a:t>
            </a:r>
            <a:r>
              <a:rPr lang="en-US" sz="2800" dirty="0"/>
              <a:t>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1" y="1600282"/>
            <a:ext cx="5425037" cy="978729"/>
          </a:xfrm>
        </p:spPr>
        <p:txBody>
          <a:bodyPr/>
          <a:lstStyle/>
          <a:p>
            <a:r>
              <a:rPr lang="en-US" dirty="0"/>
              <a:t>Introduction to Loops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1340285" y="3105835"/>
            <a:ext cx="1052186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Why repeat code manually when you can automate it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Two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main types: for loops and while loops.</a:t>
            </a:r>
            <a:endParaRPr lang="ar-EG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811123"/>
            <a:ext cx="4022122" cy="535531"/>
          </a:xfrm>
        </p:spPr>
        <p:txBody>
          <a:bodyPr/>
          <a:lstStyle/>
          <a:p>
            <a:r>
              <a:rPr lang="en-US" dirty="0"/>
              <a:t>For Loops</a:t>
            </a:r>
            <a:endParaRPr lang="en-E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BF2F5-4DC0-8A5B-43BE-726DD2C3AF2C}"/>
              </a:ext>
            </a:extLst>
          </p:cNvPr>
          <p:cNvSpPr txBox="1"/>
          <p:nvPr/>
        </p:nvSpPr>
        <p:spPr>
          <a:xfrm>
            <a:off x="662612" y="3429000"/>
            <a:ext cx="4256315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 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15025" y="3105835"/>
            <a:ext cx="1065964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Used to iterate over a sequence (like a range of numbers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: for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 in range(5): print(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ar-EG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514222"/>
            <a:ext cx="3839049" cy="590931"/>
          </a:xfrm>
        </p:spPr>
        <p:txBody>
          <a:bodyPr/>
          <a:lstStyle/>
          <a:p>
            <a:r>
              <a:rPr lang="en-US" sz="3600" dirty="0"/>
              <a:t>While Loops</a:t>
            </a:r>
            <a:endParaRPr lang="en-EG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8C479-96E4-0060-FC94-C262F056585B}"/>
              </a:ext>
            </a:extLst>
          </p:cNvPr>
          <p:cNvSpPr/>
          <p:nvPr/>
        </p:nvSpPr>
        <p:spPr>
          <a:xfrm>
            <a:off x="1457397" y="2819858"/>
            <a:ext cx="6258636" cy="680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Executes as long as the condition is True.</a:t>
            </a:r>
            <a:endParaRPr kumimoji="0" lang="en-US" sz="24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1082C0-8227-3182-FAE5-A47E7D920301}"/>
              </a:ext>
            </a:extLst>
          </p:cNvPr>
          <p:cNvSpPr/>
          <p:nvPr/>
        </p:nvSpPr>
        <p:spPr>
          <a:xfrm>
            <a:off x="1457397" y="4586028"/>
            <a:ext cx="6258636" cy="680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400" b="1" dirty="0"/>
              <a:t>Warning: Be careful of "Infinite Loops"!</a:t>
            </a:r>
            <a:endParaRPr lang="en-US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205323"/>
            <a:ext cx="4441950" cy="646331"/>
          </a:xfrm>
        </p:spPr>
        <p:txBody>
          <a:bodyPr/>
          <a:lstStyle/>
          <a:p>
            <a:r>
              <a:rPr lang="en-US" sz="4000" dirty="0"/>
              <a:t>Loop Control</a:t>
            </a:r>
            <a:endParaRPr lang="en-EG" sz="4000" dirty="0"/>
          </a:p>
        </p:txBody>
      </p:sp>
      <p:sp>
        <p:nvSpPr>
          <p:cNvPr id="5" name="Rectangle 4"/>
          <p:cNvSpPr/>
          <p:nvPr/>
        </p:nvSpPr>
        <p:spPr>
          <a:xfrm>
            <a:off x="652564" y="3105835"/>
            <a:ext cx="1134736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break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: Exits the loop completely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chemeClr val="accent6">
                    <a:lumMod val="75000"/>
                  </a:schemeClr>
                </a:solidFill>
              </a:rPr>
              <a:t>continue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: Skips the current iteration and moves to the next.</a:t>
            </a:r>
            <a:endParaRPr lang="ar-EG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Checkpoint: Mini-Quiz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1202499" y="3105835"/>
            <a:ext cx="98329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What happens if the condition in a while loop is always True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arenR"/>
            </a:pPr>
            <a:endParaRPr lang="en-US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Difference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between break and continue?</a:t>
            </a:r>
            <a:endParaRPr lang="ar-EG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/>
          <a:p>
            <a:r>
              <a:rPr lang="en-US" dirty="0"/>
              <a:t>Lab 3: The Grade Calculator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951979" y="3105835"/>
            <a:ext cx="103966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Input a score from the user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Use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if-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</a:rPr>
              <a:t>elif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-else to print "Pass", "Good", or "Excellent".</a:t>
            </a:r>
            <a:endParaRPr lang="ar-EG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0E2A9-8CCD-DC8A-4B92-5AC934F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913" y="1407590"/>
            <a:ext cx="5161991" cy="535531"/>
          </a:xfrm>
        </p:spPr>
        <p:txBody>
          <a:bodyPr wrap="square">
            <a:spAutoFit/>
          </a:bodyPr>
          <a:lstStyle/>
          <a:p>
            <a:r>
              <a:rPr lang="en-US" dirty="0"/>
              <a:t>Lab 3: Loop Challenge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453019" y="3105835"/>
            <a:ext cx="1022123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Write a program that asks the user for a number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Use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 loop to print all numbers from 0 up to that number.</a:t>
            </a:r>
            <a:endParaRPr lang="ar-EG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Logic Errors</a:t>
            </a:r>
            <a:endParaRPr lang="en-EG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266339" y="2253378"/>
            <a:ext cx="9518570" cy="183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bug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Off-by-one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range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ar-EG" altLang="ar-EG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r>
              <a:rPr kumimoji="0" lang="en-US" altLang="ar-EG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endParaRPr kumimoji="0" lang="en-US" altLang="ar-EG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ar-EG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ar-EG" sz="1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never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becomes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ar-EG" altLang="ar-EG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FA90E-9E1C-4C7F-3466-7FDC6778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5" y="1553089"/>
            <a:ext cx="13779220" cy="535531"/>
          </a:xfrm>
        </p:spPr>
        <p:txBody>
          <a:bodyPr/>
          <a:lstStyle/>
          <a:p>
            <a:r>
              <a:rPr lang="en-US" dirty="0" smtClean="0"/>
              <a:t>Course </a:t>
            </a:r>
            <a:r>
              <a:rPr lang="en-US" dirty="0"/>
              <a:t>Wrap-up</a:t>
            </a:r>
            <a:endParaRPr lang="en-EG" dirty="0"/>
          </a:p>
        </p:txBody>
      </p:sp>
      <p:sp>
        <p:nvSpPr>
          <p:cNvPr id="7" name="Rectangle 6"/>
          <p:cNvSpPr/>
          <p:nvPr/>
        </p:nvSpPr>
        <p:spPr>
          <a:xfrm>
            <a:off x="839244" y="3105835"/>
            <a:ext cx="111481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We covered: Syntax, Variables, Data Types, and Control Flow</a:t>
            </a:r>
            <a:r>
              <a:rPr lang="en-US" sz="3600" b="1" dirty="0" smtClean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b="1" dirty="0" smtClean="0">
                <a:solidFill>
                  <a:schemeClr val="accent3">
                    <a:lumMod val="75000"/>
                  </a:schemeClr>
                </a:solidFill>
              </a:rPr>
              <a:t>You </a:t>
            </a: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are now ready to build basic Python scripts!</a:t>
            </a:r>
            <a:endParaRPr lang="ar-EG" sz="36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70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413359" y="2473850"/>
            <a:ext cx="11348581" cy="3255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Any questions on Loops, If-statements, or Logic?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D87094-5A2E-2FBC-A722-8914F2071516}"/>
              </a:ext>
            </a:extLst>
          </p:cNvPr>
          <p:cNvSpPr txBox="1"/>
          <p:nvPr/>
        </p:nvSpPr>
        <p:spPr>
          <a:xfrm>
            <a:off x="5571395" y="3767554"/>
            <a:ext cx="515558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 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C19967-D6CF-BBB6-52B1-C5474B220E79}"/>
              </a:ext>
            </a:extLst>
          </p:cNvPr>
          <p:cNvSpPr/>
          <p:nvPr/>
        </p:nvSpPr>
        <p:spPr>
          <a:xfrm>
            <a:off x="438411" y="2567836"/>
            <a:ext cx="10822488" cy="256433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C5F5B-B2E3-A2A0-495B-9AB62B3703B8}"/>
              </a:ext>
            </a:extLst>
          </p:cNvPr>
          <p:cNvSpPr txBox="1"/>
          <p:nvPr/>
        </p:nvSpPr>
        <p:spPr>
          <a:xfrm>
            <a:off x="5081013" y="3561079"/>
            <a:ext cx="5273500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2400" b="1" dirty="0">
                <a:solidFill>
                  <a:schemeClr val="bg2"/>
                </a:solidFill>
                <a:latin typeface="+mn-lt"/>
                <a:cs typeface="Segoe UI" panose="020B0502040204020203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6919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3301</TotalTime>
  <Words>377</Words>
  <Application>Microsoft Office PowerPoint</Application>
  <PresentationFormat>Widescreen</PresentationFormat>
  <Paragraphs>92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Segoe UI</vt:lpstr>
      <vt:lpstr>Calibri</vt:lpstr>
      <vt:lpstr>Poppins Medium</vt:lpstr>
      <vt:lpstr>Wingdings</vt:lpstr>
      <vt:lpstr>Segoe UI Semibold</vt:lpstr>
      <vt:lpstr>Inter</vt:lpstr>
      <vt:lpstr>Arial</vt:lpstr>
      <vt:lpstr>Arial Unicode MS</vt:lpstr>
      <vt:lpstr>Office Theme</vt:lpstr>
      <vt:lpstr>PowerPoint Presentation</vt:lpstr>
      <vt:lpstr>PowerPoint Presentation</vt:lpstr>
      <vt:lpstr>Agenda</vt:lpstr>
      <vt:lpstr>Comparison Operators</vt:lpstr>
      <vt:lpstr>PowerPoint Presentation</vt:lpstr>
      <vt:lpstr>Expanded Logic: elif &amp; else </vt:lpstr>
      <vt:lpstr>Logical Operators</vt:lpstr>
      <vt:lpstr>Introduction to Loops</vt:lpstr>
      <vt:lpstr>For Loops</vt:lpstr>
      <vt:lpstr>While Loops</vt:lpstr>
      <vt:lpstr>Loop Control</vt:lpstr>
      <vt:lpstr>Checkpoint: Mini-Quiz</vt:lpstr>
      <vt:lpstr>Lab 3: The Grade Calculator</vt:lpstr>
      <vt:lpstr>Lab 3: Loop Challenge</vt:lpstr>
      <vt:lpstr>Handling Logic Errors</vt:lpstr>
      <vt:lpstr>Course Wrap-up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37</cp:revision>
  <dcterms:created xsi:type="dcterms:W3CDTF">2026-03-27T11:30:08Z</dcterms:created>
  <dcterms:modified xsi:type="dcterms:W3CDTF">2026-08-04T08:57:55Z</dcterms:modified>
</cp:coreProperties>
</file>