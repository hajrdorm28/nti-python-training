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13" r:id="rId20"/>
    <p:sldId id="312" r:id="rId21"/>
    <p:sldId id="315" r:id="rId22"/>
    <p:sldId id="321" r:id="rId23"/>
    <p:sldId id="320" r:id="rId24"/>
  </p:sldIdLst>
  <p:sldSz cx="12192000" cy="6858000"/>
  <p:notesSz cx="6858000" cy="9144000"/>
  <p:embeddedFontLs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29" autoAdjust="0"/>
    <p:restoredTop sz="91061" autoAdjust="0"/>
  </p:normalViewPr>
  <p:slideViewPr>
    <p:cSldViewPr snapToGrid="0">
      <p:cViewPr varScale="1">
        <p:scale>
          <a:sx n="85" d="100"/>
          <a:sy n="85" d="100"/>
        </p:scale>
        <p:origin x="546" y="78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6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0077" y="5260932"/>
            <a:ext cx="3768596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 smtClean="0"/>
              <a:t>Instructor : </a:t>
            </a:r>
            <a:r>
              <a:rPr lang="en-US" sz="2400" b="1" dirty="0" err="1" smtClean="0"/>
              <a:t>Doaa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M.Taha</a:t>
            </a:r>
            <a:endParaRPr lang="en-US" sz="2400" b="1" dirty="0" smtClean="0"/>
          </a:p>
          <a:p>
            <a:r>
              <a:rPr lang="en-US" sz="2400" b="1" dirty="0" smtClean="0"/>
              <a:t>Data Analyst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363255" y="2132902"/>
            <a:ext cx="11536471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1342144" y="3070158"/>
            <a:ext cx="95786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Session 5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Advanced Functions &amp; Lists</a:t>
            </a:r>
          </a:p>
          <a:p>
            <a:endParaRPr lang="en-US" sz="4800" b="1" dirty="0">
              <a:solidFill>
                <a:schemeClr val="bg2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65544"/>
            <a:ext cx="10515600" cy="912407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Learning Outcomes</a:t>
            </a:r>
            <a:br>
              <a:rPr lang="en-US" dirty="0"/>
            </a:br>
            <a:endParaRPr lang="en-EG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C6233C-6E7D-1C43-7E50-5528B1A361B6}"/>
              </a:ext>
            </a:extLst>
          </p:cNvPr>
          <p:cNvSpPr/>
          <p:nvPr/>
        </p:nvSpPr>
        <p:spPr>
          <a:xfrm>
            <a:off x="752772" y="2377951"/>
            <a:ext cx="10701236" cy="37848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atin typeface="+mj-lt"/>
                <a:cs typeface="Segoe UI" panose="020B0502040204020203" pitchFamily="34" charset="0"/>
              </a:rPr>
              <a:t>By the end of this session, you will be able to</a:t>
            </a: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Understand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variable-length arguments</a:t>
            </a: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Use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lambda functions</a:t>
            </a: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Understand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recursion</a:t>
            </a: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Create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and manipulate lists</a:t>
            </a: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Access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and update list elements</a:t>
            </a: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>
                <a:latin typeface="+mj-lt"/>
                <a:cs typeface="Segoe UI" panose="020B0502040204020203" pitchFamily="34" charset="0"/>
              </a:rPr>
              <a:t>Apply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common list methods.</a:t>
            </a:r>
            <a:endParaRPr lang="en-US" sz="2800" b="1" dirty="0">
              <a:solidFill>
                <a:schemeClr val="lt1"/>
              </a:solidFill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2028248"/>
          </a:xfrm>
        </p:spPr>
        <p:txBody>
          <a:bodyPr/>
          <a:lstStyle/>
          <a:p>
            <a:endParaRPr lang="en-US" b="1" dirty="0"/>
          </a:p>
          <a:p>
            <a:pPr marL="0" indent="0">
              <a:buNone/>
            </a:pPr>
            <a:r>
              <a:rPr lang="en-US" sz="3200" b="1" dirty="0"/>
              <a:t>Review</a:t>
            </a:r>
          </a:p>
          <a:p>
            <a:pPr marL="0" indent="0">
              <a:buNone/>
            </a:pPr>
            <a:r>
              <a:rPr lang="en-US" sz="3200" dirty="0"/>
              <a:t>Quick Questions</a:t>
            </a:r>
          </a:p>
          <a:p>
            <a:endParaRPr lang="en-EG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3352" y="2977722"/>
            <a:ext cx="7592446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What is a function?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Difference between print() and return</a:t>
            </a:r>
            <a:r>
              <a:rPr lang="en-US" sz="2800" dirty="0" smtClean="0">
                <a:solidFill>
                  <a:srgbClr val="C00000"/>
                </a:solidFill>
              </a:rPr>
              <a:t>?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What is a parameter?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What is an argument?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</a:rPr>
              <a:t>What is a local variable? </a:t>
            </a: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351" y="951237"/>
            <a:ext cx="10515600" cy="2308324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Arbitrary Arguments (*</a:t>
            </a:r>
            <a:r>
              <a:rPr lang="en-US" dirty="0" err="1"/>
              <a:t>args</a:t>
            </a:r>
            <a:r>
              <a:rPr lang="en-US" dirty="0"/>
              <a:t>)</a:t>
            </a:r>
            <a:br>
              <a:rPr lang="en-US" dirty="0"/>
            </a:br>
            <a:r>
              <a:rPr lang="en-US" b="0" dirty="0"/>
              <a:t>Sometimes we don't know how many arguments will be passed.</a:t>
            </a:r>
            <a:br>
              <a:rPr lang="en-US" b="0" dirty="0"/>
            </a:br>
            <a:endParaRPr lang="en-EG" b="0" dirty="0"/>
          </a:p>
        </p:txBody>
      </p:sp>
      <p:sp>
        <p:nvSpPr>
          <p:cNvPr id="5" name="Rectangle 4"/>
          <p:cNvSpPr/>
          <p:nvPr/>
        </p:nvSpPr>
        <p:spPr>
          <a:xfrm>
            <a:off x="1569929" y="3259561"/>
            <a:ext cx="689766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EG" sz="3200" dirty="0" err="1">
                <a:solidFill>
                  <a:srgbClr val="C00000"/>
                </a:solidFill>
              </a:rPr>
              <a:t>def</a:t>
            </a:r>
            <a:r>
              <a:rPr lang="ar-EG" sz="3200" dirty="0">
                <a:solidFill>
                  <a:srgbClr val="C00000"/>
                </a:solidFill>
              </a:rPr>
              <a:t> </a:t>
            </a:r>
            <a:r>
              <a:rPr lang="ar-EG" sz="3200" dirty="0" err="1">
                <a:solidFill>
                  <a:srgbClr val="C00000"/>
                </a:solidFill>
              </a:rPr>
              <a:t>total</a:t>
            </a:r>
            <a:r>
              <a:rPr lang="ar-EG" sz="3200" dirty="0">
                <a:solidFill>
                  <a:srgbClr val="C00000"/>
                </a:solidFill>
              </a:rPr>
              <a:t>(</a:t>
            </a:r>
            <a:r>
              <a:rPr lang="ar-EG" sz="3200" dirty="0">
                <a:solidFill>
                  <a:srgbClr val="065B94"/>
                </a:solidFill>
              </a:rPr>
              <a:t>*</a:t>
            </a:r>
            <a:r>
              <a:rPr lang="ar-EG" sz="3200" dirty="0" err="1">
                <a:solidFill>
                  <a:srgbClr val="C00000"/>
                </a:solidFill>
              </a:rPr>
              <a:t>numbers</a:t>
            </a:r>
            <a:r>
              <a:rPr lang="ar-EG" sz="3200" dirty="0">
                <a:solidFill>
                  <a:srgbClr val="C00000"/>
                </a:solidFill>
              </a:rPr>
              <a:t>):</a:t>
            </a:r>
          </a:p>
          <a:p>
            <a:r>
              <a:rPr lang="ar-EG" sz="3200" dirty="0">
                <a:solidFill>
                  <a:srgbClr val="C00000"/>
                </a:solidFill>
              </a:rPr>
              <a:t>    </a:t>
            </a:r>
            <a:r>
              <a:rPr lang="ar-EG" sz="3200" dirty="0" err="1">
                <a:solidFill>
                  <a:srgbClr val="C00000"/>
                </a:solidFill>
              </a:rPr>
              <a:t>print</a:t>
            </a:r>
            <a:r>
              <a:rPr lang="ar-EG" sz="3200" dirty="0">
                <a:solidFill>
                  <a:srgbClr val="C00000"/>
                </a:solidFill>
              </a:rPr>
              <a:t>(</a:t>
            </a:r>
            <a:r>
              <a:rPr lang="ar-EG" sz="3200" dirty="0" err="1">
                <a:solidFill>
                  <a:srgbClr val="C00000"/>
                </a:solidFill>
              </a:rPr>
              <a:t>numbers</a:t>
            </a:r>
            <a:r>
              <a:rPr lang="ar-EG" sz="3200" dirty="0">
                <a:solidFill>
                  <a:srgbClr val="C00000"/>
                </a:solidFill>
              </a:rPr>
              <a:t>)</a:t>
            </a:r>
          </a:p>
          <a:p>
            <a:endParaRPr lang="ar-EG" sz="3200" dirty="0">
              <a:solidFill>
                <a:srgbClr val="C00000"/>
              </a:solidFill>
            </a:endParaRPr>
          </a:p>
          <a:p>
            <a:r>
              <a:rPr lang="en-US" sz="3200" dirty="0" smtClean="0">
                <a:solidFill>
                  <a:srgbClr val="C00000"/>
                </a:solidFill>
              </a:rPr>
              <a:t>t</a:t>
            </a:r>
            <a:r>
              <a:rPr lang="ar-EG" sz="3200" dirty="0" err="1" smtClean="0">
                <a:solidFill>
                  <a:srgbClr val="C00000"/>
                </a:solidFill>
              </a:rPr>
              <a:t>otal</a:t>
            </a:r>
            <a:r>
              <a:rPr lang="ar-EG" sz="3200" dirty="0" smtClean="0">
                <a:solidFill>
                  <a:srgbClr val="C00000"/>
                </a:solidFill>
              </a:rPr>
              <a:t>)</a:t>
            </a:r>
            <a:r>
              <a:rPr lang="en-US" sz="3200" dirty="0" smtClean="0">
                <a:solidFill>
                  <a:srgbClr val="C00000"/>
                </a:solidFill>
              </a:rPr>
              <a:t>10,20)</a:t>
            </a:r>
            <a:endParaRPr lang="ar-EG" sz="3200" dirty="0">
              <a:solidFill>
                <a:srgbClr val="C00000"/>
              </a:solidFill>
            </a:endParaRPr>
          </a:p>
          <a:p>
            <a:r>
              <a:rPr lang="en-US" sz="3200" dirty="0" smtClean="0">
                <a:solidFill>
                  <a:srgbClr val="C00000"/>
                </a:solidFill>
              </a:rPr>
              <a:t>t</a:t>
            </a:r>
            <a:r>
              <a:rPr lang="ar-EG" sz="3200" dirty="0" err="1" smtClean="0">
                <a:solidFill>
                  <a:srgbClr val="C00000"/>
                </a:solidFill>
              </a:rPr>
              <a:t>otal</a:t>
            </a:r>
            <a:r>
              <a:rPr lang="ar-EG" sz="3200" dirty="0" smtClean="0">
                <a:solidFill>
                  <a:srgbClr val="C00000"/>
                </a:solidFill>
              </a:rPr>
              <a:t> )</a:t>
            </a:r>
            <a:r>
              <a:rPr lang="en-US" sz="3200" dirty="0" smtClean="0">
                <a:solidFill>
                  <a:srgbClr val="C00000"/>
                </a:solidFill>
              </a:rPr>
              <a:t>1,2,3,4,5</a:t>
            </a:r>
            <a:r>
              <a:rPr lang="en-US" sz="3200" dirty="0" smtClean="0">
                <a:solidFill>
                  <a:srgbClr val="C00000"/>
                </a:solidFill>
              </a:rPr>
              <a:t>)</a:t>
            </a:r>
          </a:p>
          <a:p>
            <a:r>
              <a:rPr lang="en-US" sz="3200" dirty="0" smtClean="0">
                <a:solidFill>
                  <a:srgbClr val="C00000"/>
                </a:solidFill>
              </a:rPr>
              <a:t>Total(2,6,8,5,7,9,7)</a:t>
            </a:r>
            <a:endParaRPr lang="ar-EG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344460" y="2136338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</a:rPr>
              <a:t>def</a:t>
            </a:r>
            <a:r>
              <a:rPr lang="en-US" sz="2000" b="1" dirty="0">
                <a:solidFill>
                  <a:srgbClr val="C00000"/>
                </a:solidFill>
              </a:rPr>
              <a:t> total(*numbers):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    print(sum(numbers))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total(1,2,3)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total(10,20,30,40)</a:t>
            </a:r>
            <a:endParaRPr lang="ar-EG" sz="20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2564" y="4167664"/>
            <a:ext cx="150233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b="1" dirty="0"/>
              <a:t>Exercise</a:t>
            </a:r>
            <a:endParaRPr lang="ar-EG" sz="2500" b="1" dirty="0"/>
          </a:p>
        </p:txBody>
      </p:sp>
      <p:sp>
        <p:nvSpPr>
          <p:cNvPr id="7" name="Rectangle 6"/>
          <p:cNvSpPr/>
          <p:nvPr/>
        </p:nvSpPr>
        <p:spPr>
          <a:xfrm>
            <a:off x="1148048" y="4644718"/>
            <a:ext cx="10631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Create</a:t>
            </a:r>
            <a:endParaRPr lang="ar-EG" sz="2200" b="1" dirty="0"/>
          </a:p>
        </p:txBody>
      </p:sp>
      <p:sp>
        <p:nvSpPr>
          <p:cNvPr id="10" name="Rectangle 9"/>
          <p:cNvSpPr/>
          <p:nvPr/>
        </p:nvSpPr>
        <p:spPr>
          <a:xfrm>
            <a:off x="1344460" y="5075605"/>
            <a:ext cx="43652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average(*numbers)</a:t>
            </a:r>
            <a:endParaRPr lang="ar-EG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241286" y="2178756"/>
            <a:ext cx="8184935" cy="28942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/>
              <a:t>def</a:t>
            </a:r>
            <a:r>
              <a:rPr lang="en-US" sz="2800" b="1" dirty="0"/>
              <a:t> student(</a:t>
            </a:r>
            <a:r>
              <a:rPr lang="en-US" sz="2800" b="1" dirty="0">
                <a:solidFill>
                  <a:srgbClr val="C00000"/>
                </a:solidFill>
              </a:rPr>
              <a:t>**</a:t>
            </a:r>
            <a:r>
              <a:rPr lang="en-US" sz="2800" b="1" dirty="0"/>
              <a:t>info):</a:t>
            </a:r>
          </a:p>
          <a:p>
            <a:r>
              <a:rPr lang="en-US" sz="2800" b="1" dirty="0"/>
              <a:t>    print(info)</a:t>
            </a:r>
          </a:p>
          <a:p>
            <a:endParaRPr lang="en-US" sz="2800" b="1" dirty="0"/>
          </a:p>
          <a:p>
            <a:r>
              <a:rPr lang="en-US" sz="2800" b="1" dirty="0"/>
              <a:t>student(name="Ali", age=20, city="Cairo")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 (**</a:t>
            </a:r>
            <a:r>
              <a:rPr lang="en-US" dirty="0" err="1"/>
              <a:t>kwargs</a:t>
            </a:r>
            <a:r>
              <a:rPr lang="en-US" dirty="0"/>
              <a:t>)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62612" y="489210"/>
            <a:ext cx="6694461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</a:t>
            </a:r>
            <a:r>
              <a:rPr kumimoji="0" lang="ar-EG" altLang="ar-E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ar-EG" altLang="ar-E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ar-EG" altLang="ar-EG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lambda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small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anonymous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b="0" i="0" u="none" strike="noStrike" cap="none" normalizeH="0" baseline="0" dirty="0" err="1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ar-EG" altLang="ar-EG" sz="2800" b="0" i="0" u="none" strike="noStrike" cap="none" normalizeH="0" baseline="0" dirty="0" smtClean="0">
                <a:ln>
                  <a:noFill/>
                </a:ln>
                <a:solidFill>
                  <a:srgbClr val="065B94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2800" b="0" i="0" u="none" strike="noStrike" cap="none" normalizeH="0" baseline="0" dirty="0" smtClean="0">
              <a:ln>
                <a:noFill/>
              </a:ln>
              <a:solidFill>
                <a:srgbClr val="065B94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</a:t>
            </a:r>
            <a:endParaRPr kumimoji="0" lang="ar-EG" altLang="ar-E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74044" y="3690086"/>
            <a:ext cx="50734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lambda arguments : expression</a:t>
            </a:r>
            <a:endParaRPr lang="ar-EG" sz="24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31856" y="4361160"/>
            <a:ext cx="846097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Example</a:t>
            </a:r>
          </a:p>
          <a:p>
            <a:endParaRPr lang="en-US" sz="3200" b="1" dirty="0"/>
          </a:p>
          <a:p>
            <a:r>
              <a:rPr lang="en-US" sz="3200" b="1" dirty="0" smtClean="0"/>
              <a:t>      </a:t>
            </a:r>
            <a:r>
              <a:rPr lang="en-US" sz="3200" b="1" dirty="0" smtClean="0">
                <a:solidFill>
                  <a:srgbClr val="065B94"/>
                </a:solidFill>
              </a:rPr>
              <a:t>square</a:t>
            </a:r>
            <a:r>
              <a:rPr lang="en-US" sz="3200" b="1" dirty="0" smtClean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= lambda x : x*</a:t>
            </a:r>
            <a:r>
              <a:rPr lang="en-US" sz="3200" b="1" dirty="0" err="1">
                <a:solidFill>
                  <a:srgbClr val="C00000"/>
                </a:solidFill>
              </a:rPr>
              <a:t>xprint</a:t>
            </a:r>
            <a:r>
              <a:rPr lang="en-US" sz="3200" b="1" dirty="0">
                <a:solidFill>
                  <a:srgbClr val="C00000"/>
                </a:solidFill>
              </a:rPr>
              <a:t>(square(5))</a:t>
            </a:r>
            <a:endParaRPr lang="ar-EG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227073"/>
            <a:ext cx="11036698" cy="4579715"/>
          </a:xfrm>
        </p:spPr>
        <p:txBody>
          <a:bodyPr/>
          <a:lstStyle/>
          <a:p>
            <a:r>
              <a:rPr lang="en-US" sz="3600" dirty="0" smtClean="0"/>
              <a:t>More </a:t>
            </a:r>
            <a:r>
              <a:rPr lang="en-US" sz="3600" dirty="0"/>
              <a:t>Lambda </a:t>
            </a:r>
            <a:r>
              <a:rPr lang="en-US" sz="3600" dirty="0" smtClean="0"/>
              <a:t>Examples</a:t>
            </a:r>
            <a:br>
              <a:rPr lang="en-US" sz="3600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b="0" dirty="0" smtClean="0">
                <a:solidFill>
                  <a:srgbClr val="C00000"/>
                </a:solidFill>
              </a:rPr>
              <a:t>add </a:t>
            </a:r>
            <a:r>
              <a:rPr lang="en-US" b="0" dirty="0">
                <a:solidFill>
                  <a:srgbClr val="C00000"/>
                </a:solidFill>
              </a:rPr>
              <a:t>= lambda </a:t>
            </a:r>
            <a:r>
              <a:rPr lang="en-US" b="0" dirty="0" err="1">
                <a:solidFill>
                  <a:srgbClr val="C00000"/>
                </a:solidFill>
              </a:rPr>
              <a:t>x,y</a:t>
            </a:r>
            <a:r>
              <a:rPr lang="en-US" b="0" dirty="0">
                <a:solidFill>
                  <a:srgbClr val="C00000"/>
                </a:solidFill>
              </a:rPr>
              <a:t> </a:t>
            </a:r>
            <a:r>
              <a:rPr lang="en-US" b="0" dirty="0" smtClean="0">
                <a:solidFill>
                  <a:srgbClr val="C00000"/>
                </a:solidFill>
              </a:rPr>
              <a:t>:</a:t>
            </a:r>
            <a:r>
              <a:rPr lang="en-US" b="0" dirty="0" err="1" smtClean="0">
                <a:solidFill>
                  <a:srgbClr val="C00000"/>
                </a:solidFill>
              </a:rPr>
              <a:t>x+y</a:t>
            </a:r>
            <a:r>
              <a:rPr lang="en-US" b="0" dirty="0" smtClean="0">
                <a:solidFill>
                  <a:srgbClr val="C00000"/>
                </a:solidFill>
              </a:rPr>
              <a:t/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/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print(add(5,3))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>
                <a:solidFill>
                  <a:srgbClr val="C00000"/>
                </a:solidFill>
              </a:rPr>
              <a:t>maximum </a:t>
            </a:r>
            <a:r>
              <a:rPr lang="en-US" b="0" dirty="0">
                <a:solidFill>
                  <a:srgbClr val="C00000"/>
                </a:solidFill>
              </a:rPr>
              <a:t>= lambda </a:t>
            </a:r>
            <a:r>
              <a:rPr lang="en-US" b="0" dirty="0" err="1">
                <a:solidFill>
                  <a:srgbClr val="C00000"/>
                </a:solidFill>
              </a:rPr>
              <a:t>a,b</a:t>
            </a:r>
            <a:r>
              <a:rPr lang="en-US" b="0" dirty="0">
                <a:solidFill>
                  <a:srgbClr val="C00000"/>
                </a:solidFill>
              </a:rPr>
              <a:t> : a if a&gt;b else </a:t>
            </a:r>
            <a:r>
              <a:rPr lang="en-US" b="0" dirty="0" smtClean="0">
                <a:solidFill>
                  <a:srgbClr val="C00000"/>
                </a:solidFill>
              </a:rPr>
              <a:t>b</a:t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/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print(maximum(8,3</a:t>
            </a:r>
            <a:r>
              <a:rPr lang="en-US" b="0" dirty="0">
                <a:solidFill>
                  <a:srgbClr val="C00000"/>
                </a:solidFill>
              </a:rPr>
              <a:t>))</a:t>
            </a:r>
            <a:endParaRPr lang="en-EG" b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13140" y="1441713"/>
            <a:ext cx="3839049" cy="535531"/>
          </a:xfrm>
        </p:spPr>
        <p:txBody>
          <a:bodyPr/>
          <a:lstStyle/>
          <a:p>
            <a:r>
              <a:rPr lang="en-US" dirty="0"/>
              <a:t>What is Recursion?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1990117" y="2079413"/>
            <a:ext cx="5079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A recursive function calls itself.</a:t>
            </a:r>
            <a:endParaRPr lang="ar-EG" sz="2800" dirty="0">
              <a:solidFill>
                <a:srgbClr val="C0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287" y="3146590"/>
            <a:ext cx="7059010" cy="251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3" y="1233023"/>
            <a:ext cx="6362011" cy="590931"/>
          </a:xfrm>
        </p:spPr>
        <p:txBody>
          <a:bodyPr/>
          <a:lstStyle/>
          <a:p>
            <a:r>
              <a:rPr lang="en-US" sz="3600" dirty="0"/>
              <a:t>Factorial Using Recursion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1231726" y="2262312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err="1">
                <a:solidFill>
                  <a:srgbClr val="C00000"/>
                </a:solidFill>
              </a:rPr>
              <a:t>def</a:t>
            </a:r>
            <a:r>
              <a:rPr lang="en-US" sz="2800" b="1" dirty="0">
                <a:solidFill>
                  <a:srgbClr val="C00000"/>
                </a:solidFill>
              </a:rPr>
              <a:t> factorial(n):</a:t>
            </a:r>
          </a:p>
          <a:p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    if n==1: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        return 1</a:t>
            </a:r>
          </a:p>
          <a:p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    return n*factorial(n-1)</a:t>
            </a:r>
          </a:p>
          <a:p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print(factorial(5))</a:t>
            </a:r>
            <a:endParaRPr lang="ar-EG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Recursion vs Loop</a:t>
            </a:r>
            <a:endParaRPr lang="en-EG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847" y="2581156"/>
            <a:ext cx="7966553" cy="26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84AAA-ECF6-DA6C-15A8-8B4D6A87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40" y="1485041"/>
            <a:ext cx="7755015" cy="2308324"/>
          </a:xfrm>
        </p:spPr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is a List</a:t>
            </a:r>
            <a:r>
              <a:rPr lang="en-US" dirty="0" smtClean="0"/>
              <a:t>?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>
                <a:solidFill>
                  <a:srgbClr val="065B94"/>
                </a:solidFill>
              </a:rPr>
              <a:t>A </a:t>
            </a:r>
            <a:r>
              <a:rPr lang="en-US" b="0" dirty="0">
                <a:solidFill>
                  <a:srgbClr val="065B94"/>
                </a:solidFill>
              </a:rPr>
              <a:t>list is a collection of multiple values</a:t>
            </a:r>
            <a:r>
              <a:rPr lang="en-US" b="0" dirty="0" smtClean="0">
                <a:solidFill>
                  <a:srgbClr val="065B94"/>
                </a:solidFill>
              </a:rPr>
              <a:t>.</a:t>
            </a:r>
            <a:br>
              <a:rPr lang="en-US" b="0" dirty="0" smtClean="0">
                <a:solidFill>
                  <a:srgbClr val="065B94"/>
                </a:solidFill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Example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837840" y="421993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numbers=[10,20,30,40]</a:t>
            </a:r>
          </a:p>
          <a:p>
            <a:endParaRPr lang="en-US" sz="2400" dirty="0">
              <a:solidFill>
                <a:srgbClr val="065B94"/>
              </a:solidFill>
            </a:endParaRPr>
          </a:p>
          <a:p>
            <a:r>
              <a:rPr lang="en-US" sz="2400" dirty="0">
                <a:solidFill>
                  <a:srgbClr val="065B94"/>
                </a:solidFill>
              </a:rPr>
              <a:t>print(numbers)</a:t>
            </a:r>
            <a:endParaRPr lang="ar-EG" sz="24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>
            <a:spAutoFit/>
          </a:bodyPr>
          <a:lstStyle/>
          <a:p>
            <a:r>
              <a:rPr lang="en-US" sz="3600" dirty="0"/>
              <a:t>Why Lists?</a:t>
            </a:r>
            <a:endParaRPr lang="en-EG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318" y="2175395"/>
            <a:ext cx="8926055" cy="351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173" y="1567881"/>
            <a:ext cx="7441728" cy="3471720"/>
          </a:xfr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Creating </a:t>
            </a:r>
            <a:r>
              <a:rPr lang="en-US" dirty="0" smtClean="0"/>
              <a:t>Lists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3600" b="0" dirty="0" smtClean="0">
                <a:solidFill>
                  <a:srgbClr val="065B94"/>
                </a:solidFill>
              </a:rPr>
              <a:t>names</a:t>
            </a:r>
            <a:r>
              <a:rPr lang="en-US" sz="3600" b="0" dirty="0">
                <a:solidFill>
                  <a:srgbClr val="065B94"/>
                </a:solidFill>
              </a:rPr>
              <a:t>=["</a:t>
            </a:r>
            <a:r>
              <a:rPr lang="en-US" sz="3600" b="0" dirty="0" err="1">
                <a:solidFill>
                  <a:srgbClr val="065B94"/>
                </a:solidFill>
              </a:rPr>
              <a:t>Ali","Ahmed","Sara</a:t>
            </a:r>
            <a:r>
              <a:rPr lang="en-US" sz="3600" b="0" dirty="0" smtClean="0">
                <a:solidFill>
                  <a:srgbClr val="065B94"/>
                </a:solidFill>
              </a:rPr>
              <a:t>"]</a:t>
            </a:r>
            <a:br>
              <a:rPr lang="en-US" sz="3600" b="0" dirty="0" smtClean="0">
                <a:solidFill>
                  <a:srgbClr val="065B94"/>
                </a:solidFill>
              </a:rPr>
            </a:br>
            <a:r>
              <a:rPr lang="en-US" sz="3600" b="0" dirty="0" smtClean="0">
                <a:solidFill>
                  <a:srgbClr val="065B94"/>
                </a:solidFill>
              </a:rPr>
              <a:t/>
            </a:r>
            <a:br>
              <a:rPr lang="en-US" sz="3600" b="0" dirty="0" smtClean="0">
                <a:solidFill>
                  <a:srgbClr val="065B94"/>
                </a:solidFill>
              </a:rPr>
            </a:br>
            <a:r>
              <a:rPr lang="en-US" sz="3600" b="0" dirty="0" smtClean="0">
                <a:solidFill>
                  <a:srgbClr val="065B94"/>
                </a:solidFill>
              </a:rPr>
              <a:t>numbers</a:t>
            </a:r>
            <a:r>
              <a:rPr lang="en-US" sz="3600" b="0" dirty="0">
                <a:solidFill>
                  <a:srgbClr val="065B94"/>
                </a:solidFill>
              </a:rPr>
              <a:t>=[10,20,30</a:t>
            </a:r>
            <a:r>
              <a:rPr lang="en-US" sz="3600" b="0" dirty="0" smtClean="0">
                <a:solidFill>
                  <a:srgbClr val="065B94"/>
                </a:solidFill>
              </a:rPr>
              <a:t>]</a:t>
            </a:r>
            <a:br>
              <a:rPr lang="en-US" sz="3600" b="0" dirty="0" smtClean="0">
                <a:solidFill>
                  <a:srgbClr val="065B94"/>
                </a:solidFill>
              </a:rPr>
            </a:br>
            <a:r>
              <a:rPr lang="en-US" sz="3600" b="0" dirty="0" smtClean="0">
                <a:solidFill>
                  <a:srgbClr val="065B94"/>
                </a:solidFill>
              </a:rPr>
              <a:t/>
            </a:r>
            <a:br>
              <a:rPr lang="en-US" sz="3600" b="0" dirty="0" smtClean="0">
                <a:solidFill>
                  <a:srgbClr val="065B94"/>
                </a:solidFill>
              </a:rPr>
            </a:br>
            <a:r>
              <a:rPr lang="en-US" sz="3600" b="0" dirty="0" smtClean="0">
                <a:solidFill>
                  <a:srgbClr val="065B94"/>
                </a:solidFill>
              </a:rPr>
              <a:t>mixed</a:t>
            </a:r>
            <a:r>
              <a:rPr lang="en-US" sz="3600" b="0" dirty="0">
                <a:solidFill>
                  <a:srgbClr val="065B94"/>
                </a:solidFill>
              </a:rPr>
              <a:t>=[1,"Ali",True,5.5]</a:t>
            </a:r>
            <a:endParaRPr lang="en-EG" sz="3600" b="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9751" y="2049239"/>
            <a:ext cx="10158413" cy="3467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names=["</a:t>
            </a:r>
            <a:r>
              <a:rPr lang="en-US" sz="3200" dirty="0" err="1">
                <a:solidFill>
                  <a:srgbClr val="C00000"/>
                </a:solidFill>
              </a:rPr>
              <a:t>Ali","Ahmed","Sara</a:t>
            </a:r>
            <a:r>
              <a:rPr lang="en-US" sz="3200" dirty="0" smtClean="0">
                <a:solidFill>
                  <a:srgbClr val="C00000"/>
                </a:solidFill>
              </a:rPr>
              <a:t>"]</a:t>
            </a:r>
            <a:endParaRPr lang="en-US" sz="3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print(names[0</a:t>
            </a:r>
            <a:r>
              <a:rPr lang="en-US" sz="3200" dirty="0" smtClean="0">
                <a:solidFill>
                  <a:srgbClr val="C00000"/>
                </a:solidFill>
              </a:rPr>
              <a:t>])</a:t>
            </a:r>
            <a:endParaRPr lang="en-US" sz="3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print(names[2])</a:t>
            </a:r>
            <a:endParaRPr lang="en-EG" sz="3200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652564" y="3870635"/>
            <a:ext cx="34419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Negative Index</a:t>
            </a:r>
            <a:endParaRPr lang="ar-EG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1895606" y="4538698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numbers=[10,20,30,40]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print(numbers[-1])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print(numbers[-2])</a:t>
            </a:r>
            <a:endParaRPr lang="ar-EG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804393"/>
            <a:ext cx="3839049" cy="535531"/>
          </a:xfrm>
        </p:spPr>
        <p:txBody>
          <a:bodyPr/>
          <a:lstStyle/>
          <a:p>
            <a:r>
              <a:rPr lang="en-US" dirty="0"/>
              <a:t>Updating List</a:t>
            </a:r>
            <a:endParaRPr lang="en-E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087B3-9DAE-1644-EDFF-3642792E9F39}"/>
              </a:ext>
            </a:extLst>
          </p:cNvPr>
          <p:cNvSpPr/>
          <p:nvPr/>
        </p:nvSpPr>
        <p:spPr>
          <a:xfrm>
            <a:off x="652564" y="3175160"/>
            <a:ext cx="4846362" cy="227400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Poppins Medium" pitchFamily="2" charset="77"/>
                <a:cs typeface="Poppins Medium" pitchFamily="2" charset="77"/>
              </a:rPr>
              <a:t>numbers=[10,20,30]</a:t>
            </a:r>
          </a:p>
          <a:p>
            <a:endParaRPr lang="en-US" sz="2000" b="1" dirty="0">
              <a:latin typeface="Poppins Medium" pitchFamily="2" charset="77"/>
              <a:cs typeface="Poppins Medium" pitchFamily="2" charset="77"/>
            </a:endParaRPr>
          </a:p>
          <a:p>
            <a:r>
              <a:rPr lang="en-US" sz="2000" b="1" dirty="0">
                <a:latin typeface="Poppins Medium" pitchFamily="2" charset="77"/>
                <a:cs typeface="Poppins Medium" pitchFamily="2" charset="77"/>
              </a:rPr>
              <a:t>numbers[1]=50</a:t>
            </a:r>
          </a:p>
          <a:p>
            <a:endParaRPr lang="en-US" sz="2000" b="1" dirty="0">
              <a:latin typeface="Poppins Medium" pitchFamily="2" charset="77"/>
              <a:cs typeface="Poppins Medium" pitchFamily="2" charset="77"/>
            </a:endParaRPr>
          </a:p>
          <a:p>
            <a:r>
              <a:rPr lang="en-US" sz="2000" b="1" dirty="0">
                <a:latin typeface="Poppins Medium" pitchFamily="2" charset="77"/>
                <a:cs typeface="Poppins Medium" pitchFamily="2" charset="77"/>
              </a:rPr>
              <a:t>print(numbers)</a:t>
            </a:r>
            <a:endParaRPr lang="en-US" sz="2000" b="1" dirty="0">
              <a:solidFill>
                <a:schemeClr val="lt1"/>
              </a:solidFill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26101" y="1667036"/>
            <a:ext cx="23903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List Length</a:t>
            </a:r>
            <a:endParaRPr lang="ar-EG" sz="32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77" y="3175158"/>
            <a:ext cx="5188045" cy="227400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18335" y="359384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names=["</a:t>
            </a:r>
            <a:r>
              <a:rPr lang="en-US" sz="2400" b="1" dirty="0" err="1">
                <a:solidFill>
                  <a:schemeClr val="bg1"/>
                </a:solidFill>
              </a:rPr>
              <a:t>Ali","Sara","Ahmed</a:t>
            </a:r>
            <a:r>
              <a:rPr lang="en-US" sz="2400" b="1" dirty="0">
                <a:solidFill>
                  <a:schemeClr val="bg1"/>
                </a:solidFill>
              </a:rPr>
              <a:t>"]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print(</a:t>
            </a:r>
            <a:r>
              <a:rPr lang="en-US" sz="2400" b="1" dirty="0" err="1">
                <a:solidFill>
                  <a:schemeClr val="bg1"/>
                </a:solidFill>
              </a:rPr>
              <a:t>len</a:t>
            </a:r>
            <a:r>
              <a:rPr lang="en-US" sz="2400" b="1" dirty="0">
                <a:solidFill>
                  <a:schemeClr val="bg1"/>
                </a:solidFill>
              </a:rPr>
              <a:t>(names))</a:t>
            </a: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80138-96FD-B9CE-B75F-C5EFE67CAEEA}"/>
              </a:ext>
            </a:extLst>
          </p:cNvPr>
          <p:cNvSpPr/>
          <p:nvPr/>
        </p:nvSpPr>
        <p:spPr>
          <a:xfrm>
            <a:off x="1189487" y="2118037"/>
            <a:ext cx="3557877" cy="33090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numbers=[10,20,30]</a:t>
            </a:r>
          </a:p>
          <a:p>
            <a:endParaRPr lang="en-US" sz="2400" b="1" dirty="0"/>
          </a:p>
          <a:p>
            <a:r>
              <a:rPr lang="en-US" sz="2400" b="1" dirty="0"/>
              <a:t>for n in numbers:</a:t>
            </a:r>
          </a:p>
          <a:p>
            <a:endParaRPr lang="en-US" sz="2400" b="1" dirty="0"/>
          </a:p>
          <a:p>
            <a:r>
              <a:rPr lang="en-US" sz="2400" b="1" dirty="0"/>
              <a:t>    print(n)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>
            <a:spAutoFit/>
          </a:bodyPr>
          <a:lstStyle/>
          <a:p>
            <a:r>
              <a:rPr lang="en-US" sz="3600" dirty="0"/>
              <a:t>Loop Through List</a:t>
            </a:r>
            <a:endParaRPr lang="en-EG" sz="3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945" y="2104339"/>
            <a:ext cx="3908121" cy="331041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08797" y="1371522"/>
            <a:ext cx="19127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append()</a:t>
            </a:r>
            <a:endParaRPr lang="ar-EG" sz="3200" b="1" dirty="0"/>
          </a:p>
        </p:txBody>
      </p:sp>
      <p:sp>
        <p:nvSpPr>
          <p:cNvPr id="13" name="Rectangle 12"/>
          <p:cNvSpPr/>
          <p:nvPr/>
        </p:nvSpPr>
        <p:spPr>
          <a:xfrm>
            <a:off x="7608796" y="2803070"/>
            <a:ext cx="59506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numbers=[10,20]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bg1"/>
                </a:solidFill>
              </a:rPr>
              <a:t>numbers.append</a:t>
            </a:r>
            <a:r>
              <a:rPr lang="en-US" sz="2400" b="1" dirty="0">
                <a:solidFill>
                  <a:schemeClr val="bg1"/>
                </a:solidFill>
              </a:rPr>
              <a:t>(30)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print(numbers)</a:t>
            </a:r>
            <a:endParaRPr lang="ar-E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FA90E-9E1C-4C7F-3466-7FDC6778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513" y="1343013"/>
            <a:ext cx="10515600" cy="535531"/>
          </a:xfrm>
        </p:spPr>
        <p:txBody>
          <a:bodyPr/>
          <a:lstStyle/>
          <a:p>
            <a:r>
              <a:rPr lang="en-US" dirty="0"/>
              <a:t>insert()</a:t>
            </a:r>
            <a:endParaRPr lang="en-EG" dirty="0"/>
          </a:p>
        </p:txBody>
      </p:sp>
      <p:sp>
        <p:nvSpPr>
          <p:cNvPr id="8" name="Rectangle 7"/>
          <p:cNvSpPr/>
          <p:nvPr/>
        </p:nvSpPr>
        <p:spPr>
          <a:xfrm>
            <a:off x="7242645" y="1343013"/>
            <a:ext cx="19159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remove()</a:t>
            </a:r>
            <a:endParaRPr lang="ar-EG" sz="3200" b="1" dirty="0"/>
          </a:p>
        </p:txBody>
      </p:sp>
      <p:sp>
        <p:nvSpPr>
          <p:cNvPr id="9" name="Rectangle 8"/>
          <p:cNvSpPr/>
          <p:nvPr/>
        </p:nvSpPr>
        <p:spPr>
          <a:xfrm>
            <a:off x="1046513" y="3770426"/>
            <a:ext cx="12073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pop()</a:t>
            </a:r>
            <a:endParaRPr lang="ar-EG" sz="3200" b="1" dirty="0"/>
          </a:p>
        </p:txBody>
      </p:sp>
      <p:sp>
        <p:nvSpPr>
          <p:cNvPr id="10" name="Rectangle 9"/>
          <p:cNvSpPr/>
          <p:nvPr/>
        </p:nvSpPr>
        <p:spPr>
          <a:xfrm>
            <a:off x="7242645" y="3710690"/>
            <a:ext cx="12314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sort()</a:t>
            </a:r>
            <a:endParaRPr lang="ar-EG" sz="3200" b="1" dirty="0"/>
          </a:p>
        </p:txBody>
      </p:sp>
      <p:sp>
        <p:nvSpPr>
          <p:cNvPr id="11" name="Rectangle 10"/>
          <p:cNvSpPr/>
          <p:nvPr/>
        </p:nvSpPr>
        <p:spPr>
          <a:xfrm>
            <a:off x="7242645" y="4678750"/>
            <a:ext cx="267413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numbers=[8,2,5,1</a:t>
            </a:r>
            <a:r>
              <a:rPr lang="en-US" sz="2400" dirty="0" smtClean="0">
                <a:solidFill>
                  <a:srgbClr val="C00000"/>
                </a:solidFill>
              </a:rPr>
              <a:t>]</a:t>
            </a:r>
          </a:p>
          <a:p>
            <a:r>
              <a:rPr lang="en-US" sz="2400" dirty="0" err="1" smtClean="0">
                <a:solidFill>
                  <a:srgbClr val="C00000"/>
                </a:solidFill>
              </a:rPr>
              <a:t>numbers.sort</a:t>
            </a:r>
            <a:r>
              <a:rPr lang="en-US" sz="2400" dirty="0" smtClean="0">
                <a:solidFill>
                  <a:srgbClr val="C00000"/>
                </a:solidFill>
              </a:rPr>
              <a:t>()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print(numbers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endParaRPr lang="ar-EG" sz="24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6513" y="4494084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numbers=[10,20,30</a:t>
            </a:r>
            <a:r>
              <a:rPr lang="en-US" sz="2800" dirty="0" smtClean="0">
                <a:solidFill>
                  <a:srgbClr val="C00000"/>
                </a:solidFill>
              </a:rPr>
              <a:t>]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 err="1">
                <a:solidFill>
                  <a:srgbClr val="C00000"/>
                </a:solidFill>
              </a:rPr>
              <a:t>numbers.pop</a:t>
            </a:r>
            <a:r>
              <a:rPr lang="en-US" sz="2800" dirty="0" smtClean="0">
                <a:solidFill>
                  <a:srgbClr val="C00000"/>
                </a:solidFill>
              </a:rPr>
              <a:t>()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print(numbers)</a:t>
            </a:r>
            <a:endParaRPr lang="ar-EG" sz="2800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04011" y="1965154"/>
            <a:ext cx="36910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numbers=[10,20,30</a:t>
            </a:r>
            <a:r>
              <a:rPr lang="en-US" sz="2800" dirty="0" smtClean="0">
                <a:solidFill>
                  <a:srgbClr val="C00000"/>
                </a:solidFill>
              </a:rPr>
              <a:t>]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 err="1">
                <a:solidFill>
                  <a:srgbClr val="C00000"/>
                </a:solidFill>
              </a:rPr>
              <a:t>numbers.remove</a:t>
            </a:r>
            <a:r>
              <a:rPr lang="en-US" sz="2800" dirty="0">
                <a:solidFill>
                  <a:srgbClr val="C00000"/>
                </a:solidFill>
              </a:rPr>
              <a:t>(20</a:t>
            </a:r>
            <a:r>
              <a:rPr lang="en-US" sz="2800" dirty="0" smtClean="0">
                <a:solidFill>
                  <a:srgbClr val="C00000"/>
                </a:solidFill>
              </a:rPr>
              <a:t>)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print(numbers)</a:t>
            </a:r>
            <a:endParaRPr lang="ar-EG" sz="2800" dirty="0">
              <a:solidFill>
                <a:srgbClr val="C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6513" y="1965153"/>
            <a:ext cx="36408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numbers=[10,30</a:t>
            </a:r>
            <a:r>
              <a:rPr lang="en-US" sz="2800" dirty="0" smtClean="0">
                <a:solidFill>
                  <a:srgbClr val="C00000"/>
                </a:solidFill>
              </a:rPr>
              <a:t>]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 err="1">
                <a:solidFill>
                  <a:srgbClr val="C00000"/>
                </a:solidFill>
              </a:rPr>
              <a:t>numbers.insert</a:t>
            </a:r>
            <a:r>
              <a:rPr lang="en-US" sz="2800" dirty="0">
                <a:solidFill>
                  <a:srgbClr val="C00000"/>
                </a:solidFill>
              </a:rPr>
              <a:t>(1,20</a:t>
            </a:r>
            <a:r>
              <a:rPr lang="en-US" sz="2800" dirty="0" smtClean="0">
                <a:solidFill>
                  <a:srgbClr val="C00000"/>
                </a:solidFill>
              </a:rPr>
              <a:t>)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print(numbers)</a:t>
            </a:r>
            <a:endParaRPr lang="ar-EG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70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63DF3E-BC61-3146-FFF5-155B22A7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14" y="1408996"/>
            <a:ext cx="10515600" cy="4524315"/>
          </a:xfrm>
        </p:spPr>
        <p:txBody>
          <a:bodyPr/>
          <a:lstStyle/>
          <a:p>
            <a:r>
              <a:rPr lang="en-US" dirty="0" smtClean="0"/>
              <a:t>Practice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>
                <a:solidFill>
                  <a:srgbClr val="C00000"/>
                </a:solidFill>
              </a:rPr>
              <a:t>Create </a:t>
            </a:r>
            <a:r>
              <a:rPr lang="en-US" b="0" dirty="0">
                <a:solidFill>
                  <a:srgbClr val="C00000"/>
                </a:solidFill>
              </a:rPr>
              <a:t>a list of students</a:t>
            </a:r>
            <a:r>
              <a:rPr lang="en-US" b="0" dirty="0" smtClean="0">
                <a:solidFill>
                  <a:srgbClr val="C00000"/>
                </a:solidFill>
              </a:rPr>
              <a:t>.</a:t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/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Add </a:t>
            </a:r>
            <a:r>
              <a:rPr lang="en-US" b="0" dirty="0">
                <a:solidFill>
                  <a:srgbClr val="C00000"/>
                </a:solidFill>
              </a:rPr>
              <a:t>one student</a:t>
            </a:r>
            <a:r>
              <a:rPr lang="en-US" b="0" dirty="0" smtClean="0">
                <a:solidFill>
                  <a:srgbClr val="C00000"/>
                </a:solidFill>
              </a:rPr>
              <a:t>.</a:t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/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Remove </a:t>
            </a:r>
            <a:r>
              <a:rPr lang="en-US" b="0" dirty="0">
                <a:solidFill>
                  <a:srgbClr val="C00000"/>
                </a:solidFill>
              </a:rPr>
              <a:t>one student</a:t>
            </a:r>
            <a:r>
              <a:rPr lang="en-US" b="0" dirty="0" smtClean="0">
                <a:solidFill>
                  <a:srgbClr val="C00000"/>
                </a:solidFill>
              </a:rPr>
              <a:t>.</a:t>
            </a:r>
            <a:br>
              <a:rPr lang="en-US" b="0" dirty="0" smtClean="0">
                <a:solidFill>
                  <a:srgbClr val="C00000"/>
                </a:solidFill>
              </a:rPr>
            </a:br>
            <a:r>
              <a:rPr lang="en-US" b="0" dirty="0">
                <a:solidFill>
                  <a:srgbClr val="C00000"/>
                </a:solidFill>
              </a:rPr>
              <a:t/>
            </a:r>
            <a:br>
              <a:rPr lang="en-US" b="0" dirty="0">
                <a:solidFill>
                  <a:srgbClr val="C00000"/>
                </a:solidFill>
              </a:rPr>
            </a:br>
            <a:r>
              <a:rPr lang="en-US" b="0" dirty="0" smtClean="0">
                <a:solidFill>
                  <a:srgbClr val="C00000"/>
                </a:solidFill>
              </a:rPr>
              <a:t>Print </a:t>
            </a:r>
            <a:r>
              <a:rPr lang="en-US" b="0" dirty="0">
                <a:solidFill>
                  <a:srgbClr val="C00000"/>
                </a:solidFill>
              </a:rPr>
              <a:t>all students.</a:t>
            </a:r>
            <a:endParaRPr lang="en-EG" b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5241E7-4F8F-A98C-D28F-4F2AAE9A4424}"/>
              </a:ext>
            </a:extLst>
          </p:cNvPr>
          <p:cNvSpPr/>
          <p:nvPr/>
        </p:nvSpPr>
        <p:spPr>
          <a:xfrm>
            <a:off x="9685355" y="1485257"/>
            <a:ext cx="2355500" cy="4463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3F74C-FA0B-BDBB-5CBC-167627C2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79" y="1375802"/>
            <a:ext cx="4602724" cy="535531"/>
          </a:xfrm>
        </p:spPr>
        <p:txBody>
          <a:bodyPr/>
          <a:lstStyle/>
          <a:p>
            <a:r>
              <a:rPr lang="en-US" dirty="0"/>
              <a:t>Mini Project</a:t>
            </a:r>
            <a:endParaRPr lang="en-EG" dirty="0"/>
          </a:p>
        </p:txBody>
      </p:sp>
      <p:sp>
        <p:nvSpPr>
          <p:cNvPr id="7" name="Rectangle 6"/>
          <p:cNvSpPr/>
          <p:nvPr/>
        </p:nvSpPr>
        <p:spPr>
          <a:xfrm>
            <a:off x="2020866" y="216328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Student Grade </a:t>
            </a:r>
            <a:r>
              <a:rPr lang="en-US" sz="2000" b="1" dirty="0" smtClean="0">
                <a:solidFill>
                  <a:srgbClr val="C00000"/>
                </a:solidFill>
              </a:rPr>
              <a:t>System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Create </a:t>
            </a:r>
            <a:r>
              <a:rPr lang="en-US" sz="2000" b="1" dirty="0">
                <a:solidFill>
                  <a:srgbClr val="C00000"/>
                </a:solidFill>
              </a:rPr>
              <a:t>functions </a:t>
            </a:r>
            <a:r>
              <a:rPr lang="en-US" sz="2000" b="1" dirty="0" smtClean="0">
                <a:solidFill>
                  <a:srgbClr val="C00000"/>
                </a:solidFill>
              </a:rPr>
              <a:t>to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065B94"/>
                </a:solidFill>
              </a:rPr>
              <a:t>Add Grade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>
              <a:solidFill>
                <a:srgbClr val="065B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065B94"/>
                </a:solidFill>
              </a:rPr>
              <a:t>Remove Grade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>
              <a:solidFill>
                <a:srgbClr val="065B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065B94"/>
                </a:solidFill>
              </a:rPr>
              <a:t>Print Grades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>
              <a:solidFill>
                <a:srgbClr val="065B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065B94"/>
                </a:solidFill>
              </a:rPr>
              <a:t>Calculate Average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rgbClr val="065B9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065B94"/>
                </a:solidFill>
              </a:rPr>
              <a:t>Find </a:t>
            </a:r>
            <a:r>
              <a:rPr lang="en-US" dirty="0">
                <a:solidFill>
                  <a:srgbClr val="065B94"/>
                </a:solidFill>
              </a:rPr>
              <a:t>Highest Grade</a:t>
            </a:r>
            <a:endParaRPr lang="ar-EG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136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3671" y="1168776"/>
            <a:ext cx="10784910" cy="3637919"/>
          </a:xfrm>
        </p:spPr>
        <p:txBody>
          <a:bodyPr/>
          <a:lstStyle/>
          <a:p>
            <a:r>
              <a:rPr lang="en-US" dirty="0" smtClean="0"/>
              <a:t>“Task”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Largest Number</a:t>
            </a:r>
            <a:br>
              <a:rPr lang="en-US" dirty="0" smtClean="0"/>
            </a:br>
            <a:r>
              <a:rPr lang="en-US" dirty="0" smtClean="0"/>
              <a:t>Smallest Number</a:t>
            </a:r>
            <a:br>
              <a:rPr lang="en-US" dirty="0" smtClean="0"/>
            </a:br>
            <a:r>
              <a:rPr lang="en-US" dirty="0" smtClean="0"/>
              <a:t>Sum </a:t>
            </a:r>
            <a:r>
              <a:rPr lang="en-US"/>
              <a:t>of </a:t>
            </a:r>
            <a:r>
              <a:rPr lang="en-US" smtClean="0"/>
              <a:t>List </a:t>
            </a:r>
            <a:br>
              <a:rPr lang="en-US" smtClean="0"/>
            </a:br>
            <a:r>
              <a:rPr lang="en-US" smtClean="0"/>
              <a:t>AverageCount </a:t>
            </a:r>
            <a:r>
              <a:rPr lang="en-US" dirty="0"/>
              <a:t>Even </a:t>
            </a:r>
            <a:r>
              <a:rPr lang="en-US" dirty="0" err="1"/>
              <a:t>NumbersReverse</a:t>
            </a:r>
            <a:r>
              <a:rPr lang="en-US" dirty="0"/>
              <a:t> </a:t>
            </a:r>
            <a:r>
              <a:rPr lang="en-US" dirty="0" err="1"/>
              <a:t>ListSearch</a:t>
            </a:r>
            <a:r>
              <a:rPr lang="en-US" dirty="0"/>
              <a:t> for </a:t>
            </a:r>
            <a:r>
              <a:rPr lang="en-US" dirty="0" err="1"/>
              <a:t>ElementRemove</a:t>
            </a:r>
            <a:r>
              <a:rPr lang="en-US" dirty="0"/>
              <a:t> </a:t>
            </a:r>
            <a:r>
              <a:rPr lang="en-US" dirty="0" err="1"/>
              <a:t>DuplicatesSort</a:t>
            </a:r>
            <a:r>
              <a:rPr lang="en-US" dirty="0"/>
              <a:t> </a:t>
            </a:r>
            <a:r>
              <a:rPr lang="en-US" dirty="0" err="1"/>
              <a:t>DescendingStudent</a:t>
            </a:r>
            <a:r>
              <a:rPr lang="en-US" dirty="0"/>
              <a:t> Management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744320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5966A4-F207-A426-896E-65A412CE82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F2352-B524-BED8-0142-23868EB6B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F78DCD-5CB2-5358-C84F-F9F08B59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58300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</TotalTime>
  <Words>515</Words>
  <Application>Microsoft Office PowerPoint</Application>
  <PresentationFormat>Widescreen</PresentationFormat>
  <Paragraphs>147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Wingdings</vt:lpstr>
      <vt:lpstr>Poppins Medium</vt:lpstr>
      <vt:lpstr>Inter</vt:lpstr>
      <vt:lpstr>Segoe UI</vt:lpstr>
      <vt:lpstr>Arial</vt:lpstr>
      <vt:lpstr>Arial Unicode MS</vt:lpstr>
      <vt:lpstr>Calibri</vt:lpstr>
      <vt:lpstr>Office Theme</vt:lpstr>
      <vt:lpstr>PowerPoint Presentation</vt:lpstr>
      <vt:lpstr>PowerPoint Presentation</vt:lpstr>
      <vt:lpstr> Learning Outcomes </vt:lpstr>
      <vt:lpstr>PowerPoint Presentation</vt:lpstr>
      <vt:lpstr> Arbitrary Arguments (*args) Sometimes we don't know how many arguments will be passed. </vt:lpstr>
      <vt:lpstr>Example</vt:lpstr>
      <vt:lpstr>Keyword Arguments (**kwargs)</vt:lpstr>
      <vt:lpstr>  Lambda Function  A lambda is a small anonymous function.  Syntax </vt:lpstr>
      <vt:lpstr>More Lambda Examples  add = lambda x,y :x+y  print(add(5,3))   maximum = lambda a,b : a if a&gt;b else b  print(maximum(8,3))</vt:lpstr>
      <vt:lpstr>What is Recursion?</vt:lpstr>
      <vt:lpstr>Factorial Using Recursion</vt:lpstr>
      <vt:lpstr>Recursion vs Loop</vt:lpstr>
      <vt:lpstr>What is a List?  A list is a collection of multiple values.  Example</vt:lpstr>
      <vt:lpstr>Why Lists?</vt:lpstr>
      <vt:lpstr>Creating Lists  names=["Ali","Ahmed","Sara"]  numbers=[10,20,30]  mixed=[1,"Ali",True,5.5]</vt:lpstr>
      <vt:lpstr>Accessing Elements</vt:lpstr>
      <vt:lpstr>Updating List</vt:lpstr>
      <vt:lpstr>Loop Through List</vt:lpstr>
      <vt:lpstr>insert()</vt:lpstr>
      <vt:lpstr>Practice   Create a list of students.  Add one student.  Remove one student.  Print all students.</vt:lpstr>
      <vt:lpstr>Mini Project</vt:lpstr>
      <vt:lpstr>“Task”  Largest Number Smallest Number Sum of List  AverageCount Even NumbersReverse ListSearch for ElementRemove DuplicatesSort DescendingStudent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39</cp:revision>
  <dcterms:created xsi:type="dcterms:W3CDTF">2026-03-27T11:30:08Z</dcterms:created>
  <dcterms:modified xsi:type="dcterms:W3CDTF">2026-07-16T07:35:07Z</dcterms:modified>
</cp:coreProperties>
</file>