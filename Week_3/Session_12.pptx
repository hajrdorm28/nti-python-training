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94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313" r:id="rId11"/>
    <p:sldId id="302" r:id="rId12"/>
    <p:sldId id="314" r:id="rId13"/>
    <p:sldId id="315" r:id="rId14"/>
    <p:sldId id="316" r:id="rId15"/>
    <p:sldId id="317" r:id="rId16"/>
    <p:sldId id="312" r:id="rId17"/>
  </p:sldIdLst>
  <p:sldSz cx="12192000" cy="6858000"/>
  <p:notesSz cx="6858000" cy="9144000"/>
  <p:embeddedFontLst>
    <p:embeddedFont>
      <p:font typeface="Segoe UI" panose="020B0502040204020203" pitchFamily="34" charset="0"/>
      <p:regular r:id="rId19"/>
      <p:bold r:id="rId20"/>
      <p:italic r:id="rId21"/>
      <p:boldItalic r:id="rId22"/>
    </p:embeddedFont>
    <p:embeddedFont>
      <p:font typeface="Calibri" panose="020F0502020204030204" pitchFamily="34" charset="0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528" userDrawn="1">
          <p15:clr>
            <a:srgbClr val="A4A3A4"/>
          </p15:clr>
        </p15:guide>
        <p15:guide id="3" pos="71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5B94"/>
    <a:srgbClr val="0D76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1061" autoAdjust="0"/>
  </p:normalViewPr>
  <p:slideViewPr>
    <p:cSldViewPr snapToGrid="0">
      <p:cViewPr varScale="1">
        <p:scale>
          <a:sx n="85" d="100"/>
          <a:sy n="85" d="100"/>
        </p:scale>
        <p:origin x="138" y="78"/>
      </p:cViewPr>
      <p:guideLst>
        <p:guide orient="horz" pos="3888"/>
        <p:guide pos="528"/>
        <p:guide pos="71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5E4A5-61F0-4A45-A308-BB450F325CC1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D22913-3848-4702-9CA6-43C445879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20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69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01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37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47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84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99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B278F43A-FB5C-B2EB-F9DE-AF246B9BCDD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62" y="1376475"/>
            <a:ext cx="4742246" cy="456210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DAEE64-3165-EBF4-F20C-C39BD64C2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549891"/>
            <a:ext cx="4341467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3049793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CE44F-0AC8-95A4-A0BE-37EFA2F155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2564" y="2192401"/>
            <a:ext cx="8893175" cy="3266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75548F9-F8BC-EFDB-C687-8D0C5A936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3971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24865" y="1495168"/>
            <a:ext cx="7692964" cy="4282634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FF78D9-C1A2-526F-6420-B3D76D0BD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495168"/>
            <a:ext cx="3405071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539461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76163"/>
            <a:ext cx="12192000" cy="342899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9820320-FD11-BAF5-37F4-CF304DE64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684475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90699" y="1556951"/>
            <a:ext cx="2875271" cy="424135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ABAD49B-FDB5-F77F-A443-0E3F5E7156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69319" y="1546501"/>
            <a:ext cx="2875271" cy="424135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66EAC-19C8-6C5F-048D-4DC4B555FC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068" y="1316734"/>
            <a:ext cx="4074856" cy="1983107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556324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7B0C6339-CA41-2A13-E31E-C9B624A249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198" y="2444345"/>
            <a:ext cx="3294042" cy="294174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1EF183C-CE0C-2B93-D215-252B683E94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18112" y="1645630"/>
            <a:ext cx="3294042" cy="438355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9818556-CB74-61E7-75FD-256A24315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355375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77395" y="2561353"/>
            <a:ext cx="3254625" cy="21076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9F59937-5E08-66DF-EBE6-71F9DF9C98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00171" y="2561353"/>
            <a:ext cx="3254625" cy="21076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B3B78D-483A-DCE1-6079-3B46A8551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00991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4056" y="2231136"/>
            <a:ext cx="3254626" cy="3255264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9FEAE8-5AF9-03B3-0844-DDBF6CB13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393111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91731" y="1426865"/>
            <a:ext cx="5869214" cy="294390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9BD62F-0B76-88A2-E29D-59829B77C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600282"/>
            <a:ext cx="3929484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012669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25143" y="1589524"/>
            <a:ext cx="6966857" cy="424736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FF799DE-AC33-6FB4-AA25-AEF9862EA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589524"/>
            <a:ext cx="365817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127684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0712" y="1320323"/>
            <a:ext cx="4204740" cy="498278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2D27499-F706-FAB7-D036-ED85BD77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162" y="1320323"/>
            <a:ext cx="383904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204529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199" y="3285120"/>
            <a:ext cx="5043461" cy="2555623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85313B9-1E3D-25CD-C016-3DA6D7EFD11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10341" y="1557495"/>
            <a:ext cx="5294667" cy="284235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4CE7931-72DD-ACE7-A685-6ECE67AAB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705" y="1313548"/>
            <a:ext cx="4441950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523974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7469" y="2459715"/>
            <a:ext cx="4783157" cy="33940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721E2BF-599D-B1F9-D6E8-5DCA4FF2B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791520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81455" y="1552454"/>
            <a:ext cx="5613400" cy="4247361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AE96D8-BF7F-6004-FB2D-866215855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71" y="3026520"/>
            <a:ext cx="4009871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927487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7973" y="2975832"/>
            <a:ext cx="8036051" cy="290684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2D82A6-9BE4-1B56-B81C-E40D68A6C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9253564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721" y="1373448"/>
            <a:ext cx="3484625" cy="432396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CD8A88D9-93EB-19DF-C0DB-7F020B3F07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57323" y="1373448"/>
            <a:ext cx="2970520" cy="432396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BFA21-027C-9D7E-86C4-6A892D55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3327970"/>
            <a:ext cx="3758662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0532107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83530" y="2471257"/>
            <a:ext cx="4928616" cy="330905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D4F9BE-3AC0-19C2-9187-3FD8A481A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256375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22483-4632-E171-2855-7D99A603FA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2564" y="2224603"/>
            <a:ext cx="10158413" cy="3467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6BE785-A8E6-66CF-A260-2DF94E4BC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22038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125" y="1524612"/>
            <a:ext cx="5694218" cy="4420275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521626-1B9C-F9E7-848F-8656655CF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582794"/>
            <a:ext cx="383904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0749987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84629" y="2337059"/>
            <a:ext cx="4928616" cy="330905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34112C-F87F-EA2E-4F5B-03A38B938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55222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458097"/>
            <a:ext cx="3526971" cy="473897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2C1E3-120D-3FEC-1B77-2A36BF6D4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6875" y="1553089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603250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51909" y="2339818"/>
            <a:ext cx="2909350" cy="342793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40B098B3-79E1-266E-BB89-C5D12EB23DC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59547" y="2339818"/>
            <a:ext cx="2909350" cy="342793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40E445-A68C-4D36-E75A-60468A3FE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6896438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9882" y="2773345"/>
            <a:ext cx="5169483" cy="300445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B439235-1612-8175-756F-EC4690BF4E8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2773345"/>
            <a:ext cx="5169483" cy="300445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F477963-0E68-6BE9-685A-14AC4960E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40324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4259" y="1470454"/>
            <a:ext cx="4463683" cy="439990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E7F65-8C2A-99A3-29F7-AB052EE6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5772" y="1580088"/>
            <a:ext cx="4602724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30082140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90990" y="2318009"/>
            <a:ext cx="3461119" cy="346111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45EB47-DFC0-2E76-0595-02B2E4546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404645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6750" y="2200589"/>
            <a:ext cx="3461118" cy="387349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21F8B9-D5FB-9194-E851-27D411D7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846613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30723" y="1507524"/>
            <a:ext cx="3154531" cy="433056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FDA4CFAE-E2E2-884F-70F5-32FCCDCD7A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22136" y="1507524"/>
            <a:ext cx="3154532" cy="433056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DBEE-D77F-11A7-DCDC-8738B648E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726" y="3211081"/>
            <a:ext cx="2159997" cy="1255728"/>
          </a:xfrm>
        </p:spPr>
        <p:txBody>
          <a:bodyPr>
            <a:sp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500069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15DC9D-6410-4FCE-22DB-5A4A3E96802F}"/>
              </a:ext>
            </a:extLst>
          </p:cNvPr>
          <p:cNvPicPr/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9263767-B6AA-FEF6-295D-20D68A167F80}"/>
              </a:ext>
            </a:extLst>
          </p:cNvPr>
          <p:cNvSpPr/>
          <p:nvPr userDrawn="1"/>
        </p:nvSpPr>
        <p:spPr>
          <a:xfrm>
            <a:off x="884503" y="6172205"/>
            <a:ext cx="685800" cy="685800"/>
          </a:xfrm>
          <a:prstGeom prst="rect">
            <a:avLst/>
          </a:prstGeom>
          <a:solidFill>
            <a:schemeClr val="accent1"/>
          </a:solidFill>
          <a:ln w="25400" cap="rnd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60E2A6B-A809-4840-BF14-8648BC0BDF87}" type="slidenum">
              <a:rPr lang="id-ID" sz="1300" b="1" smtClean="0">
                <a:solidFill>
                  <a:schemeClr val="bg2"/>
                </a:solidFill>
                <a:latin typeface="Poppins Medium" pitchFamily="2" charset="77"/>
                <a:ea typeface="Inter" panose="02000503000000020004" pitchFamily="2" charset="0"/>
                <a:cs typeface="Poppins Medium" pitchFamily="2" charset="77"/>
              </a:rPr>
              <a:pPr algn="ctr"/>
              <a:t>‹#›</a:t>
            </a:fld>
            <a:endParaRPr lang="en-US" sz="1300" b="1">
              <a:solidFill>
                <a:schemeClr val="bg2"/>
              </a:solidFill>
              <a:latin typeface="Poppins Medium" pitchFamily="2" charset="77"/>
              <a:ea typeface="Inter" panose="02000503000000020004" pitchFamily="2" charset="0"/>
              <a:cs typeface="Poppins Medium" pitchFamily="2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DAD369-F2D1-9F1E-1936-EEF937EF9009}"/>
              </a:ext>
            </a:extLst>
          </p:cNvPr>
          <p:cNvSpPr/>
          <p:nvPr userDrawn="1"/>
        </p:nvSpPr>
        <p:spPr>
          <a:xfrm>
            <a:off x="9800473" y="6403136"/>
            <a:ext cx="1629527" cy="411478"/>
          </a:xfrm>
          <a:prstGeom prst="rect">
            <a:avLst/>
          </a:prstGeom>
          <a:noFill/>
          <a:ln w="25400" cap="rnd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2"/>
                </a:solidFill>
                <a:latin typeface="Poppins Medium" pitchFamily="2" charset="77"/>
                <a:ea typeface="Inter" panose="02000503000000020004" pitchFamily="2" charset="0"/>
                <a:cs typeface="Poppins Medium" pitchFamily="2" charset="77"/>
              </a:rPr>
              <a:t>Copyright @ 2026 NTI </a:t>
            </a:r>
            <a:endParaRPr lang="en-US" sz="1000" dirty="0">
              <a:solidFill>
                <a:schemeClr val="tx2"/>
              </a:solidFill>
              <a:latin typeface="Poppins Medium" pitchFamily="2" charset="77"/>
              <a:ea typeface="Inter" panose="02000503000000020004" pitchFamily="2" charset="0"/>
              <a:cs typeface="Poppins Medium" pitchFamily="2" charset="77"/>
            </a:endParaRP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B3B6FB33-A672-9B82-41E4-0AC900F93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3067"/>
            <a:ext cx="10515600" cy="547842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en-US" dirty="0"/>
              <a:t>Click to edit Master title style</a:t>
            </a:r>
            <a:endParaRPr lang="en-EG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E7308B9-242D-32FB-28B8-815AFC14B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564" y="2008412"/>
            <a:ext cx="10515600" cy="3739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E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484B76-34FB-C4DC-593D-8783A64B409D}"/>
              </a:ext>
            </a:extLst>
          </p:cNvPr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633075" y="184578"/>
            <a:ext cx="1768481" cy="8776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FDA9D8-55BC-8A23-77AE-11215C839C67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9549800" y="257729"/>
            <a:ext cx="1513435" cy="73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98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>
              <a:lumMod val="85000"/>
              <a:lumOff val="15000"/>
            </a:schemeClr>
          </a:solidFill>
          <a:latin typeface="Poppins Medium" pitchFamily="2" charset="77"/>
          <a:ea typeface="+mj-ea"/>
          <a:cs typeface="Poppins Medium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8BB33DD-B563-558B-A025-FB92064EDF1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9DEECA3-5394-9AC0-01CC-D16A223C28EF}"/>
              </a:ext>
            </a:extLst>
          </p:cNvPr>
          <p:cNvSpPr/>
          <p:nvPr/>
        </p:nvSpPr>
        <p:spPr>
          <a:xfrm>
            <a:off x="8905060" y="1148050"/>
            <a:ext cx="2526013" cy="4742245"/>
          </a:xfrm>
          <a:prstGeom prst="rect">
            <a:avLst/>
          </a:prstGeom>
          <a:solidFill>
            <a:schemeClr val="accent1"/>
          </a:solidFill>
          <a:ln w="12700" cap="rnd">
            <a:noFill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09379A-6685-5A36-1A51-C194755EBC96}"/>
              </a:ext>
            </a:extLst>
          </p:cNvPr>
          <p:cNvSpPr txBox="1"/>
          <p:nvPr/>
        </p:nvSpPr>
        <p:spPr>
          <a:xfrm>
            <a:off x="760927" y="3206864"/>
            <a:ext cx="4430731" cy="185358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5400">
                <a:solidFill>
                  <a:schemeClr val="tx2"/>
                </a:solidFill>
                <a:latin typeface="Inter ExtraBold" panose="02000503000000020004" pitchFamily="2" charset="0"/>
                <a:ea typeface="+mj-ea"/>
                <a:cs typeface="+mj-cs"/>
              </a:defRPr>
            </a:lvl1pPr>
          </a:lstStyle>
          <a:p>
            <a:pPr algn="l"/>
            <a:r>
              <a:rPr lang="en-US" sz="6600" b="1" dirty="0">
                <a:latin typeface="Poppins Medium" pitchFamily="2" charset="77"/>
                <a:cs typeface="Poppins Medium" pitchFamily="2" charset="77"/>
              </a:rPr>
              <a:t>SUMMER</a:t>
            </a:r>
          </a:p>
          <a:p>
            <a:pPr algn="l"/>
            <a:r>
              <a:rPr lang="en-US" sz="6600" b="1" dirty="0">
                <a:latin typeface="Poppins Medium" pitchFamily="2" charset="77"/>
                <a:cs typeface="Poppins Medium" pitchFamily="2" charset="77"/>
              </a:rPr>
              <a:t>TRAINING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AF8EEF-9065-C8BD-C95F-69F4F2221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10" y="151463"/>
            <a:ext cx="1768481" cy="8776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325AA9-937B-9722-93B6-6A87406DAF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8590" y="149934"/>
            <a:ext cx="1513435" cy="7313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9557" y="5223353"/>
            <a:ext cx="5562164" cy="120032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600" b="1" dirty="0" smtClean="0">
                <a:solidFill>
                  <a:srgbClr val="065B94"/>
                </a:solidFill>
              </a:rPr>
              <a:t>Instructor : </a:t>
            </a:r>
            <a:r>
              <a:rPr lang="en-US" sz="3600" b="1" dirty="0" err="1" smtClean="0">
                <a:solidFill>
                  <a:srgbClr val="065B94"/>
                </a:solidFill>
              </a:rPr>
              <a:t>Doaa</a:t>
            </a:r>
            <a:r>
              <a:rPr lang="en-US" sz="3600" b="1" dirty="0" smtClean="0">
                <a:solidFill>
                  <a:srgbClr val="065B94"/>
                </a:solidFill>
              </a:rPr>
              <a:t> </a:t>
            </a:r>
            <a:r>
              <a:rPr lang="en-US" sz="3600" b="1" dirty="0" err="1" smtClean="0">
                <a:solidFill>
                  <a:srgbClr val="065B94"/>
                </a:solidFill>
              </a:rPr>
              <a:t>M.Taha</a:t>
            </a:r>
            <a:endParaRPr lang="en-US" sz="3600" b="1" dirty="0" smtClean="0">
              <a:solidFill>
                <a:srgbClr val="065B94"/>
              </a:solidFill>
            </a:endParaRPr>
          </a:p>
          <a:p>
            <a:r>
              <a:rPr lang="en-US" sz="3600" b="1" dirty="0" smtClean="0">
                <a:solidFill>
                  <a:srgbClr val="065B94"/>
                </a:solidFill>
              </a:rPr>
              <a:t>Data Analyst</a:t>
            </a:r>
            <a:endParaRPr lang="ar-EG" sz="3600" b="1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835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0744C2-E677-420B-89A6-2E2BEE86E3C0}"/>
              </a:ext>
            </a:extLst>
          </p:cNvPr>
          <p:cNvSpPr/>
          <p:nvPr/>
        </p:nvSpPr>
        <p:spPr>
          <a:xfrm>
            <a:off x="0" y="2095324"/>
            <a:ext cx="12192000" cy="3644900"/>
          </a:xfrm>
          <a:prstGeom prst="rect">
            <a:avLst/>
          </a:prstGeom>
          <a:solidFill>
            <a:srgbClr val="065B9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cs typeface="Poppins Medium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0526AB-A15D-F80A-8A3D-31B493CC197F}"/>
              </a:ext>
            </a:extLst>
          </p:cNvPr>
          <p:cNvSpPr txBox="1"/>
          <p:nvPr/>
        </p:nvSpPr>
        <p:spPr>
          <a:xfrm>
            <a:off x="-237995" y="1722655"/>
            <a:ext cx="1220035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800" b="1" dirty="0"/>
          </a:p>
          <a:p>
            <a:endParaRPr lang="en-US" sz="6000" b="1" dirty="0"/>
          </a:p>
          <a:p>
            <a:pPr algn="r"/>
            <a:r>
              <a:rPr lang="en-US" sz="4000" b="1" dirty="0">
                <a:solidFill>
                  <a:schemeClr val="bg1"/>
                </a:solidFill>
              </a:rPr>
              <a:t>Session </a:t>
            </a:r>
            <a:r>
              <a:rPr lang="en-US" sz="4000" b="1" dirty="0" smtClean="0">
                <a:solidFill>
                  <a:schemeClr val="bg1"/>
                </a:solidFill>
              </a:rPr>
              <a:t>12: </a:t>
            </a:r>
            <a:r>
              <a:rPr lang="en-US" sz="3600" dirty="0">
                <a:solidFill>
                  <a:schemeClr val="bg1"/>
                </a:solidFill>
              </a:rPr>
              <a:t>Object-Oriented Programming (Advanced)</a:t>
            </a:r>
            <a:endParaRPr lang="en-US" sz="3600" b="1" dirty="0">
              <a:solidFill>
                <a:schemeClr val="bg1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39967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02E416-D2F6-5691-B5D3-0F318A918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385" y="1358858"/>
            <a:ext cx="10515600" cy="646331"/>
          </a:xfrm>
        </p:spPr>
        <p:txBody>
          <a:bodyPr/>
          <a:lstStyle/>
          <a:p>
            <a:r>
              <a:rPr lang="en-US" sz="4000" dirty="0"/>
              <a:t>Learning Outcomes</a:t>
            </a:r>
            <a:endParaRPr lang="en-EG" sz="40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778136-80FD-6B50-54D6-A3954F50D64C}"/>
              </a:ext>
            </a:extLst>
          </p:cNvPr>
          <p:cNvSpPr txBox="1"/>
          <p:nvPr/>
        </p:nvSpPr>
        <p:spPr>
          <a:xfrm>
            <a:off x="5730149" y="2970077"/>
            <a:ext cx="5531470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smtClean="0">
                <a:solidFill>
                  <a:schemeClr val="bg2"/>
                </a:solidFill>
                <a:latin typeface="+mj-lt"/>
                <a:cs typeface="Segoe UI" panose="020B0502040204020203" pitchFamily="34" charset="0"/>
              </a:rPr>
              <a:t>r</a:t>
            </a:r>
            <a:endParaRPr lang="en-US" sz="1600" dirty="0">
              <a:solidFill>
                <a:schemeClr val="bg2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2037D3-AC89-8E5A-BCA6-061E80E19998}"/>
              </a:ext>
            </a:extLst>
          </p:cNvPr>
          <p:cNvSpPr txBox="1"/>
          <p:nvPr/>
        </p:nvSpPr>
        <p:spPr>
          <a:xfrm>
            <a:off x="1194005" y="1574427"/>
            <a:ext cx="101379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b="0">
                <a:solidFill>
                  <a:schemeClr val="tx2"/>
                </a:solidFill>
                <a:latin typeface="Playfair Display" pitchFamily="2" charset="0"/>
              </a:defRPr>
            </a:lvl1pPr>
          </a:lstStyle>
          <a:p>
            <a:endParaRPr lang="en-US" sz="3600" b="1" dirty="0"/>
          </a:p>
          <a:p>
            <a:endParaRPr lang="en-US" sz="3600" dirty="0"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761975" y="1910871"/>
            <a:ext cx="994762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sz="3200" b="1" dirty="0">
                <a:solidFill>
                  <a:srgbClr val="C00000"/>
                </a:solidFill>
              </a:rPr>
              <a:t>By the end of this session, you will be able to</a:t>
            </a:r>
            <a:r>
              <a:rPr lang="en-US" sz="3200" b="1" dirty="0" smtClean="0">
                <a:solidFill>
                  <a:srgbClr val="C00000"/>
                </a:solidFill>
              </a:rPr>
              <a:t>:</a:t>
            </a: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341611" y="2395240"/>
            <a:ext cx="7979835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b="1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/>
              <a:t>Review OOP concepts.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/>
              <a:t>Create multiple objects.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/>
              <a:t>Understand Encapsulation.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/>
              <a:t>Understand Inheritance.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/>
              <a:t>Understand Method Overriding.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 smtClean="0"/>
              <a:t>Build </a:t>
            </a:r>
            <a:r>
              <a:rPr lang="en-US" sz="3200" dirty="0"/>
              <a:t>a complete OOP application. </a:t>
            </a:r>
          </a:p>
        </p:txBody>
      </p:sp>
    </p:spTree>
    <p:extLst>
      <p:ext uri="{BB962C8B-B14F-4D97-AF65-F5344CB8AC3E}">
        <p14:creationId xmlns:p14="http://schemas.microsoft.com/office/powerpoint/2010/main" val="1625415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78634-F6B2-B5A9-441F-37C6B8A6B0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27797" y="729939"/>
            <a:ext cx="4074856" cy="590931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Review</a:t>
            </a:r>
            <a:endParaRPr lang="en-EG" sz="3600" b="1" dirty="0"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5746" y="1364896"/>
            <a:ext cx="22333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65B94"/>
                </a:solidFill>
              </a:rPr>
              <a:t>What is OOP?</a:t>
            </a:r>
            <a:endParaRPr lang="ar-EG" sz="2400" b="1" dirty="0">
              <a:solidFill>
                <a:srgbClr val="065B94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5243" y="1796917"/>
            <a:ext cx="116004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Object-Oriented Programming is a programming style that organizes code into classes and objects.</a:t>
            </a:r>
            <a:endParaRPr lang="ar-EG" sz="2000" dirty="0"/>
          </a:p>
        </p:txBody>
      </p:sp>
      <p:sp>
        <p:nvSpPr>
          <p:cNvPr id="9" name="Rectangle 8"/>
          <p:cNvSpPr/>
          <p:nvPr/>
        </p:nvSpPr>
        <p:spPr>
          <a:xfrm>
            <a:off x="455243" y="2244752"/>
            <a:ext cx="26605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65B94"/>
                </a:solidFill>
              </a:rPr>
              <a:t>What is a Class?</a:t>
            </a:r>
            <a:endParaRPr lang="ar-EG" sz="2400" b="1" dirty="0">
              <a:solidFill>
                <a:srgbClr val="065B94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512087" y="2234967"/>
            <a:ext cx="60378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A blueprint or template for creating objects.</a:t>
            </a:r>
            <a:endParaRPr lang="ar-EG" sz="2400" dirty="0"/>
          </a:p>
        </p:txBody>
      </p:sp>
      <p:sp>
        <p:nvSpPr>
          <p:cNvPr id="11" name="Rectangle 10"/>
          <p:cNvSpPr/>
          <p:nvPr/>
        </p:nvSpPr>
        <p:spPr>
          <a:xfrm>
            <a:off x="434404" y="2924568"/>
            <a:ext cx="24897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rgbClr val="065B94"/>
                </a:solidFill>
              </a:rPr>
              <a:t>What is an Object?</a:t>
            </a:r>
            <a:endParaRPr lang="ar-EG" sz="2000" b="1" dirty="0">
              <a:solidFill>
                <a:srgbClr val="065B94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558763" y="2893790"/>
            <a:ext cx="32640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An instance of a class.</a:t>
            </a:r>
            <a:endParaRPr lang="ar-EG" sz="2400" dirty="0"/>
          </a:p>
        </p:txBody>
      </p:sp>
      <p:sp>
        <p:nvSpPr>
          <p:cNvPr id="13" name="Rectangle 12"/>
          <p:cNvSpPr/>
          <p:nvPr/>
        </p:nvSpPr>
        <p:spPr>
          <a:xfrm>
            <a:off x="434404" y="3458716"/>
            <a:ext cx="27512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65B94"/>
                </a:solidFill>
              </a:rPr>
              <a:t>What is an Attribute?</a:t>
            </a:r>
            <a:endParaRPr lang="ar-EG" sz="2000" b="1" dirty="0">
              <a:solidFill>
                <a:srgbClr val="065B94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512087" y="3427097"/>
            <a:ext cx="40879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Data stored inside an object.</a:t>
            </a:r>
            <a:endParaRPr lang="ar-EG" sz="2400" dirty="0"/>
          </a:p>
        </p:txBody>
      </p:sp>
      <p:sp>
        <p:nvSpPr>
          <p:cNvPr id="15" name="Rectangle 14"/>
          <p:cNvSpPr/>
          <p:nvPr/>
        </p:nvSpPr>
        <p:spPr>
          <a:xfrm>
            <a:off x="434404" y="4185075"/>
            <a:ext cx="24481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65B94"/>
                </a:solidFill>
              </a:rPr>
              <a:t>What is a Method?</a:t>
            </a:r>
            <a:endParaRPr lang="ar-EG" sz="2000" b="1" dirty="0">
              <a:solidFill>
                <a:srgbClr val="065B94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539241" y="4185075"/>
            <a:ext cx="29917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A function inside a class.</a:t>
            </a:r>
            <a:endParaRPr lang="ar-EG" sz="2000" dirty="0"/>
          </a:p>
        </p:txBody>
      </p:sp>
      <p:sp>
        <p:nvSpPr>
          <p:cNvPr id="17" name="Rectangle 16"/>
          <p:cNvSpPr/>
          <p:nvPr/>
        </p:nvSpPr>
        <p:spPr>
          <a:xfrm>
            <a:off x="431266" y="4822072"/>
            <a:ext cx="33121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65B94"/>
                </a:solidFill>
              </a:rPr>
              <a:t>What is Constructor?</a:t>
            </a:r>
            <a:endParaRPr lang="ar-EG" sz="2400" b="1" dirty="0">
              <a:solidFill>
                <a:srgbClr val="065B94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027797" y="4560461"/>
            <a:ext cx="6096000" cy="984885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  <a:p>
            <a:r>
              <a:rPr lang="en-US" sz="2000" b="1" dirty="0"/>
              <a:t>A special method that runs automatically when an object is created.</a:t>
            </a:r>
          </a:p>
        </p:txBody>
      </p:sp>
    </p:spTree>
    <p:extLst>
      <p:ext uri="{BB962C8B-B14F-4D97-AF65-F5344CB8AC3E}">
        <p14:creationId xmlns:p14="http://schemas.microsoft.com/office/powerpoint/2010/main" val="1556279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810800-D88D-544B-9928-C765DD7B8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611" y="1123445"/>
            <a:ext cx="10515600" cy="1588127"/>
          </a:xfrm>
        </p:spPr>
        <p:txBody>
          <a:bodyPr/>
          <a:lstStyle/>
          <a:p>
            <a:r>
              <a:rPr lang="en-US" sz="3600" dirty="0" smtClean="0"/>
              <a:t>Encapsulation</a:t>
            </a:r>
            <a:br>
              <a:rPr lang="en-US" sz="3600" dirty="0" smtClean="0"/>
            </a:b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 smtClean="0"/>
              <a:t>    </a:t>
            </a:r>
            <a:r>
              <a:rPr lang="en-US" sz="3600" b="0" dirty="0" smtClean="0"/>
              <a:t>Definition</a:t>
            </a:r>
            <a:endParaRPr lang="en-US" sz="3600" b="0" dirty="0"/>
          </a:p>
        </p:txBody>
      </p:sp>
      <p:sp>
        <p:nvSpPr>
          <p:cNvPr id="5" name="Rectangle 4"/>
          <p:cNvSpPr/>
          <p:nvPr/>
        </p:nvSpPr>
        <p:spPr>
          <a:xfrm>
            <a:off x="1615851" y="2788074"/>
            <a:ext cx="866383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65B94"/>
                </a:solidFill>
              </a:rPr>
              <a:t>Encapsulation means combining data and methods inside one class</a:t>
            </a:r>
            <a:r>
              <a:rPr lang="en-US" sz="2000" dirty="0" smtClean="0">
                <a:solidFill>
                  <a:srgbClr val="065B94"/>
                </a:solidFill>
              </a:rPr>
              <a:t>.</a:t>
            </a:r>
          </a:p>
          <a:p>
            <a:r>
              <a:rPr lang="en-US" sz="2000" dirty="0" smtClean="0">
                <a:solidFill>
                  <a:srgbClr val="065B94"/>
                </a:solidFill>
              </a:rPr>
              <a:t>It </a:t>
            </a:r>
            <a:r>
              <a:rPr lang="en-US" sz="2000" dirty="0">
                <a:solidFill>
                  <a:srgbClr val="065B94"/>
                </a:solidFill>
              </a:rPr>
              <a:t>protects the data from being modified incorrectly.</a:t>
            </a:r>
            <a:endParaRPr lang="ar-EG" sz="2000" dirty="0">
              <a:solidFill>
                <a:srgbClr val="065B94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50369" y="4001291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class Student</a:t>
            </a:r>
            <a:r>
              <a:rPr lang="en-US" sz="2400" b="1" dirty="0" smtClean="0">
                <a:solidFill>
                  <a:srgbClr val="C00000"/>
                </a:solidFill>
              </a:rPr>
              <a:t>:</a:t>
            </a:r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2400" b="1" dirty="0">
                <a:solidFill>
                  <a:srgbClr val="C00000"/>
                </a:solidFill>
              </a:rPr>
              <a:t>    </a:t>
            </a:r>
            <a:r>
              <a:rPr lang="en-US" sz="2400" b="1" dirty="0" err="1">
                <a:solidFill>
                  <a:srgbClr val="C00000"/>
                </a:solidFill>
              </a:rPr>
              <a:t>def</a:t>
            </a:r>
            <a:r>
              <a:rPr lang="en-US" sz="2400" b="1" dirty="0">
                <a:solidFill>
                  <a:srgbClr val="C00000"/>
                </a:solidFill>
              </a:rPr>
              <a:t> __</a:t>
            </a:r>
            <a:r>
              <a:rPr lang="en-US" sz="2400" b="1" dirty="0" err="1">
                <a:solidFill>
                  <a:srgbClr val="C00000"/>
                </a:solidFill>
              </a:rPr>
              <a:t>init</a:t>
            </a:r>
            <a:r>
              <a:rPr lang="en-US" sz="2400" b="1" dirty="0">
                <a:solidFill>
                  <a:srgbClr val="C00000"/>
                </a:solidFill>
              </a:rPr>
              <a:t>__(</a:t>
            </a:r>
            <a:r>
              <a:rPr lang="en-US" sz="2400" b="1" dirty="0" err="1">
                <a:solidFill>
                  <a:srgbClr val="C00000"/>
                </a:solidFill>
              </a:rPr>
              <a:t>self,name,grade</a:t>
            </a:r>
            <a:r>
              <a:rPr lang="en-US" sz="2400" b="1" dirty="0" smtClean="0">
                <a:solidFill>
                  <a:srgbClr val="C00000"/>
                </a:solidFill>
              </a:rPr>
              <a:t>):</a:t>
            </a:r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2400" b="1" dirty="0">
                <a:solidFill>
                  <a:srgbClr val="C00000"/>
                </a:solidFill>
              </a:rPr>
              <a:t>        </a:t>
            </a:r>
            <a:r>
              <a:rPr lang="en-US" sz="2400" b="1" dirty="0" smtClean="0">
                <a:solidFill>
                  <a:srgbClr val="C00000"/>
                </a:solidFill>
              </a:rPr>
              <a:t>self.name=name</a:t>
            </a:r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2400" b="1" dirty="0">
                <a:solidFill>
                  <a:srgbClr val="C00000"/>
                </a:solidFill>
              </a:rPr>
              <a:t>        </a:t>
            </a:r>
            <a:r>
              <a:rPr lang="en-US" sz="2400" b="1" dirty="0" err="1" smtClean="0">
                <a:solidFill>
                  <a:srgbClr val="C00000"/>
                </a:solidFill>
              </a:rPr>
              <a:t>self.grade</a:t>
            </a:r>
            <a:r>
              <a:rPr lang="en-US" sz="2400" b="1" dirty="0" smtClean="0">
                <a:solidFill>
                  <a:srgbClr val="C00000"/>
                </a:solidFill>
              </a:rPr>
              <a:t>=grade</a:t>
            </a:r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2400" b="1" dirty="0">
                <a:solidFill>
                  <a:srgbClr val="C00000"/>
                </a:solidFill>
              </a:rPr>
              <a:t>    </a:t>
            </a:r>
            <a:r>
              <a:rPr lang="en-US" sz="2400" b="1" dirty="0" err="1">
                <a:solidFill>
                  <a:srgbClr val="C00000"/>
                </a:solidFill>
              </a:rPr>
              <a:t>def</a:t>
            </a:r>
            <a:r>
              <a:rPr lang="en-US" sz="2400" b="1" dirty="0">
                <a:solidFill>
                  <a:srgbClr val="C00000"/>
                </a:solidFill>
              </a:rPr>
              <a:t> display(self</a:t>
            </a:r>
            <a:r>
              <a:rPr lang="en-US" sz="2400" b="1" dirty="0" smtClean="0">
                <a:solidFill>
                  <a:srgbClr val="C00000"/>
                </a:solidFill>
              </a:rPr>
              <a:t>):</a:t>
            </a:r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2400" b="1" dirty="0">
                <a:solidFill>
                  <a:srgbClr val="C00000"/>
                </a:solidFill>
              </a:rPr>
              <a:t>        print(</a:t>
            </a:r>
            <a:r>
              <a:rPr lang="en-US" sz="2400" b="1" dirty="0" err="1">
                <a:solidFill>
                  <a:srgbClr val="C00000"/>
                </a:solidFill>
              </a:rPr>
              <a:t>self.name,self.grade</a:t>
            </a:r>
            <a:r>
              <a:rPr lang="en-US" sz="2400" b="1" dirty="0">
                <a:solidFill>
                  <a:srgbClr val="C00000"/>
                </a:solidFill>
              </a:rPr>
              <a:t>)</a:t>
            </a:r>
            <a:endParaRPr lang="ar-EG" sz="2400" b="1" dirty="0">
              <a:solidFill>
                <a:srgbClr val="C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72070" y="3816149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Create Object</a:t>
            </a:r>
            <a:endParaRPr lang="ar-EG" sz="2800" b="1" dirty="0"/>
          </a:p>
        </p:txBody>
      </p:sp>
      <p:sp>
        <p:nvSpPr>
          <p:cNvPr id="10" name="Rectangle 9"/>
          <p:cNvSpPr/>
          <p:nvPr/>
        </p:nvSpPr>
        <p:spPr>
          <a:xfrm>
            <a:off x="8472070" y="486214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s1=Student("Ali",95)</a:t>
            </a:r>
          </a:p>
          <a:p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2400" b="1" dirty="0">
                <a:solidFill>
                  <a:srgbClr val="C00000"/>
                </a:solidFill>
              </a:rPr>
              <a:t>s1.display()</a:t>
            </a:r>
            <a:endParaRPr lang="ar-EG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9683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CD770F-3897-47FC-371D-7EC698F23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48" y="1339103"/>
            <a:ext cx="10515600" cy="590931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/>
              <a:t>Public Attributes</a:t>
            </a:r>
            <a:endParaRPr lang="en-EG" sz="3600" dirty="0"/>
          </a:p>
        </p:txBody>
      </p:sp>
      <p:sp>
        <p:nvSpPr>
          <p:cNvPr id="3" name="Rectangle 2"/>
          <p:cNvSpPr/>
          <p:nvPr/>
        </p:nvSpPr>
        <p:spPr>
          <a:xfrm>
            <a:off x="1369513" y="1930034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class Student:</a:t>
            </a:r>
          </a:p>
          <a:p>
            <a:endParaRPr lang="en-US" sz="2800" dirty="0">
              <a:solidFill>
                <a:srgbClr val="C00000"/>
              </a:solidFill>
            </a:endParaRPr>
          </a:p>
          <a:p>
            <a:r>
              <a:rPr lang="en-US" sz="2800" dirty="0">
                <a:solidFill>
                  <a:srgbClr val="C00000"/>
                </a:solidFill>
              </a:rPr>
              <a:t>    </a:t>
            </a:r>
            <a:r>
              <a:rPr lang="en-US" sz="2800" dirty="0" err="1">
                <a:solidFill>
                  <a:srgbClr val="C00000"/>
                </a:solidFill>
              </a:rPr>
              <a:t>def</a:t>
            </a:r>
            <a:r>
              <a:rPr lang="en-US" sz="2800" dirty="0">
                <a:solidFill>
                  <a:srgbClr val="C00000"/>
                </a:solidFill>
              </a:rPr>
              <a:t> __</a:t>
            </a:r>
            <a:r>
              <a:rPr lang="en-US" sz="2800" dirty="0" err="1">
                <a:solidFill>
                  <a:srgbClr val="C00000"/>
                </a:solidFill>
              </a:rPr>
              <a:t>init</a:t>
            </a:r>
            <a:r>
              <a:rPr lang="en-US" sz="2800" dirty="0">
                <a:solidFill>
                  <a:srgbClr val="C00000"/>
                </a:solidFill>
              </a:rPr>
              <a:t>__(</a:t>
            </a:r>
            <a:r>
              <a:rPr lang="en-US" sz="2800" dirty="0" err="1">
                <a:solidFill>
                  <a:srgbClr val="C00000"/>
                </a:solidFill>
              </a:rPr>
              <a:t>self,name</a:t>
            </a:r>
            <a:r>
              <a:rPr lang="en-US" sz="2800" dirty="0">
                <a:solidFill>
                  <a:srgbClr val="C00000"/>
                </a:solidFill>
              </a:rPr>
              <a:t>):</a:t>
            </a:r>
          </a:p>
          <a:p>
            <a:endParaRPr lang="en-US" sz="2800" dirty="0">
              <a:solidFill>
                <a:srgbClr val="C00000"/>
              </a:solidFill>
            </a:endParaRPr>
          </a:p>
          <a:p>
            <a:r>
              <a:rPr lang="en-US" sz="2800" dirty="0">
                <a:solidFill>
                  <a:srgbClr val="C00000"/>
                </a:solidFill>
              </a:rPr>
              <a:t>        self.name=name</a:t>
            </a:r>
            <a:endParaRPr lang="ar-EG" sz="2800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4048" y="4224709"/>
            <a:ext cx="33105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/>
              <a:t>Create Object</a:t>
            </a:r>
            <a:endParaRPr lang="ar-EG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065318" y="4809484"/>
            <a:ext cx="32912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s1=Student("Ali")</a:t>
            </a:r>
            <a:endParaRPr lang="ar-EG" sz="3200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53001" y="5394259"/>
            <a:ext cx="28248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print(s1.name)</a:t>
            </a:r>
            <a:endParaRPr lang="ar-EG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9344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4FB870-6B5F-BCFC-FE68-5F08948E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737" y="1284053"/>
            <a:ext cx="10515600" cy="590931"/>
          </a:xfrm>
        </p:spPr>
        <p:txBody>
          <a:bodyPr/>
          <a:lstStyle/>
          <a:p>
            <a:r>
              <a:rPr lang="en-US" sz="3600" dirty="0"/>
              <a:t>Private Attributes</a:t>
            </a:r>
            <a:endParaRPr lang="en-EG" sz="4800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1620" y="1914412"/>
            <a:ext cx="8223337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Sometimes we don't want users to modify data directly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dirty="0" smtClean="0"/>
              <a:t>Python </a:t>
            </a:r>
            <a:r>
              <a:rPr lang="en-US" sz="2400" dirty="0"/>
              <a:t>allows us to create private attributes</a:t>
            </a:r>
            <a:r>
              <a:rPr lang="en-US" sz="2400" dirty="0" smtClean="0"/>
              <a:t>.</a:t>
            </a:r>
          </a:p>
          <a:p>
            <a:endParaRPr lang="en-US" dirty="0" smtClean="0"/>
          </a:p>
          <a:p>
            <a:r>
              <a:rPr lang="en-US" sz="3200" b="1" dirty="0" smtClean="0">
                <a:solidFill>
                  <a:srgbClr val="C00000"/>
                </a:solidFill>
              </a:rPr>
              <a:t>Example</a:t>
            </a:r>
            <a:endParaRPr lang="ar-EG" sz="3200" b="1" dirty="0">
              <a:solidFill>
                <a:srgbClr val="C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45293" y="4018095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class Student: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def</a:t>
            </a:r>
            <a:r>
              <a:rPr lang="en-US" dirty="0"/>
              <a:t> __</a:t>
            </a:r>
            <a:r>
              <a:rPr lang="en-US" dirty="0" err="1"/>
              <a:t>init</a:t>
            </a:r>
            <a:r>
              <a:rPr lang="en-US" dirty="0"/>
              <a:t>__(</a:t>
            </a:r>
            <a:r>
              <a:rPr lang="en-US" dirty="0" err="1"/>
              <a:t>self,name</a:t>
            </a:r>
            <a:r>
              <a:rPr lang="en-US" dirty="0"/>
              <a:t>):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self.__name</a:t>
            </a:r>
            <a:r>
              <a:rPr lang="en-US" dirty="0"/>
              <a:t>=name</a:t>
            </a:r>
            <a:endParaRPr lang="ar-EG" dirty="0"/>
          </a:p>
        </p:txBody>
      </p:sp>
      <p:sp>
        <p:nvSpPr>
          <p:cNvPr id="2" name="Rectangle 1"/>
          <p:cNvSpPr/>
          <p:nvPr/>
        </p:nvSpPr>
        <p:spPr>
          <a:xfrm>
            <a:off x="1181620" y="5629336"/>
            <a:ext cx="74911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Python hides private attributes from outside the class.</a:t>
            </a:r>
            <a:endParaRPr lang="ar-EG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202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7AD466-D315-1A54-59BE-E0E6B059E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2" y="1170477"/>
            <a:ext cx="4888089" cy="1588127"/>
          </a:xfrm>
        </p:spPr>
        <p:txBody>
          <a:bodyPr/>
          <a:lstStyle/>
          <a:p>
            <a:r>
              <a:rPr lang="en-US" sz="3600" dirty="0"/>
              <a:t>Getter </a:t>
            </a:r>
            <a:r>
              <a:rPr lang="en-US" sz="3600" dirty="0" smtClean="0"/>
              <a:t>Method</a:t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b="0" dirty="0" smtClean="0"/>
              <a:t>To </a:t>
            </a:r>
            <a:r>
              <a:rPr lang="en-US" sz="3600" b="0" dirty="0"/>
              <a:t>read private data</a:t>
            </a:r>
            <a:endParaRPr lang="en-EG" sz="3600" b="0" dirty="0"/>
          </a:p>
        </p:txBody>
      </p:sp>
      <p:sp>
        <p:nvSpPr>
          <p:cNvPr id="4" name="Rectangle 3"/>
          <p:cNvSpPr/>
          <p:nvPr/>
        </p:nvSpPr>
        <p:spPr>
          <a:xfrm>
            <a:off x="1377244" y="2758604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class Student:</a:t>
            </a:r>
          </a:p>
          <a:p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2400" b="1" dirty="0">
                <a:solidFill>
                  <a:srgbClr val="C00000"/>
                </a:solidFill>
              </a:rPr>
              <a:t>    </a:t>
            </a:r>
            <a:r>
              <a:rPr lang="en-US" sz="2400" b="1" dirty="0" err="1">
                <a:solidFill>
                  <a:srgbClr val="C00000"/>
                </a:solidFill>
              </a:rPr>
              <a:t>def</a:t>
            </a:r>
            <a:r>
              <a:rPr lang="en-US" sz="2400" b="1" dirty="0">
                <a:solidFill>
                  <a:srgbClr val="C00000"/>
                </a:solidFill>
              </a:rPr>
              <a:t> __</a:t>
            </a:r>
            <a:r>
              <a:rPr lang="en-US" sz="2400" b="1" dirty="0" err="1">
                <a:solidFill>
                  <a:srgbClr val="C00000"/>
                </a:solidFill>
              </a:rPr>
              <a:t>init</a:t>
            </a:r>
            <a:r>
              <a:rPr lang="en-US" sz="2400" b="1" dirty="0">
                <a:solidFill>
                  <a:srgbClr val="C00000"/>
                </a:solidFill>
              </a:rPr>
              <a:t>__(</a:t>
            </a:r>
            <a:r>
              <a:rPr lang="en-US" sz="2400" b="1" dirty="0" err="1">
                <a:solidFill>
                  <a:srgbClr val="C00000"/>
                </a:solidFill>
              </a:rPr>
              <a:t>self,name</a:t>
            </a:r>
            <a:r>
              <a:rPr lang="en-US" sz="2400" b="1" dirty="0">
                <a:solidFill>
                  <a:srgbClr val="C00000"/>
                </a:solidFill>
              </a:rPr>
              <a:t>):</a:t>
            </a:r>
          </a:p>
          <a:p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2400" b="1" dirty="0">
                <a:solidFill>
                  <a:srgbClr val="C00000"/>
                </a:solidFill>
              </a:rPr>
              <a:t>        </a:t>
            </a:r>
            <a:r>
              <a:rPr lang="en-US" sz="2400" b="1" dirty="0" err="1">
                <a:solidFill>
                  <a:srgbClr val="C00000"/>
                </a:solidFill>
              </a:rPr>
              <a:t>self.__name</a:t>
            </a:r>
            <a:r>
              <a:rPr lang="en-US" sz="2400" b="1" dirty="0">
                <a:solidFill>
                  <a:srgbClr val="C00000"/>
                </a:solidFill>
              </a:rPr>
              <a:t>=name</a:t>
            </a:r>
          </a:p>
          <a:p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2400" b="1" dirty="0">
                <a:solidFill>
                  <a:srgbClr val="C00000"/>
                </a:solidFill>
              </a:rPr>
              <a:t>    </a:t>
            </a:r>
            <a:r>
              <a:rPr lang="en-US" sz="2400" b="1" dirty="0" err="1">
                <a:solidFill>
                  <a:srgbClr val="C00000"/>
                </a:solidFill>
              </a:rPr>
              <a:t>def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get_name</a:t>
            </a:r>
            <a:r>
              <a:rPr lang="en-US" sz="2400" b="1" dirty="0">
                <a:solidFill>
                  <a:srgbClr val="C00000"/>
                </a:solidFill>
              </a:rPr>
              <a:t>(self):</a:t>
            </a:r>
          </a:p>
          <a:p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2400" b="1" dirty="0">
                <a:solidFill>
                  <a:srgbClr val="C00000"/>
                </a:solidFill>
              </a:rPr>
              <a:t>        return </a:t>
            </a:r>
            <a:r>
              <a:rPr lang="en-US" sz="2400" b="1" dirty="0" err="1">
                <a:solidFill>
                  <a:srgbClr val="C00000"/>
                </a:solidFill>
              </a:rPr>
              <a:t>self.__name</a:t>
            </a:r>
            <a:endParaRPr lang="ar-EG" sz="2400" b="1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89511" y="2812901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s1=Student("Ali")</a:t>
            </a:r>
          </a:p>
          <a:p>
            <a:endParaRPr lang="en-US" sz="2800" b="1" dirty="0">
              <a:solidFill>
                <a:srgbClr val="C00000"/>
              </a:solidFill>
            </a:endParaRPr>
          </a:p>
          <a:p>
            <a:r>
              <a:rPr lang="en-US" sz="2800" b="1" dirty="0">
                <a:solidFill>
                  <a:srgbClr val="C00000"/>
                </a:solidFill>
              </a:rPr>
              <a:t>print(s1.get_name())</a:t>
            </a:r>
            <a:endParaRPr lang="ar-EG" sz="2800" b="1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0" y="5001744"/>
            <a:ext cx="36567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65B94"/>
                </a:solidFill>
              </a:rPr>
              <a:t>Getter returns the value</a:t>
            </a:r>
            <a:endParaRPr lang="ar-EG" sz="2400" b="1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386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28D2C7-CEEA-6779-FA0E-43D3652E7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792" y="1265046"/>
            <a:ext cx="5998296" cy="1089529"/>
          </a:xfrm>
        </p:spPr>
        <p:txBody>
          <a:bodyPr/>
          <a:lstStyle/>
          <a:p>
            <a:r>
              <a:rPr lang="nb-NO" sz="3600" dirty="0"/>
              <a:t>Setter </a:t>
            </a:r>
            <a:r>
              <a:rPr lang="nb-NO" sz="3600" dirty="0" smtClean="0"/>
              <a:t>Method</a:t>
            </a:r>
            <a:br>
              <a:rPr lang="nb-NO" sz="3600" dirty="0" smtClean="0"/>
            </a:br>
            <a:r>
              <a:rPr lang="nb-NO" sz="3600" b="0" dirty="0" smtClean="0"/>
              <a:t>To </a:t>
            </a:r>
            <a:r>
              <a:rPr lang="nb-NO" sz="3600" b="0" dirty="0"/>
              <a:t>update private data</a:t>
            </a:r>
            <a:endParaRPr lang="en-EG" sz="3600" b="0" dirty="0"/>
          </a:p>
        </p:txBody>
      </p:sp>
      <p:sp>
        <p:nvSpPr>
          <p:cNvPr id="5" name="Rectangle 4"/>
          <p:cNvSpPr/>
          <p:nvPr/>
        </p:nvSpPr>
        <p:spPr>
          <a:xfrm>
            <a:off x="1512711" y="2456175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065B94"/>
                </a:solidFill>
              </a:rPr>
              <a:t>class Student:</a:t>
            </a:r>
          </a:p>
          <a:p>
            <a:endParaRPr lang="en-US" b="1" dirty="0">
              <a:solidFill>
                <a:srgbClr val="065B94"/>
              </a:solidFill>
            </a:endParaRPr>
          </a:p>
          <a:p>
            <a:r>
              <a:rPr lang="en-US" b="1" dirty="0">
                <a:solidFill>
                  <a:srgbClr val="065B94"/>
                </a:solidFill>
              </a:rPr>
              <a:t>    </a:t>
            </a:r>
            <a:r>
              <a:rPr lang="en-US" b="1" dirty="0" err="1">
                <a:solidFill>
                  <a:srgbClr val="065B94"/>
                </a:solidFill>
              </a:rPr>
              <a:t>def</a:t>
            </a:r>
            <a:r>
              <a:rPr lang="en-US" b="1" dirty="0">
                <a:solidFill>
                  <a:srgbClr val="065B94"/>
                </a:solidFill>
              </a:rPr>
              <a:t> __</a:t>
            </a:r>
            <a:r>
              <a:rPr lang="en-US" b="1" dirty="0" err="1">
                <a:solidFill>
                  <a:srgbClr val="065B94"/>
                </a:solidFill>
              </a:rPr>
              <a:t>init</a:t>
            </a:r>
            <a:r>
              <a:rPr lang="en-US" b="1" dirty="0">
                <a:solidFill>
                  <a:srgbClr val="065B94"/>
                </a:solidFill>
              </a:rPr>
              <a:t>__(</a:t>
            </a:r>
            <a:r>
              <a:rPr lang="en-US" b="1" dirty="0" err="1">
                <a:solidFill>
                  <a:srgbClr val="065B94"/>
                </a:solidFill>
              </a:rPr>
              <a:t>self,name</a:t>
            </a:r>
            <a:r>
              <a:rPr lang="en-US" b="1" dirty="0">
                <a:solidFill>
                  <a:srgbClr val="065B94"/>
                </a:solidFill>
              </a:rPr>
              <a:t>):</a:t>
            </a:r>
          </a:p>
          <a:p>
            <a:endParaRPr lang="en-US" b="1" dirty="0">
              <a:solidFill>
                <a:srgbClr val="065B94"/>
              </a:solidFill>
            </a:endParaRPr>
          </a:p>
          <a:p>
            <a:r>
              <a:rPr lang="en-US" b="1" dirty="0">
                <a:solidFill>
                  <a:srgbClr val="065B94"/>
                </a:solidFill>
              </a:rPr>
              <a:t>        </a:t>
            </a:r>
            <a:r>
              <a:rPr lang="en-US" b="1" dirty="0" err="1">
                <a:solidFill>
                  <a:srgbClr val="065B94"/>
                </a:solidFill>
              </a:rPr>
              <a:t>self.__name</a:t>
            </a:r>
            <a:r>
              <a:rPr lang="en-US" b="1" dirty="0">
                <a:solidFill>
                  <a:srgbClr val="065B94"/>
                </a:solidFill>
              </a:rPr>
              <a:t>=name</a:t>
            </a:r>
          </a:p>
          <a:p>
            <a:endParaRPr lang="en-US" b="1" dirty="0">
              <a:solidFill>
                <a:srgbClr val="065B94"/>
              </a:solidFill>
            </a:endParaRPr>
          </a:p>
          <a:p>
            <a:r>
              <a:rPr lang="en-US" b="1" dirty="0">
                <a:solidFill>
                  <a:srgbClr val="065B94"/>
                </a:solidFill>
              </a:rPr>
              <a:t>    </a:t>
            </a:r>
            <a:r>
              <a:rPr lang="en-US" b="1" dirty="0" err="1">
                <a:solidFill>
                  <a:srgbClr val="065B94"/>
                </a:solidFill>
              </a:rPr>
              <a:t>def</a:t>
            </a:r>
            <a:r>
              <a:rPr lang="en-US" b="1" dirty="0">
                <a:solidFill>
                  <a:srgbClr val="065B94"/>
                </a:solidFill>
              </a:rPr>
              <a:t> </a:t>
            </a:r>
            <a:r>
              <a:rPr lang="en-US" b="1" dirty="0" err="1">
                <a:solidFill>
                  <a:srgbClr val="065B94"/>
                </a:solidFill>
              </a:rPr>
              <a:t>set_name</a:t>
            </a:r>
            <a:r>
              <a:rPr lang="en-US" b="1" dirty="0">
                <a:solidFill>
                  <a:srgbClr val="065B94"/>
                </a:solidFill>
              </a:rPr>
              <a:t>(</a:t>
            </a:r>
            <a:r>
              <a:rPr lang="en-US" b="1" dirty="0" err="1">
                <a:solidFill>
                  <a:srgbClr val="065B94"/>
                </a:solidFill>
              </a:rPr>
              <a:t>self,name</a:t>
            </a:r>
            <a:r>
              <a:rPr lang="en-US" b="1" dirty="0">
                <a:solidFill>
                  <a:srgbClr val="065B94"/>
                </a:solidFill>
              </a:rPr>
              <a:t>):</a:t>
            </a:r>
          </a:p>
          <a:p>
            <a:endParaRPr lang="en-US" b="1" dirty="0">
              <a:solidFill>
                <a:srgbClr val="065B94"/>
              </a:solidFill>
            </a:endParaRPr>
          </a:p>
          <a:p>
            <a:r>
              <a:rPr lang="en-US" b="1" dirty="0">
                <a:solidFill>
                  <a:srgbClr val="065B94"/>
                </a:solidFill>
              </a:rPr>
              <a:t>        </a:t>
            </a:r>
            <a:r>
              <a:rPr lang="en-US" b="1" dirty="0" err="1">
                <a:solidFill>
                  <a:srgbClr val="065B94"/>
                </a:solidFill>
              </a:rPr>
              <a:t>self.__name</a:t>
            </a:r>
            <a:r>
              <a:rPr lang="en-US" b="1" dirty="0">
                <a:solidFill>
                  <a:srgbClr val="065B94"/>
                </a:solidFill>
              </a:rPr>
              <a:t>=name</a:t>
            </a:r>
          </a:p>
          <a:p>
            <a:endParaRPr lang="en-US" b="1" dirty="0">
              <a:solidFill>
                <a:srgbClr val="065B94"/>
              </a:solidFill>
            </a:endParaRPr>
          </a:p>
          <a:p>
            <a:r>
              <a:rPr lang="en-US" b="1" dirty="0">
                <a:solidFill>
                  <a:srgbClr val="065B94"/>
                </a:solidFill>
              </a:rPr>
              <a:t>    </a:t>
            </a:r>
            <a:r>
              <a:rPr lang="en-US" b="1" dirty="0" err="1">
                <a:solidFill>
                  <a:srgbClr val="065B94"/>
                </a:solidFill>
              </a:rPr>
              <a:t>def</a:t>
            </a:r>
            <a:r>
              <a:rPr lang="en-US" b="1" dirty="0">
                <a:solidFill>
                  <a:srgbClr val="065B94"/>
                </a:solidFill>
              </a:rPr>
              <a:t> </a:t>
            </a:r>
            <a:r>
              <a:rPr lang="en-US" b="1" dirty="0" err="1">
                <a:solidFill>
                  <a:srgbClr val="065B94"/>
                </a:solidFill>
              </a:rPr>
              <a:t>get_name</a:t>
            </a:r>
            <a:r>
              <a:rPr lang="en-US" b="1" dirty="0">
                <a:solidFill>
                  <a:srgbClr val="065B94"/>
                </a:solidFill>
              </a:rPr>
              <a:t>(self):</a:t>
            </a:r>
          </a:p>
          <a:p>
            <a:endParaRPr lang="en-US" b="1" dirty="0">
              <a:solidFill>
                <a:srgbClr val="065B94"/>
              </a:solidFill>
            </a:endParaRPr>
          </a:p>
          <a:p>
            <a:r>
              <a:rPr lang="en-US" b="1" dirty="0">
                <a:solidFill>
                  <a:srgbClr val="065B94"/>
                </a:solidFill>
              </a:rPr>
              <a:t>        return </a:t>
            </a:r>
            <a:r>
              <a:rPr lang="en-US" b="1" dirty="0" err="1">
                <a:solidFill>
                  <a:srgbClr val="065B94"/>
                </a:solidFill>
              </a:rPr>
              <a:t>self.__name</a:t>
            </a:r>
            <a:endParaRPr lang="ar-EG" b="1" dirty="0">
              <a:solidFill>
                <a:srgbClr val="065B94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75649" y="3013185"/>
            <a:ext cx="617545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65B94"/>
                </a:solidFill>
              </a:rPr>
              <a:t>s1=Student("Ali")</a:t>
            </a:r>
          </a:p>
          <a:p>
            <a:endParaRPr lang="en-US" sz="2400" b="1" dirty="0">
              <a:solidFill>
                <a:srgbClr val="065B94"/>
              </a:solidFill>
            </a:endParaRPr>
          </a:p>
          <a:p>
            <a:r>
              <a:rPr lang="en-US" sz="2400" b="1" dirty="0">
                <a:solidFill>
                  <a:srgbClr val="065B94"/>
                </a:solidFill>
              </a:rPr>
              <a:t>s1.set_name("Ahmed")</a:t>
            </a:r>
          </a:p>
          <a:p>
            <a:endParaRPr lang="en-US" sz="2400" b="1" dirty="0">
              <a:solidFill>
                <a:srgbClr val="065B94"/>
              </a:solidFill>
            </a:endParaRPr>
          </a:p>
          <a:p>
            <a:r>
              <a:rPr lang="en-US" sz="2400" b="1" dirty="0">
                <a:solidFill>
                  <a:srgbClr val="065B94"/>
                </a:solidFill>
              </a:rPr>
              <a:t>print(s1.get_name())</a:t>
            </a:r>
            <a:endParaRPr lang="ar-EG" sz="2400" b="1" dirty="0">
              <a:solidFill>
                <a:srgbClr val="065B94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43576" y="5509187"/>
            <a:ext cx="60762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b-NO" sz="2800" b="1" dirty="0">
                <a:solidFill>
                  <a:srgbClr val="002060"/>
                </a:solidFill>
              </a:rPr>
              <a:t>Setter changes private data safely.</a:t>
            </a:r>
            <a:endParaRPr lang="ar-EG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92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95993" y="3091324"/>
            <a:ext cx="3658179" cy="1006429"/>
          </a:xfrm>
        </p:spPr>
        <p:txBody>
          <a:bodyPr/>
          <a:lstStyle/>
          <a:p>
            <a:r>
              <a:rPr lang="en-US" sz="6600" dirty="0" smtClean="0">
                <a:solidFill>
                  <a:srgbClr val="065B94"/>
                </a:solidFill>
              </a:rPr>
              <a:t>Break</a:t>
            </a:r>
            <a:endParaRPr lang="ar-EG" sz="6600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408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9BE851-8669-DFBC-3FF1-F20DA06FF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249" y="827733"/>
            <a:ext cx="6529919" cy="2056144"/>
          </a:xfrm>
        </p:spPr>
        <p:txBody>
          <a:bodyPr/>
          <a:lstStyle/>
          <a:p>
            <a:r>
              <a:rPr lang="en-US" sz="3600" dirty="0"/>
              <a:t>Why Encapsulation</a:t>
            </a:r>
            <a:r>
              <a:rPr lang="en-US" sz="3600" dirty="0" smtClean="0"/>
              <a:t>?</a:t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b="0" dirty="0" smtClean="0">
                <a:solidFill>
                  <a:srgbClr val="002060"/>
                </a:solidFill>
              </a:rPr>
              <a:t>Without </a:t>
            </a:r>
            <a:r>
              <a:rPr lang="en-US" sz="3600" b="0" dirty="0">
                <a:solidFill>
                  <a:srgbClr val="002060"/>
                </a:solidFill>
              </a:rPr>
              <a:t>Encapsulation</a:t>
            </a:r>
            <a:endParaRPr lang="en-EG" sz="3600" b="0" dirty="0">
              <a:solidFill>
                <a:srgbClr val="00206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16308" y="3078927"/>
            <a:ext cx="32944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err="1">
                <a:solidFill>
                  <a:srgbClr val="C00000"/>
                </a:solidFill>
              </a:rPr>
              <a:t>student.grade</a:t>
            </a:r>
            <a:r>
              <a:rPr lang="en-US" sz="2800" b="1" dirty="0">
                <a:solidFill>
                  <a:srgbClr val="C00000"/>
                </a:solidFill>
              </a:rPr>
              <a:t>=-50</a:t>
            </a:r>
            <a:endParaRPr lang="ar-EG" sz="2800" b="1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73400" y="3797197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Wrong value</a:t>
            </a:r>
            <a:r>
              <a:rPr lang="en-US" b="1" dirty="0" smtClean="0"/>
              <a:t>.</a:t>
            </a:r>
          </a:p>
          <a:p>
            <a:endParaRPr lang="en-US" b="1" dirty="0"/>
          </a:p>
          <a:p>
            <a:r>
              <a:rPr lang="en-US" b="1" dirty="0" smtClean="0"/>
              <a:t>With Encapsulation</a:t>
            </a:r>
          </a:p>
          <a:p>
            <a:endParaRPr lang="en-US" b="1" dirty="0" smtClean="0"/>
          </a:p>
          <a:p>
            <a:r>
              <a:rPr lang="en-US" b="1" dirty="0" smtClean="0"/>
              <a:t>We </a:t>
            </a:r>
            <a:r>
              <a:rPr lang="en-US" b="1" dirty="0"/>
              <a:t>can validate data before saving</a:t>
            </a:r>
            <a:r>
              <a:rPr lang="en-US" b="1" dirty="0" smtClean="0"/>
              <a:t>.</a:t>
            </a: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805442" y="1585171"/>
            <a:ext cx="490024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class Student</a:t>
            </a:r>
            <a:r>
              <a:rPr lang="en-US" sz="2000" b="1" dirty="0" smtClean="0">
                <a:solidFill>
                  <a:srgbClr val="C00000"/>
                </a:solidFill>
              </a:rPr>
              <a:t>:</a:t>
            </a:r>
            <a:endParaRPr lang="en-US" sz="2000" b="1" dirty="0">
              <a:solidFill>
                <a:srgbClr val="C00000"/>
              </a:solidFill>
            </a:endParaRPr>
          </a:p>
          <a:p>
            <a:r>
              <a:rPr lang="en-US" sz="2000" b="1" dirty="0">
                <a:solidFill>
                  <a:srgbClr val="C00000"/>
                </a:solidFill>
              </a:rPr>
              <a:t>    </a:t>
            </a:r>
            <a:r>
              <a:rPr lang="en-US" sz="2000" b="1" dirty="0" err="1">
                <a:solidFill>
                  <a:srgbClr val="C00000"/>
                </a:solidFill>
              </a:rPr>
              <a:t>def</a:t>
            </a:r>
            <a:r>
              <a:rPr lang="en-US" sz="2000" b="1" dirty="0">
                <a:solidFill>
                  <a:srgbClr val="C00000"/>
                </a:solidFill>
              </a:rPr>
              <a:t> __</a:t>
            </a:r>
            <a:r>
              <a:rPr lang="en-US" sz="2000" b="1" dirty="0" err="1">
                <a:solidFill>
                  <a:srgbClr val="C00000"/>
                </a:solidFill>
              </a:rPr>
              <a:t>init</a:t>
            </a:r>
            <a:r>
              <a:rPr lang="en-US" sz="2000" b="1" dirty="0">
                <a:solidFill>
                  <a:srgbClr val="C00000"/>
                </a:solidFill>
              </a:rPr>
              <a:t>__(</a:t>
            </a:r>
            <a:r>
              <a:rPr lang="en-US" sz="2000" b="1" dirty="0" err="1">
                <a:solidFill>
                  <a:srgbClr val="C00000"/>
                </a:solidFill>
              </a:rPr>
              <a:t>self,grade</a:t>
            </a:r>
            <a:r>
              <a:rPr lang="en-US" sz="2000" b="1" dirty="0" smtClean="0">
                <a:solidFill>
                  <a:srgbClr val="C00000"/>
                </a:solidFill>
              </a:rPr>
              <a:t>):</a:t>
            </a:r>
            <a:endParaRPr lang="en-US" sz="2000" b="1" dirty="0">
              <a:solidFill>
                <a:srgbClr val="C00000"/>
              </a:solidFill>
            </a:endParaRPr>
          </a:p>
          <a:p>
            <a:r>
              <a:rPr lang="en-US" sz="2000" b="1" dirty="0">
                <a:solidFill>
                  <a:srgbClr val="C00000"/>
                </a:solidFill>
              </a:rPr>
              <a:t>        </a:t>
            </a:r>
            <a:r>
              <a:rPr lang="en-US" sz="2000" b="1" dirty="0" err="1">
                <a:solidFill>
                  <a:srgbClr val="C00000"/>
                </a:solidFill>
              </a:rPr>
              <a:t>self.__</a:t>
            </a:r>
            <a:r>
              <a:rPr lang="en-US" sz="2000" b="1" dirty="0" err="1" smtClean="0">
                <a:solidFill>
                  <a:srgbClr val="C00000"/>
                </a:solidFill>
              </a:rPr>
              <a:t>grade</a:t>
            </a:r>
            <a:r>
              <a:rPr lang="en-US" sz="2000" b="1" dirty="0" smtClean="0">
                <a:solidFill>
                  <a:srgbClr val="C00000"/>
                </a:solidFill>
              </a:rPr>
              <a:t>=0</a:t>
            </a:r>
            <a:endParaRPr lang="en-US" sz="2000" b="1" dirty="0">
              <a:solidFill>
                <a:srgbClr val="C00000"/>
              </a:solidFill>
            </a:endParaRPr>
          </a:p>
          <a:p>
            <a:r>
              <a:rPr lang="en-US" sz="2000" b="1" dirty="0">
                <a:solidFill>
                  <a:srgbClr val="C00000"/>
                </a:solidFill>
              </a:rPr>
              <a:t>        </a:t>
            </a:r>
            <a:r>
              <a:rPr lang="en-US" sz="2000" b="1" dirty="0" err="1">
                <a:solidFill>
                  <a:srgbClr val="C00000"/>
                </a:solidFill>
              </a:rPr>
              <a:t>self.set_grade</a:t>
            </a:r>
            <a:r>
              <a:rPr lang="en-US" sz="2000" b="1" dirty="0">
                <a:solidFill>
                  <a:srgbClr val="C00000"/>
                </a:solidFill>
              </a:rPr>
              <a:t>(grade</a:t>
            </a:r>
            <a:r>
              <a:rPr lang="en-US" sz="2000" b="1" dirty="0" smtClean="0">
                <a:solidFill>
                  <a:srgbClr val="C00000"/>
                </a:solidFill>
              </a:rPr>
              <a:t>)</a:t>
            </a:r>
            <a:endParaRPr lang="en-US" sz="2000" b="1" dirty="0">
              <a:solidFill>
                <a:srgbClr val="C00000"/>
              </a:solidFill>
            </a:endParaRPr>
          </a:p>
          <a:p>
            <a:r>
              <a:rPr lang="en-US" sz="2000" b="1" dirty="0">
                <a:solidFill>
                  <a:srgbClr val="C00000"/>
                </a:solidFill>
              </a:rPr>
              <a:t>    </a:t>
            </a:r>
            <a:r>
              <a:rPr lang="en-US" sz="2000" b="1" dirty="0" err="1">
                <a:solidFill>
                  <a:srgbClr val="C00000"/>
                </a:solidFill>
              </a:rPr>
              <a:t>def</a:t>
            </a:r>
            <a:r>
              <a:rPr lang="en-US" sz="2000" b="1" dirty="0">
                <a:solidFill>
                  <a:srgbClr val="C00000"/>
                </a:solidFill>
              </a:rPr>
              <a:t> </a:t>
            </a:r>
            <a:r>
              <a:rPr lang="en-US" sz="2000" b="1" dirty="0" err="1">
                <a:solidFill>
                  <a:srgbClr val="C00000"/>
                </a:solidFill>
              </a:rPr>
              <a:t>set_grade</a:t>
            </a:r>
            <a:r>
              <a:rPr lang="en-US" sz="2000" b="1" dirty="0">
                <a:solidFill>
                  <a:srgbClr val="C00000"/>
                </a:solidFill>
              </a:rPr>
              <a:t>(</a:t>
            </a:r>
            <a:r>
              <a:rPr lang="en-US" sz="2000" b="1" dirty="0" err="1">
                <a:solidFill>
                  <a:srgbClr val="C00000"/>
                </a:solidFill>
              </a:rPr>
              <a:t>self,grade</a:t>
            </a:r>
            <a:r>
              <a:rPr lang="en-US" sz="2000" b="1" dirty="0" smtClean="0">
                <a:solidFill>
                  <a:srgbClr val="C00000"/>
                </a:solidFill>
              </a:rPr>
              <a:t>):</a:t>
            </a:r>
            <a:endParaRPr lang="en-US" sz="2000" b="1" dirty="0">
              <a:solidFill>
                <a:srgbClr val="C00000"/>
              </a:solidFill>
            </a:endParaRPr>
          </a:p>
          <a:p>
            <a:r>
              <a:rPr lang="en-US" sz="2000" b="1" dirty="0">
                <a:solidFill>
                  <a:srgbClr val="C00000"/>
                </a:solidFill>
              </a:rPr>
              <a:t>        if 0&lt;=grade&lt;=100</a:t>
            </a:r>
            <a:r>
              <a:rPr lang="en-US" sz="2000" b="1" dirty="0" smtClean="0">
                <a:solidFill>
                  <a:srgbClr val="C00000"/>
                </a:solidFill>
              </a:rPr>
              <a:t>:</a:t>
            </a:r>
            <a:endParaRPr lang="en-US" sz="2000" b="1" dirty="0">
              <a:solidFill>
                <a:srgbClr val="C00000"/>
              </a:solidFill>
            </a:endParaRPr>
          </a:p>
          <a:p>
            <a:r>
              <a:rPr lang="en-US" sz="2000" b="1" dirty="0">
                <a:solidFill>
                  <a:srgbClr val="C00000"/>
                </a:solidFill>
              </a:rPr>
              <a:t>            </a:t>
            </a:r>
            <a:r>
              <a:rPr lang="en-US" sz="2000" b="1" dirty="0" err="1">
                <a:solidFill>
                  <a:srgbClr val="C00000"/>
                </a:solidFill>
              </a:rPr>
              <a:t>self.__</a:t>
            </a:r>
            <a:r>
              <a:rPr lang="en-US" sz="2000" b="1" dirty="0" err="1" smtClean="0">
                <a:solidFill>
                  <a:srgbClr val="C00000"/>
                </a:solidFill>
              </a:rPr>
              <a:t>grade</a:t>
            </a:r>
            <a:r>
              <a:rPr lang="en-US" sz="2000" b="1" dirty="0" smtClean="0">
                <a:solidFill>
                  <a:srgbClr val="C00000"/>
                </a:solidFill>
              </a:rPr>
              <a:t>=grade</a:t>
            </a:r>
            <a:endParaRPr lang="en-US" sz="2000" b="1" dirty="0">
              <a:solidFill>
                <a:srgbClr val="C00000"/>
              </a:solidFill>
            </a:endParaRPr>
          </a:p>
          <a:p>
            <a:r>
              <a:rPr lang="en-US" sz="2000" b="1" dirty="0">
                <a:solidFill>
                  <a:srgbClr val="C00000"/>
                </a:solidFill>
              </a:rPr>
              <a:t>        else</a:t>
            </a:r>
            <a:r>
              <a:rPr lang="en-US" sz="2000" b="1" dirty="0" smtClean="0">
                <a:solidFill>
                  <a:srgbClr val="C00000"/>
                </a:solidFill>
              </a:rPr>
              <a:t>:</a:t>
            </a:r>
            <a:endParaRPr lang="en-US" sz="2000" b="1" dirty="0">
              <a:solidFill>
                <a:srgbClr val="C00000"/>
              </a:solidFill>
            </a:endParaRPr>
          </a:p>
          <a:p>
            <a:r>
              <a:rPr lang="en-US" sz="2000" b="1" dirty="0">
                <a:solidFill>
                  <a:srgbClr val="C00000"/>
                </a:solidFill>
              </a:rPr>
              <a:t>            print("Invalid Grade</a:t>
            </a:r>
            <a:r>
              <a:rPr lang="en-US" sz="2000" b="1" dirty="0" smtClean="0">
                <a:solidFill>
                  <a:srgbClr val="C00000"/>
                </a:solidFill>
              </a:rPr>
              <a:t>")</a:t>
            </a:r>
            <a:endParaRPr lang="en-US" sz="2000" b="1" dirty="0">
              <a:solidFill>
                <a:srgbClr val="C00000"/>
              </a:solidFill>
            </a:endParaRPr>
          </a:p>
          <a:p>
            <a:r>
              <a:rPr lang="en-US" sz="2000" b="1" dirty="0">
                <a:solidFill>
                  <a:srgbClr val="C00000"/>
                </a:solidFill>
              </a:rPr>
              <a:t>    </a:t>
            </a:r>
            <a:r>
              <a:rPr lang="en-US" sz="2000" b="1" dirty="0" err="1">
                <a:solidFill>
                  <a:srgbClr val="C00000"/>
                </a:solidFill>
              </a:rPr>
              <a:t>def</a:t>
            </a:r>
            <a:r>
              <a:rPr lang="en-US" sz="2000" b="1" dirty="0">
                <a:solidFill>
                  <a:srgbClr val="C00000"/>
                </a:solidFill>
              </a:rPr>
              <a:t> </a:t>
            </a:r>
            <a:r>
              <a:rPr lang="en-US" sz="2000" b="1" dirty="0" err="1">
                <a:solidFill>
                  <a:srgbClr val="C00000"/>
                </a:solidFill>
              </a:rPr>
              <a:t>get_grade</a:t>
            </a:r>
            <a:r>
              <a:rPr lang="en-US" sz="2000" b="1" dirty="0">
                <a:solidFill>
                  <a:srgbClr val="C00000"/>
                </a:solidFill>
              </a:rPr>
              <a:t>(self</a:t>
            </a:r>
            <a:r>
              <a:rPr lang="en-US" sz="2000" b="1" dirty="0" smtClean="0">
                <a:solidFill>
                  <a:srgbClr val="C00000"/>
                </a:solidFill>
              </a:rPr>
              <a:t>):</a:t>
            </a:r>
            <a:endParaRPr lang="en-US" sz="2000" b="1" dirty="0">
              <a:solidFill>
                <a:srgbClr val="C00000"/>
              </a:solidFill>
            </a:endParaRPr>
          </a:p>
          <a:p>
            <a:r>
              <a:rPr lang="en-US" sz="2000" b="1" dirty="0">
                <a:solidFill>
                  <a:srgbClr val="C00000"/>
                </a:solidFill>
              </a:rPr>
              <a:t>        return </a:t>
            </a:r>
            <a:r>
              <a:rPr lang="en-US" sz="2000" b="1" dirty="0" err="1">
                <a:solidFill>
                  <a:srgbClr val="C00000"/>
                </a:solidFill>
              </a:rPr>
              <a:t>self.__grade</a:t>
            </a:r>
            <a:endParaRPr lang="ar-EG" sz="2000" b="1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05442" y="528751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s1=Student(95)</a:t>
            </a:r>
          </a:p>
          <a:p>
            <a:endParaRPr lang="en-US" b="1" dirty="0"/>
          </a:p>
          <a:p>
            <a:r>
              <a:rPr lang="en-US" b="1" dirty="0"/>
              <a:t>print(s1.get_grade())</a:t>
            </a:r>
            <a:endParaRPr lang="ar-EG" b="1" dirty="0"/>
          </a:p>
        </p:txBody>
      </p:sp>
      <p:sp>
        <p:nvSpPr>
          <p:cNvPr id="8" name="Rectangle 7"/>
          <p:cNvSpPr/>
          <p:nvPr/>
        </p:nvSpPr>
        <p:spPr>
          <a:xfrm>
            <a:off x="1570479" y="5511851"/>
            <a:ext cx="43893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65B94"/>
                </a:solidFill>
              </a:rPr>
              <a:t>Encapsulation protects data.</a:t>
            </a:r>
            <a:endParaRPr lang="ar-EG" sz="2400" b="1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006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11439" y="1228818"/>
            <a:ext cx="6145146" cy="1865126"/>
          </a:xfrm>
        </p:spPr>
        <p:txBody>
          <a:bodyPr/>
          <a:lstStyle/>
          <a:p>
            <a:r>
              <a:rPr lang="en-US" dirty="0" smtClean="0"/>
              <a:t>Inheritance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0" dirty="0" smtClean="0"/>
              <a:t>What </a:t>
            </a:r>
            <a:r>
              <a:rPr lang="en-US" b="0" dirty="0"/>
              <a:t>is Inheritance</a:t>
            </a:r>
            <a:r>
              <a:rPr lang="en-US" b="0" dirty="0" smtClean="0"/>
              <a:t>?</a:t>
            </a:r>
            <a:r>
              <a:rPr lang="en-US" dirty="0"/>
              <a:t/>
            </a:r>
            <a:br>
              <a:rPr lang="en-US" dirty="0"/>
            </a:br>
            <a:r>
              <a:rPr lang="en-US" b="0" dirty="0" smtClean="0"/>
              <a:t>Definition</a:t>
            </a:r>
            <a:endParaRPr lang="ar-EG" b="0" dirty="0"/>
          </a:p>
        </p:txBody>
      </p:sp>
      <p:sp>
        <p:nvSpPr>
          <p:cNvPr id="4" name="Rectangle 3"/>
          <p:cNvSpPr/>
          <p:nvPr/>
        </p:nvSpPr>
        <p:spPr>
          <a:xfrm>
            <a:off x="1336431" y="3295581"/>
            <a:ext cx="10855569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65B94"/>
                </a:solidFill>
              </a:rPr>
              <a:t>Inheritance is the ability of one class to inherit the properties and methods of another class</a:t>
            </a:r>
            <a:r>
              <a:rPr lang="en-US" sz="3200" dirty="0" smtClean="0">
                <a:solidFill>
                  <a:srgbClr val="065B94"/>
                </a:solidFill>
              </a:rPr>
              <a:t>.</a:t>
            </a:r>
          </a:p>
          <a:p>
            <a:endParaRPr lang="en-US" sz="3200" dirty="0" smtClean="0">
              <a:solidFill>
                <a:srgbClr val="065B94"/>
              </a:solidFill>
            </a:endParaRPr>
          </a:p>
          <a:p>
            <a:r>
              <a:rPr lang="en-US" sz="3200" dirty="0" smtClean="0">
                <a:solidFill>
                  <a:srgbClr val="065B94"/>
                </a:solidFill>
              </a:rPr>
              <a:t>It </a:t>
            </a:r>
            <a:r>
              <a:rPr lang="en-US" sz="3200" dirty="0">
                <a:solidFill>
                  <a:srgbClr val="065B94"/>
                </a:solidFill>
              </a:rPr>
              <a:t>helps us reuse code instead of writing the same code again.</a:t>
            </a:r>
            <a:endParaRPr lang="ar-EG" sz="3200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3246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1162" y="1467078"/>
            <a:ext cx="4843016" cy="978729"/>
          </a:xfrm>
        </p:spPr>
        <p:txBody>
          <a:bodyPr/>
          <a:lstStyle/>
          <a:p>
            <a:r>
              <a:rPr lang="en-US" dirty="0"/>
              <a:t>Parent and Child Class</a:t>
            </a:r>
            <a:endParaRPr lang="ar-EG" dirty="0"/>
          </a:p>
        </p:txBody>
      </p:sp>
      <p:sp>
        <p:nvSpPr>
          <p:cNvPr id="4" name="Rectangle 3"/>
          <p:cNvSpPr/>
          <p:nvPr/>
        </p:nvSpPr>
        <p:spPr>
          <a:xfrm>
            <a:off x="1298223" y="2445807"/>
            <a:ext cx="6096000" cy="166199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rgbClr val="065B94"/>
                </a:solidFill>
              </a:rPr>
              <a:t>Parent </a:t>
            </a:r>
            <a:r>
              <a:rPr lang="en-US" sz="2400" b="1" dirty="0" smtClean="0">
                <a:solidFill>
                  <a:srgbClr val="065B94"/>
                </a:solidFill>
              </a:rPr>
              <a:t>Class</a:t>
            </a:r>
          </a:p>
          <a:p>
            <a:r>
              <a:rPr lang="en-US" dirty="0" smtClean="0"/>
              <a:t>The </a:t>
            </a:r>
            <a:r>
              <a:rPr lang="en-US" dirty="0"/>
              <a:t>original class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sz="2400" b="1" dirty="0" smtClean="0">
                <a:solidFill>
                  <a:srgbClr val="065B94"/>
                </a:solidFill>
              </a:rPr>
              <a:t>Child Class</a:t>
            </a:r>
            <a:endParaRPr lang="en-US" sz="2400" b="1" dirty="0">
              <a:solidFill>
                <a:srgbClr val="065B94"/>
              </a:solidFill>
            </a:endParaRPr>
          </a:p>
          <a:p>
            <a:r>
              <a:rPr lang="en-US" dirty="0" smtClean="0"/>
              <a:t>The </a:t>
            </a:r>
            <a:r>
              <a:rPr lang="en-US" dirty="0"/>
              <a:t>class that inherits from another class.</a:t>
            </a:r>
            <a:endParaRPr lang="ar-EG" dirty="0"/>
          </a:p>
        </p:txBody>
      </p:sp>
      <p:sp>
        <p:nvSpPr>
          <p:cNvPr id="5" name="Rectangle 4"/>
          <p:cNvSpPr/>
          <p:nvPr/>
        </p:nvSpPr>
        <p:spPr>
          <a:xfrm>
            <a:off x="6276623" y="1956442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class Person: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def</a:t>
            </a:r>
            <a:r>
              <a:rPr lang="en-US" dirty="0"/>
              <a:t> __</a:t>
            </a:r>
            <a:r>
              <a:rPr lang="en-US" dirty="0" err="1"/>
              <a:t>init</a:t>
            </a:r>
            <a:r>
              <a:rPr lang="en-US" dirty="0"/>
              <a:t>__(</a:t>
            </a:r>
            <a:r>
              <a:rPr lang="en-US" dirty="0" err="1"/>
              <a:t>self,name,age</a:t>
            </a:r>
            <a:r>
              <a:rPr lang="en-US" dirty="0"/>
              <a:t>):</a:t>
            </a:r>
          </a:p>
          <a:p>
            <a:endParaRPr lang="en-US" dirty="0"/>
          </a:p>
          <a:p>
            <a:r>
              <a:rPr lang="en-US" dirty="0"/>
              <a:t>        self.name=name</a:t>
            </a:r>
          </a:p>
          <a:p>
            <a:r>
              <a:rPr lang="en-US" dirty="0"/>
              <a:t>        </a:t>
            </a:r>
            <a:r>
              <a:rPr lang="en-US" dirty="0" err="1"/>
              <a:t>self.age</a:t>
            </a:r>
            <a:r>
              <a:rPr lang="en-US" dirty="0"/>
              <a:t>=age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def</a:t>
            </a:r>
            <a:r>
              <a:rPr lang="en-US" dirty="0"/>
              <a:t> display(self):</a:t>
            </a:r>
          </a:p>
          <a:p>
            <a:endParaRPr lang="en-US" dirty="0"/>
          </a:p>
          <a:p>
            <a:r>
              <a:rPr lang="en-US" dirty="0"/>
              <a:t>        print(</a:t>
            </a:r>
            <a:r>
              <a:rPr lang="en-US" dirty="0" err="1"/>
              <a:t>self.name,self.age</a:t>
            </a:r>
            <a:r>
              <a:rPr lang="en-US" dirty="0"/>
              <a:t>)</a:t>
            </a:r>
            <a:endParaRPr lang="ar-EG" dirty="0"/>
          </a:p>
        </p:txBody>
      </p:sp>
      <p:sp>
        <p:nvSpPr>
          <p:cNvPr id="6" name="Rectangle 5"/>
          <p:cNvSpPr/>
          <p:nvPr/>
        </p:nvSpPr>
        <p:spPr>
          <a:xfrm>
            <a:off x="2201244" y="5086529"/>
            <a:ext cx="428995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Now create </a:t>
            </a:r>
            <a:r>
              <a:rPr lang="en-US" sz="2400" b="1" dirty="0" smtClean="0">
                <a:solidFill>
                  <a:srgbClr val="C00000"/>
                </a:solidFill>
              </a:rPr>
              <a:t>Student</a:t>
            </a:r>
          </a:p>
          <a:p>
            <a:endParaRPr lang="en-US" dirty="0"/>
          </a:p>
          <a:p>
            <a:r>
              <a:rPr lang="en-US" sz="2400" dirty="0" smtClean="0"/>
              <a:t>class </a:t>
            </a:r>
            <a:r>
              <a:rPr lang="en-US" sz="2400" dirty="0"/>
              <a:t>Student(Person):    pass</a:t>
            </a:r>
            <a:endParaRPr lang="ar-EG" sz="2400" dirty="0"/>
          </a:p>
        </p:txBody>
      </p:sp>
    </p:spTree>
    <p:extLst>
      <p:ext uri="{BB962C8B-B14F-4D97-AF65-F5344CB8AC3E}">
        <p14:creationId xmlns:p14="http://schemas.microsoft.com/office/powerpoint/2010/main" val="3766796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320718" y="1196145"/>
            <a:ext cx="4944616" cy="978729"/>
          </a:xfrm>
        </p:spPr>
        <p:txBody>
          <a:bodyPr/>
          <a:lstStyle/>
          <a:p>
            <a:r>
              <a:rPr lang="en-US" dirty="0"/>
              <a:t>Adding New Methods</a:t>
            </a:r>
            <a:endParaRPr lang="ar-EG" dirty="0"/>
          </a:p>
        </p:txBody>
      </p:sp>
      <p:sp>
        <p:nvSpPr>
          <p:cNvPr id="4" name="Rectangle 3"/>
          <p:cNvSpPr/>
          <p:nvPr/>
        </p:nvSpPr>
        <p:spPr>
          <a:xfrm>
            <a:off x="1952978" y="2423784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class Person: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def</a:t>
            </a:r>
            <a:r>
              <a:rPr lang="en-US" dirty="0"/>
              <a:t> __</a:t>
            </a:r>
            <a:r>
              <a:rPr lang="en-US" dirty="0" err="1"/>
              <a:t>init</a:t>
            </a:r>
            <a:r>
              <a:rPr lang="en-US" dirty="0"/>
              <a:t>__(</a:t>
            </a:r>
            <a:r>
              <a:rPr lang="en-US" dirty="0" err="1"/>
              <a:t>self,name</a:t>
            </a:r>
            <a:r>
              <a:rPr lang="en-US" dirty="0"/>
              <a:t>):</a:t>
            </a:r>
          </a:p>
          <a:p>
            <a:endParaRPr lang="en-US" dirty="0"/>
          </a:p>
          <a:p>
            <a:r>
              <a:rPr lang="en-US" dirty="0"/>
              <a:t>        self.name=name</a:t>
            </a:r>
          </a:p>
          <a:p>
            <a:endParaRPr lang="en-US" dirty="0"/>
          </a:p>
          <a:p>
            <a:r>
              <a:rPr lang="en-US" dirty="0"/>
              <a:t>class Student(Person):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def</a:t>
            </a:r>
            <a:r>
              <a:rPr lang="en-US" dirty="0"/>
              <a:t> study(self):</a:t>
            </a:r>
          </a:p>
          <a:p>
            <a:endParaRPr lang="en-US" dirty="0"/>
          </a:p>
          <a:p>
            <a:r>
              <a:rPr lang="en-US" dirty="0"/>
              <a:t>        print(</a:t>
            </a:r>
            <a:r>
              <a:rPr lang="en-US" dirty="0" err="1"/>
              <a:t>self.name,"is</a:t>
            </a:r>
            <a:r>
              <a:rPr lang="en-US" dirty="0"/>
              <a:t> studying")</a:t>
            </a:r>
            <a:endParaRPr lang="ar-EG" dirty="0"/>
          </a:p>
        </p:txBody>
      </p:sp>
      <p:sp>
        <p:nvSpPr>
          <p:cNvPr id="5" name="Rectangle 4"/>
          <p:cNvSpPr/>
          <p:nvPr/>
        </p:nvSpPr>
        <p:spPr>
          <a:xfrm>
            <a:off x="6570133" y="291089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s=Student("Ali")</a:t>
            </a:r>
          </a:p>
          <a:p>
            <a:endParaRPr lang="en-US" dirty="0"/>
          </a:p>
          <a:p>
            <a:r>
              <a:rPr lang="en-US" dirty="0" err="1"/>
              <a:t>s.study</a:t>
            </a:r>
            <a:r>
              <a:rPr lang="en-US" dirty="0"/>
              <a:t>()</a:t>
            </a:r>
            <a:endParaRPr lang="ar-EG" dirty="0"/>
          </a:p>
        </p:txBody>
      </p:sp>
      <p:sp>
        <p:nvSpPr>
          <p:cNvPr id="6" name="Rectangle 5"/>
          <p:cNvSpPr/>
          <p:nvPr/>
        </p:nvSpPr>
        <p:spPr>
          <a:xfrm>
            <a:off x="1655986" y="5680880"/>
            <a:ext cx="85571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Child classes can inherit methods and add new methods.</a:t>
            </a:r>
            <a:endParaRPr lang="ar-EG" sz="2400" b="1" dirty="0"/>
          </a:p>
        </p:txBody>
      </p:sp>
    </p:spTree>
    <p:extLst>
      <p:ext uri="{BB962C8B-B14F-4D97-AF65-F5344CB8AC3E}">
        <p14:creationId xmlns:p14="http://schemas.microsoft.com/office/powerpoint/2010/main" val="3571947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7346" y="1238262"/>
            <a:ext cx="4937669" cy="978729"/>
          </a:xfrm>
        </p:spPr>
        <p:txBody>
          <a:bodyPr/>
          <a:lstStyle/>
          <a:p>
            <a:r>
              <a:rPr lang="en-US" dirty="0"/>
              <a:t>Method Overriding</a:t>
            </a:r>
            <a:endParaRPr lang="ar-EG" dirty="0"/>
          </a:p>
        </p:txBody>
      </p:sp>
      <p:sp>
        <p:nvSpPr>
          <p:cNvPr id="4" name="Rectangle 3"/>
          <p:cNvSpPr/>
          <p:nvPr/>
        </p:nvSpPr>
        <p:spPr>
          <a:xfrm>
            <a:off x="1161451" y="1994314"/>
            <a:ext cx="699867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Sometimes </a:t>
            </a:r>
            <a:r>
              <a:rPr lang="en-US" dirty="0">
                <a:solidFill>
                  <a:srgbClr val="C00000"/>
                </a:solidFill>
              </a:rPr>
              <a:t>the child wants to change the parent's method</a:t>
            </a:r>
            <a:r>
              <a:rPr lang="en-US" dirty="0" smtClean="0">
                <a:solidFill>
                  <a:srgbClr val="C00000"/>
                </a:solidFill>
              </a:rPr>
              <a:t>.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r>
              <a:rPr lang="en-US" dirty="0" smtClean="0">
                <a:solidFill>
                  <a:srgbClr val="C00000"/>
                </a:solidFill>
              </a:rPr>
              <a:t>This </a:t>
            </a:r>
            <a:r>
              <a:rPr lang="en-US" dirty="0">
                <a:solidFill>
                  <a:srgbClr val="C00000"/>
                </a:solidFill>
              </a:rPr>
              <a:t>is called Method Overriding.</a:t>
            </a:r>
            <a:endParaRPr lang="ar-EG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83200" y="2455979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solidFill>
                  <a:srgbClr val="065B94"/>
                </a:solidFill>
              </a:rPr>
              <a:t>class Animal</a:t>
            </a:r>
            <a:r>
              <a:rPr lang="en-US" sz="2400" dirty="0" smtClean="0">
                <a:solidFill>
                  <a:srgbClr val="065B94"/>
                </a:solidFill>
              </a:rPr>
              <a:t>:</a:t>
            </a:r>
          </a:p>
          <a:p>
            <a:r>
              <a:rPr lang="en-US" sz="2400" dirty="0" smtClean="0">
                <a:solidFill>
                  <a:srgbClr val="065B94"/>
                </a:solidFill>
              </a:rPr>
              <a:t>    </a:t>
            </a:r>
            <a:r>
              <a:rPr lang="en-US" sz="2400" dirty="0" err="1">
                <a:solidFill>
                  <a:srgbClr val="065B94"/>
                </a:solidFill>
              </a:rPr>
              <a:t>def</a:t>
            </a:r>
            <a:r>
              <a:rPr lang="en-US" sz="2400" dirty="0">
                <a:solidFill>
                  <a:srgbClr val="065B94"/>
                </a:solidFill>
              </a:rPr>
              <a:t> sound(self</a:t>
            </a:r>
            <a:r>
              <a:rPr lang="en-US" sz="2400" dirty="0" smtClean="0">
                <a:solidFill>
                  <a:srgbClr val="065B94"/>
                </a:solidFill>
              </a:rPr>
              <a:t>):</a:t>
            </a:r>
          </a:p>
          <a:p>
            <a:r>
              <a:rPr lang="en-US" sz="2400" dirty="0" smtClean="0">
                <a:solidFill>
                  <a:srgbClr val="065B94"/>
                </a:solidFill>
              </a:rPr>
              <a:t>        </a:t>
            </a:r>
            <a:r>
              <a:rPr lang="en-US" sz="2400" dirty="0">
                <a:solidFill>
                  <a:srgbClr val="065B94"/>
                </a:solidFill>
              </a:rPr>
              <a:t>print("Animal Sound</a:t>
            </a:r>
            <a:r>
              <a:rPr lang="en-US" sz="2400" dirty="0" smtClean="0">
                <a:solidFill>
                  <a:srgbClr val="065B94"/>
                </a:solidFill>
              </a:rPr>
              <a:t>")</a:t>
            </a:r>
          </a:p>
          <a:p>
            <a:r>
              <a:rPr lang="en-US" sz="2400" dirty="0" smtClean="0">
                <a:solidFill>
                  <a:srgbClr val="065B94"/>
                </a:solidFill>
              </a:rPr>
              <a:t>class </a:t>
            </a:r>
            <a:r>
              <a:rPr lang="en-US" sz="2400" dirty="0">
                <a:solidFill>
                  <a:srgbClr val="065B94"/>
                </a:solidFill>
              </a:rPr>
              <a:t>Dog(Animal</a:t>
            </a:r>
            <a:r>
              <a:rPr lang="en-US" sz="2400" dirty="0" smtClean="0">
                <a:solidFill>
                  <a:srgbClr val="065B94"/>
                </a:solidFill>
              </a:rPr>
              <a:t>):</a:t>
            </a:r>
          </a:p>
          <a:p>
            <a:r>
              <a:rPr lang="en-US" sz="2400" dirty="0" smtClean="0">
                <a:solidFill>
                  <a:srgbClr val="065B94"/>
                </a:solidFill>
              </a:rPr>
              <a:t>    </a:t>
            </a:r>
            <a:r>
              <a:rPr lang="en-US" sz="2400" dirty="0" err="1">
                <a:solidFill>
                  <a:srgbClr val="065B94"/>
                </a:solidFill>
              </a:rPr>
              <a:t>def</a:t>
            </a:r>
            <a:r>
              <a:rPr lang="en-US" sz="2400" dirty="0">
                <a:solidFill>
                  <a:srgbClr val="065B94"/>
                </a:solidFill>
              </a:rPr>
              <a:t> sound(self</a:t>
            </a:r>
            <a:r>
              <a:rPr lang="en-US" sz="2400" dirty="0" smtClean="0">
                <a:solidFill>
                  <a:srgbClr val="065B94"/>
                </a:solidFill>
              </a:rPr>
              <a:t>):</a:t>
            </a:r>
          </a:p>
          <a:p>
            <a:r>
              <a:rPr lang="en-US" sz="2400" dirty="0" smtClean="0">
                <a:solidFill>
                  <a:srgbClr val="065B94"/>
                </a:solidFill>
              </a:rPr>
              <a:t>        </a:t>
            </a:r>
            <a:r>
              <a:rPr lang="en-US" sz="2400" dirty="0">
                <a:solidFill>
                  <a:srgbClr val="065B94"/>
                </a:solidFill>
              </a:rPr>
              <a:t>print("Bark</a:t>
            </a:r>
            <a:r>
              <a:rPr lang="en-US" sz="2400" dirty="0" smtClean="0">
                <a:solidFill>
                  <a:srgbClr val="065B94"/>
                </a:solidFill>
              </a:rPr>
              <a:t>")</a:t>
            </a:r>
          </a:p>
          <a:p>
            <a:r>
              <a:rPr lang="en-US" sz="2400" dirty="0" smtClean="0">
                <a:solidFill>
                  <a:srgbClr val="065B94"/>
                </a:solidFill>
              </a:rPr>
              <a:t>d=Dog()</a:t>
            </a:r>
          </a:p>
          <a:p>
            <a:r>
              <a:rPr lang="en-US" sz="2400" dirty="0" err="1" smtClean="0">
                <a:solidFill>
                  <a:srgbClr val="065B94"/>
                </a:solidFill>
              </a:rPr>
              <a:t>d.sound</a:t>
            </a:r>
            <a:r>
              <a:rPr lang="en-US" sz="2400" dirty="0">
                <a:solidFill>
                  <a:srgbClr val="065B94"/>
                </a:solidFill>
              </a:rPr>
              <a:t>()</a:t>
            </a:r>
            <a:endParaRPr lang="ar-EG" sz="2400" dirty="0">
              <a:solidFill>
                <a:srgbClr val="065B94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5931" y="5502967"/>
            <a:ext cx="101088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Dog inherited sound() but replaced it with its own version.</a:t>
            </a:r>
            <a:endParaRPr lang="ar-EG" sz="2800" b="1" dirty="0"/>
          </a:p>
        </p:txBody>
      </p:sp>
    </p:spTree>
    <p:extLst>
      <p:ext uri="{BB962C8B-B14F-4D97-AF65-F5344CB8AC3E}">
        <p14:creationId xmlns:p14="http://schemas.microsoft.com/office/powerpoint/2010/main" val="306786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C19967-D6CF-BBB6-52B1-C5474B220E79}"/>
              </a:ext>
            </a:extLst>
          </p:cNvPr>
          <p:cNvSpPr/>
          <p:nvPr/>
        </p:nvSpPr>
        <p:spPr>
          <a:xfrm>
            <a:off x="3052537" y="2759501"/>
            <a:ext cx="5953677" cy="227511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 smtClean="0"/>
              <a:t>Thank You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676350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TI Brand">
      <a:dk1>
        <a:srgbClr val="000000"/>
      </a:dk1>
      <a:lt1>
        <a:srgbClr val="FFFFFF"/>
      </a:lt1>
      <a:dk2>
        <a:srgbClr val="06588F"/>
      </a:dk2>
      <a:lt2>
        <a:srgbClr val="FFFFFF"/>
      </a:lt2>
      <a:accent1>
        <a:srgbClr val="0E639E"/>
      </a:accent1>
      <a:accent2>
        <a:srgbClr val="E9A713"/>
      </a:accent2>
      <a:accent3>
        <a:srgbClr val="EA7355"/>
      </a:accent3>
      <a:accent4>
        <a:srgbClr val="4FA9AC"/>
      </a:accent4>
      <a:accent5>
        <a:srgbClr val="43BCFF"/>
      </a:accent5>
      <a:accent6>
        <a:srgbClr val="6079C2"/>
      </a:accent6>
      <a:hlink>
        <a:srgbClr val="688CC1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TI &amp; ESE" id="{1E3C099D-4D26-3541-9A32-31697215961B}" vid="{7F984A55-E95C-A54B-B073-2F5FB430A04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810</TotalTime>
  <Words>633</Words>
  <Application>Microsoft Office PowerPoint</Application>
  <PresentationFormat>Widescreen</PresentationFormat>
  <Paragraphs>182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Segoe UI</vt:lpstr>
      <vt:lpstr>Poppins Medium</vt:lpstr>
      <vt:lpstr>Playfair Display</vt:lpstr>
      <vt:lpstr>Inter</vt:lpstr>
      <vt:lpstr>Calibri</vt:lpstr>
      <vt:lpstr>Wingdings</vt:lpstr>
      <vt:lpstr>Office Theme</vt:lpstr>
      <vt:lpstr>PowerPoint Presentation</vt:lpstr>
      <vt:lpstr>PowerPoint Presentation</vt:lpstr>
      <vt:lpstr>Learning Outcomes</vt:lpstr>
      <vt:lpstr>PowerPoint Presentation</vt:lpstr>
      <vt:lpstr>Encapsulation      Definition</vt:lpstr>
      <vt:lpstr>Public Attributes</vt:lpstr>
      <vt:lpstr>Private Attributes</vt:lpstr>
      <vt:lpstr>Getter Method  To read private data</vt:lpstr>
      <vt:lpstr>Setter Method To update private data</vt:lpstr>
      <vt:lpstr>Break</vt:lpstr>
      <vt:lpstr>Why Encapsulation?  Without Encapsulation</vt:lpstr>
      <vt:lpstr>Inheritance  What is Inheritance? Definition</vt:lpstr>
      <vt:lpstr>Parent and Child Class</vt:lpstr>
      <vt:lpstr>Adding New Methods</vt:lpstr>
      <vt:lpstr>Method Overriding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Sally Samir</dc:creator>
  <cp:lastModifiedBy>SM</cp:lastModifiedBy>
  <cp:revision>58</cp:revision>
  <dcterms:created xsi:type="dcterms:W3CDTF">2026-03-27T11:30:08Z</dcterms:created>
  <dcterms:modified xsi:type="dcterms:W3CDTF">2026-07-26T20:04:16Z</dcterms:modified>
</cp:coreProperties>
</file>