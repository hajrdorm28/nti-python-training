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10" r:id="rId18"/>
    <p:sldId id="311" r:id="rId19"/>
    <p:sldId id="313" r:id="rId20"/>
    <p:sldId id="312" r:id="rId21"/>
    <p:sldId id="280" r:id="rId22"/>
    <p:sldId id="315" r:id="rId23"/>
  </p:sldIdLst>
  <p:sldSz cx="12192000" cy="6858000"/>
  <p:notesSz cx="6858000" cy="9144000"/>
  <p:embeddedFontLst>
    <p:embeddedFont>
      <p:font typeface="Segoe UI" panose="020B0502040204020203" pitchFamily="34" charset="0"/>
      <p:regular r:id="rId25"/>
      <p:bold r:id="rId26"/>
      <p:italic r:id="rId27"/>
      <p:boldItalic r:id="rId28"/>
    </p:embeddedFont>
    <p:embeddedFont>
      <p:font typeface="Calibri" panose="020F0502020204030204" pitchFamily="34" charset="0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B94"/>
    <a:srgbClr val="0D7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 autoAdjust="0"/>
    <p:restoredTop sz="91061" autoAdjust="0"/>
  </p:normalViewPr>
  <p:slideViewPr>
    <p:cSldViewPr snapToGrid="0">
      <p:cViewPr varScale="1">
        <p:scale>
          <a:sx n="77" d="100"/>
          <a:sy n="77" d="100"/>
        </p:scale>
        <p:origin x="552" y="90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01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37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7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4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9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64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60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23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22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08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65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905060" y="1148050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4430731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10" y="151463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590" y="149934"/>
            <a:ext cx="1513435" cy="7313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9557" y="5223353"/>
            <a:ext cx="4373890" cy="95410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b="1" dirty="0" smtClean="0">
                <a:solidFill>
                  <a:srgbClr val="065B94"/>
                </a:solidFill>
              </a:rPr>
              <a:t>Instructor : </a:t>
            </a:r>
            <a:r>
              <a:rPr lang="en-US" sz="2800" b="1" dirty="0" err="1" smtClean="0">
                <a:solidFill>
                  <a:srgbClr val="065B94"/>
                </a:solidFill>
              </a:rPr>
              <a:t>Doaa</a:t>
            </a:r>
            <a:r>
              <a:rPr lang="en-US" sz="2800" b="1" dirty="0" smtClean="0">
                <a:solidFill>
                  <a:srgbClr val="065B94"/>
                </a:solidFill>
              </a:rPr>
              <a:t> </a:t>
            </a:r>
            <a:r>
              <a:rPr lang="en-US" sz="2800" b="1" dirty="0" err="1" smtClean="0">
                <a:solidFill>
                  <a:srgbClr val="065B94"/>
                </a:solidFill>
              </a:rPr>
              <a:t>M.Taha</a:t>
            </a:r>
            <a:endParaRPr lang="en-US" sz="2800" b="1" dirty="0" smtClean="0">
              <a:solidFill>
                <a:srgbClr val="065B94"/>
              </a:solidFill>
            </a:endParaRPr>
          </a:p>
          <a:p>
            <a:r>
              <a:rPr lang="en-US" sz="2800" b="1" dirty="0" smtClean="0">
                <a:solidFill>
                  <a:srgbClr val="065B94"/>
                </a:solidFill>
              </a:rPr>
              <a:t>Data Analyst</a:t>
            </a:r>
            <a:endParaRPr lang="ar-EG" sz="2800" b="1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174170" y="2132902"/>
            <a:ext cx="11700503" cy="3644900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1619576" y="2599477"/>
            <a:ext cx="955364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b="1" dirty="0"/>
          </a:p>
          <a:p>
            <a:r>
              <a:rPr lang="en-US" sz="6000" b="1" dirty="0">
                <a:solidFill>
                  <a:schemeClr val="bg1"/>
                </a:solidFill>
              </a:rPr>
              <a:t>Session </a:t>
            </a:r>
            <a:r>
              <a:rPr lang="en-US" sz="6000" b="1" dirty="0" smtClean="0">
                <a:solidFill>
                  <a:schemeClr val="bg1"/>
                </a:solidFill>
              </a:rPr>
              <a:t>6 :Tuples </a:t>
            </a:r>
            <a:r>
              <a:rPr lang="en-US" sz="6000" b="1" dirty="0">
                <a:solidFill>
                  <a:schemeClr val="bg1"/>
                </a:solidFill>
              </a:rPr>
              <a:t>&amp; Sets</a:t>
            </a:r>
          </a:p>
          <a:p>
            <a:endParaRPr lang="en-US" sz="4800" b="1" dirty="0">
              <a:solidFill>
                <a:schemeClr val="bg2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99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385" y="1020656"/>
            <a:ext cx="10515600" cy="646331"/>
          </a:xfrm>
        </p:spPr>
        <p:txBody>
          <a:bodyPr/>
          <a:lstStyle/>
          <a:p>
            <a:r>
              <a:rPr lang="en-US" sz="4000" dirty="0" smtClean="0">
                <a:latin typeface="+mj-lt"/>
              </a:rPr>
              <a:t>Learning Outcomes</a:t>
            </a:r>
            <a:endParaRPr lang="en-EG" sz="40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78136-80FD-6B50-54D6-A3954F50D64C}"/>
              </a:ext>
            </a:extLst>
          </p:cNvPr>
          <p:cNvSpPr txBox="1"/>
          <p:nvPr/>
        </p:nvSpPr>
        <p:spPr>
          <a:xfrm>
            <a:off x="5636694" y="2774756"/>
            <a:ext cx="5531470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chemeClr val="bg2"/>
                </a:solidFill>
                <a:latin typeface="+mj-lt"/>
                <a:cs typeface="Segoe UI" panose="020B0502040204020203" pitchFamily="34" charset="0"/>
              </a:rPr>
              <a:t>r</a:t>
            </a:r>
            <a:endParaRPr lang="en-US" sz="1600" dirty="0">
              <a:solidFill>
                <a:schemeClr val="bg2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037D3-AC89-8E5A-BCA6-061E80E19998}"/>
              </a:ext>
            </a:extLst>
          </p:cNvPr>
          <p:cNvSpPr txBox="1"/>
          <p:nvPr/>
        </p:nvSpPr>
        <p:spPr>
          <a:xfrm>
            <a:off x="1194005" y="1343822"/>
            <a:ext cx="101379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0">
                <a:solidFill>
                  <a:schemeClr val="tx2"/>
                </a:solidFill>
                <a:latin typeface="Playfair Display" pitchFamily="2" charset="0"/>
              </a:defRPr>
            </a:lvl1pPr>
          </a:lstStyle>
          <a:p>
            <a:endParaRPr lang="en-US" sz="3600" b="1" dirty="0"/>
          </a:p>
          <a:p>
            <a:r>
              <a:rPr lang="en-US" sz="3600" dirty="0" smtClean="0"/>
              <a:t>By </a:t>
            </a:r>
            <a:r>
              <a:rPr lang="en-US" sz="3600" dirty="0"/>
              <a:t>the end of this session, you will be able to: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Define tuples and sets.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Create tuples and sets.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Access tuple elements.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Understand tuple immutability.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Use common set methods.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Perform set operations.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/>
              <a:t>Solve problems using tuples and sets. </a:t>
            </a:r>
          </a:p>
          <a:p>
            <a:endParaRPr lang="en-US" sz="3600" dirty="0">
              <a:latin typeface="+mj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41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78634-F6B2-B5A9-441F-37C6B8A6B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7537" y="1391889"/>
            <a:ext cx="4074856" cy="590931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 smtClean="0">
                <a:latin typeface="+mn-lt"/>
              </a:rPr>
              <a:t>Review</a:t>
            </a:r>
            <a:endParaRPr lang="en-EG" sz="36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95812" y="2140618"/>
            <a:ext cx="7210817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Quick </a:t>
            </a:r>
            <a:r>
              <a:rPr lang="en-US" sz="2800" b="1" dirty="0" smtClean="0">
                <a:solidFill>
                  <a:srgbClr val="FF0000"/>
                </a:solidFill>
              </a:rPr>
              <a:t>Questions</a:t>
            </a:r>
          </a:p>
          <a:p>
            <a:endParaRPr lang="en-US" sz="2800" b="1" dirty="0" smtClean="0"/>
          </a:p>
          <a:p>
            <a:r>
              <a:rPr lang="en-US" sz="2400" dirty="0" smtClean="0"/>
              <a:t>What </a:t>
            </a:r>
            <a:r>
              <a:rPr lang="en-US" sz="2400" dirty="0"/>
              <a:t>is a list</a:t>
            </a:r>
            <a:r>
              <a:rPr lang="en-US" sz="2400" dirty="0" smtClean="0"/>
              <a:t>?</a:t>
            </a:r>
          </a:p>
          <a:p>
            <a:endParaRPr lang="en-US" sz="2400" dirty="0" smtClean="0"/>
          </a:p>
          <a:p>
            <a:r>
              <a:rPr lang="en-US" sz="2400" dirty="0" smtClean="0"/>
              <a:t>Is </a:t>
            </a:r>
            <a:r>
              <a:rPr lang="en-US" sz="2400" dirty="0"/>
              <a:t>a list mutable</a:t>
            </a:r>
            <a:r>
              <a:rPr lang="en-US" sz="2400" dirty="0" smtClean="0"/>
              <a:t>?</a:t>
            </a:r>
          </a:p>
          <a:p>
            <a:endParaRPr lang="en-US" sz="2400" dirty="0" smtClean="0"/>
          </a:p>
          <a:p>
            <a:r>
              <a:rPr lang="en-US" sz="2400" dirty="0" smtClean="0"/>
              <a:t>How </a:t>
            </a:r>
            <a:r>
              <a:rPr lang="en-US" sz="2400" dirty="0"/>
              <a:t>do we add an element to a list</a:t>
            </a:r>
            <a:r>
              <a:rPr lang="en-US" sz="2400" dirty="0" smtClean="0"/>
              <a:t>?</a:t>
            </a:r>
          </a:p>
          <a:p>
            <a:endParaRPr lang="en-US" sz="2400" dirty="0" smtClean="0"/>
          </a:p>
          <a:p>
            <a:r>
              <a:rPr lang="en-US" sz="2400" dirty="0" smtClean="0"/>
              <a:t>How </a:t>
            </a:r>
            <a:r>
              <a:rPr lang="en-US" sz="2400" dirty="0"/>
              <a:t>do we remove an element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r>
              <a:rPr lang="en-US" sz="2400" dirty="0" smtClean="0"/>
              <a:t>What </a:t>
            </a:r>
            <a:r>
              <a:rPr lang="en-US" sz="2400" dirty="0"/>
              <a:t>is indexing?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155627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10800-D88D-544B-9928-C765DD7B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/>
          <a:lstStyle/>
          <a:p>
            <a:r>
              <a:rPr lang="en-US" sz="3600" dirty="0"/>
              <a:t>What is a Tuple?</a:t>
            </a:r>
            <a:endParaRPr lang="en-EG" sz="3600" dirty="0"/>
          </a:p>
        </p:txBody>
      </p:sp>
      <p:sp>
        <p:nvSpPr>
          <p:cNvPr id="5" name="Rectangle 4"/>
          <p:cNvSpPr/>
          <p:nvPr/>
        </p:nvSpPr>
        <p:spPr>
          <a:xfrm>
            <a:off x="1031308" y="2128091"/>
            <a:ext cx="1103125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 tuple is an ordered collection of items</a:t>
            </a:r>
            <a:r>
              <a:rPr lang="en-US" sz="2400" dirty="0" smtClean="0">
                <a:solidFill>
                  <a:schemeClr val="tx2"/>
                </a:solidFill>
              </a:rPr>
              <a:t>.</a:t>
            </a:r>
          </a:p>
          <a:p>
            <a:endParaRPr lang="en-US" sz="2400" dirty="0" smtClean="0">
              <a:solidFill>
                <a:schemeClr val="tx2"/>
              </a:solidFill>
            </a:endParaRPr>
          </a:p>
          <a:p>
            <a:r>
              <a:rPr lang="en-US" sz="2400" dirty="0" smtClean="0">
                <a:solidFill>
                  <a:schemeClr val="tx2"/>
                </a:solidFill>
              </a:rPr>
              <a:t>A </a:t>
            </a:r>
            <a:r>
              <a:rPr lang="en-US" sz="2400" dirty="0">
                <a:solidFill>
                  <a:schemeClr val="tx2"/>
                </a:solidFill>
              </a:rPr>
              <a:t>tuple is immutable, which means its values cannot be changed after creation</a:t>
            </a:r>
            <a:r>
              <a:rPr lang="en-US" sz="2400" dirty="0" smtClean="0">
                <a:solidFill>
                  <a:schemeClr val="tx2"/>
                </a:solidFill>
              </a:rPr>
              <a:t>.</a:t>
            </a:r>
          </a:p>
          <a:p>
            <a:endParaRPr lang="en-US" sz="2400" dirty="0" smtClean="0">
              <a:solidFill>
                <a:schemeClr val="tx2"/>
              </a:solidFill>
            </a:endParaRPr>
          </a:p>
          <a:p>
            <a:endParaRPr lang="en-US" dirty="0"/>
          </a:p>
          <a:p>
            <a:r>
              <a:rPr lang="en-US" sz="3600" b="1" dirty="0" smtClean="0"/>
              <a:t>Syntax</a:t>
            </a:r>
            <a:endParaRPr lang="ar-EG" sz="3600" b="1" dirty="0"/>
          </a:p>
        </p:txBody>
      </p:sp>
      <p:sp>
        <p:nvSpPr>
          <p:cNvPr id="6" name="Rectangle 5"/>
          <p:cNvSpPr/>
          <p:nvPr/>
        </p:nvSpPr>
        <p:spPr>
          <a:xfrm>
            <a:off x="1589234" y="4672302"/>
            <a:ext cx="44775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numbers = (10, 20, 30)</a:t>
            </a:r>
            <a:endParaRPr lang="ar-EG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8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D770F-3897-47FC-371D-7EC698F2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71522"/>
            <a:ext cx="10515600" cy="590931"/>
          </a:xfrm>
        </p:spPr>
        <p:txBody>
          <a:bodyPr/>
          <a:lstStyle/>
          <a:p>
            <a:r>
              <a:rPr lang="en-US" sz="3600" dirty="0"/>
              <a:t>Tuple vs List</a:t>
            </a:r>
            <a:endParaRPr lang="en-EG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153" y="2566704"/>
            <a:ext cx="7270690" cy="285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44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829259" y="2574059"/>
            <a:ext cx="7863803" cy="3255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numbers = (10,20,30)</a:t>
            </a:r>
          </a:p>
          <a:p>
            <a:endParaRPr lang="en-US" sz="2400" b="1" dirty="0"/>
          </a:p>
          <a:p>
            <a:r>
              <a:rPr lang="en-US" sz="2400" b="1" dirty="0"/>
              <a:t>names = ("</a:t>
            </a:r>
            <a:r>
              <a:rPr lang="en-US" sz="2400" b="1" dirty="0" err="1"/>
              <a:t>Ali","Sara","Ahmed</a:t>
            </a:r>
            <a:r>
              <a:rPr lang="en-US" sz="2400" b="1" dirty="0"/>
              <a:t>")</a:t>
            </a:r>
          </a:p>
          <a:p>
            <a:endParaRPr lang="en-US" sz="2400" b="1" dirty="0"/>
          </a:p>
          <a:p>
            <a:r>
              <a:rPr lang="en-US" sz="2400" b="1" dirty="0"/>
              <a:t>mixed = (10,"Ali",True,3.5)</a:t>
            </a:r>
          </a:p>
          <a:p>
            <a:endParaRPr lang="en-US" sz="2400" b="1" dirty="0"/>
          </a:p>
          <a:p>
            <a:r>
              <a:rPr lang="en-US" sz="2400" b="1" dirty="0"/>
              <a:t>empty = ()</a:t>
            </a:r>
            <a:endParaRPr lang="en-US" sz="24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4FB870-6B5F-BCFC-FE68-5F08948E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Tuples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AD466-D315-1A54-59BE-E0E6B059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794181"/>
            <a:ext cx="6477224" cy="590931"/>
          </a:xfrm>
        </p:spPr>
        <p:txBody>
          <a:bodyPr/>
          <a:lstStyle/>
          <a:p>
            <a:r>
              <a:rPr lang="en-US" sz="3600" dirty="0"/>
              <a:t>Accessing Tuple Elements</a:t>
            </a:r>
            <a:endParaRPr lang="en-EG" sz="3600" dirty="0"/>
          </a:p>
        </p:txBody>
      </p:sp>
      <p:sp>
        <p:nvSpPr>
          <p:cNvPr id="4" name="Rectangle 3"/>
          <p:cNvSpPr/>
          <p:nvPr/>
        </p:nvSpPr>
        <p:spPr>
          <a:xfrm>
            <a:off x="1958235" y="2826696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names = ("</a:t>
            </a:r>
            <a:r>
              <a:rPr lang="en-US" sz="2800" b="1" dirty="0" err="1">
                <a:solidFill>
                  <a:schemeClr val="tx2"/>
                </a:solidFill>
              </a:rPr>
              <a:t>Ali","Sara","Ahmed</a:t>
            </a:r>
            <a:r>
              <a:rPr lang="en-US" sz="2800" b="1" dirty="0">
                <a:solidFill>
                  <a:schemeClr val="tx2"/>
                </a:solidFill>
              </a:rPr>
              <a:t>")</a:t>
            </a:r>
          </a:p>
          <a:p>
            <a:endParaRPr lang="en-US" sz="2800" b="1" dirty="0">
              <a:solidFill>
                <a:schemeClr val="tx2"/>
              </a:solidFill>
            </a:endParaRPr>
          </a:p>
          <a:p>
            <a:r>
              <a:rPr lang="en-US" sz="2800" b="1" dirty="0">
                <a:solidFill>
                  <a:schemeClr val="tx2"/>
                </a:solidFill>
              </a:rPr>
              <a:t>print(names[0])</a:t>
            </a:r>
          </a:p>
          <a:p>
            <a:endParaRPr lang="en-US" sz="2800" b="1" dirty="0">
              <a:solidFill>
                <a:schemeClr val="tx2"/>
              </a:solidFill>
            </a:endParaRPr>
          </a:p>
          <a:p>
            <a:r>
              <a:rPr lang="en-US" sz="2800" b="1" dirty="0">
                <a:solidFill>
                  <a:schemeClr val="tx2"/>
                </a:solidFill>
              </a:rPr>
              <a:t>print(names[2])</a:t>
            </a:r>
          </a:p>
          <a:p>
            <a:endParaRPr lang="en-US" sz="2800" b="1" dirty="0">
              <a:solidFill>
                <a:schemeClr val="tx2"/>
              </a:solidFill>
            </a:endParaRPr>
          </a:p>
          <a:p>
            <a:r>
              <a:rPr lang="en-US" sz="2800" b="1" dirty="0">
                <a:solidFill>
                  <a:schemeClr val="tx2"/>
                </a:solidFill>
              </a:rPr>
              <a:t>print(names[-1])</a:t>
            </a:r>
            <a:endParaRPr lang="ar-EG" sz="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8D2C7-CEEA-6779-FA0E-43D3652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607" y="1470273"/>
            <a:ext cx="6502276" cy="590931"/>
          </a:xfrm>
        </p:spPr>
        <p:txBody>
          <a:bodyPr/>
          <a:lstStyle/>
          <a:p>
            <a:r>
              <a:rPr lang="en-US" sz="3600" dirty="0"/>
              <a:t>Tuple Packing &amp; Unpacking</a:t>
            </a:r>
            <a:endParaRPr lang="en-EG" sz="3600" dirty="0"/>
          </a:p>
        </p:txBody>
      </p:sp>
      <p:sp>
        <p:nvSpPr>
          <p:cNvPr id="6" name="Rectangle 5"/>
          <p:cNvSpPr/>
          <p:nvPr/>
        </p:nvSpPr>
        <p:spPr>
          <a:xfrm>
            <a:off x="1657611" y="2288078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student = ("Ali",20,"Cairo")</a:t>
            </a:r>
          </a:p>
          <a:p>
            <a:endParaRPr lang="en-US" sz="3600" dirty="0">
              <a:solidFill>
                <a:srgbClr val="C00000"/>
              </a:solidFill>
            </a:endParaRPr>
          </a:p>
          <a:p>
            <a:r>
              <a:rPr lang="en-US" sz="3600" dirty="0">
                <a:solidFill>
                  <a:srgbClr val="C00000"/>
                </a:solidFill>
              </a:rPr>
              <a:t>name, age, city = student</a:t>
            </a:r>
          </a:p>
          <a:p>
            <a:endParaRPr lang="en-US" sz="3600" dirty="0">
              <a:solidFill>
                <a:srgbClr val="C00000"/>
              </a:solidFill>
            </a:endParaRPr>
          </a:p>
          <a:p>
            <a:r>
              <a:rPr lang="en-US" sz="3600" dirty="0">
                <a:solidFill>
                  <a:srgbClr val="C00000"/>
                </a:solidFill>
              </a:rPr>
              <a:t>print(name)</a:t>
            </a:r>
          </a:p>
          <a:p>
            <a:r>
              <a:rPr lang="en-US" sz="3600" dirty="0">
                <a:solidFill>
                  <a:srgbClr val="C00000"/>
                </a:solidFill>
              </a:rPr>
              <a:t>print(age)</a:t>
            </a:r>
          </a:p>
          <a:p>
            <a:r>
              <a:rPr lang="en-US" sz="3600" dirty="0">
                <a:solidFill>
                  <a:srgbClr val="C00000"/>
                </a:solidFill>
              </a:rPr>
              <a:t>print(city)</a:t>
            </a:r>
            <a:endParaRPr lang="ar-EG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9BE851-8669-DFBC-3FF1-F20DA06F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776" y="1614430"/>
            <a:ext cx="3839049" cy="590931"/>
          </a:xfrm>
        </p:spPr>
        <p:txBody>
          <a:bodyPr/>
          <a:lstStyle/>
          <a:p>
            <a:r>
              <a:rPr lang="en-US" sz="3600" dirty="0"/>
              <a:t>Tuple Methods</a:t>
            </a:r>
            <a:endParaRPr lang="en-EG" sz="3600" dirty="0"/>
          </a:p>
        </p:txBody>
      </p:sp>
      <p:sp>
        <p:nvSpPr>
          <p:cNvPr id="6" name="Rectangle 5"/>
          <p:cNvSpPr/>
          <p:nvPr/>
        </p:nvSpPr>
        <p:spPr>
          <a:xfrm>
            <a:off x="1663578" y="2205361"/>
            <a:ext cx="44823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Only two methods are available</a:t>
            </a:r>
            <a:endParaRPr lang="ar-EG" sz="2400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4460" y="3404320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numbers=(1,2,3,2,4,2)</a:t>
            </a:r>
          </a:p>
          <a:p>
            <a:endParaRPr lang="en-US" sz="2800" dirty="0"/>
          </a:p>
          <a:p>
            <a:r>
              <a:rPr lang="en-US" sz="2800" dirty="0"/>
              <a:t>print(</a:t>
            </a:r>
            <a:r>
              <a:rPr lang="en-US" sz="2800" dirty="0" err="1"/>
              <a:t>numbers.count</a:t>
            </a:r>
            <a:r>
              <a:rPr lang="en-US" sz="2800" dirty="0"/>
              <a:t>(2))</a:t>
            </a:r>
          </a:p>
          <a:p>
            <a:endParaRPr lang="en-US" sz="2800" dirty="0"/>
          </a:p>
          <a:p>
            <a:r>
              <a:rPr lang="en-US" sz="2800" dirty="0"/>
              <a:t>print(</a:t>
            </a:r>
            <a:r>
              <a:rPr lang="en-US" sz="2800" dirty="0" err="1"/>
              <a:t>numbers.index</a:t>
            </a:r>
            <a:r>
              <a:rPr lang="en-US" sz="2800" dirty="0"/>
              <a:t>(3))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3172006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3D099-E932-301A-BF46-FD04B70C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183" y="1339749"/>
            <a:ext cx="6036335" cy="978729"/>
          </a:xfrm>
        </p:spPr>
        <p:txBody>
          <a:bodyPr/>
          <a:lstStyle/>
          <a:p>
            <a:r>
              <a:rPr lang="en-US" dirty="0"/>
              <a:t>Can We Modify a Tuple?</a:t>
            </a:r>
            <a:endParaRPr lang="en-EG" dirty="0"/>
          </a:p>
        </p:txBody>
      </p:sp>
      <p:sp>
        <p:nvSpPr>
          <p:cNvPr id="5" name="Rectangle 4"/>
          <p:cNvSpPr/>
          <p:nvPr/>
        </p:nvSpPr>
        <p:spPr>
          <a:xfrm>
            <a:off x="1895605" y="231847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numbers=(10,20,30)</a:t>
            </a:r>
          </a:p>
          <a:p>
            <a:endParaRPr lang="en-US" sz="3200" b="1" dirty="0">
              <a:solidFill>
                <a:srgbClr val="C00000"/>
              </a:solidFill>
            </a:endParaRPr>
          </a:p>
          <a:p>
            <a:r>
              <a:rPr lang="en-US" sz="3200" b="1" dirty="0">
                <a:solidFill>
                  <a:srgbClr val="C00000"/>
                </a:solidFill>
              </a:rPr>
              <a:t>numbers[0]=100</a:t>
            </a:r>
            <a:endParaRPr lang="ar-EG" sz="3200" b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91183" y="4205498"/>
            <a:ext cx="6096000" cy="15081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/>
              <a:t>Question</a:t>
            </a:r>
            <a:r>
              <a:rPr lang="en-US" sz="3200" b="1" dirty="0" smtClean="0"/>
              <a:t>❓</a:t>
            </a:r>
          </a:p>
          <a:p>
            <a:endParaRPr lang="en-US" sz="2000" dirty="0" smtClean="0">
              <a:solidFill>
                <a:srgbClr val="C00000"/>
              </a:solidFill>
            </a:endParaRPr>
          </a:p>
          <a:p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>
                <a:solidFill>
                  <a:srgbClr val="C00000"/>
                </a:solidFill>
              </a:rPr>
              <a:t>What will happen</a:t>
            </a:r>
            <a:r>
              <a:rPr lang="en-US" sz="2000" dirty="0" smtClean="0">
                <a:solidFill>
                  <a:srgbClr val="C00000"/>
                </a:solidFill>
              </a:rPr>
              <a:t>?</a:t>
            </a:r>
          </a:p>
          <a:p>
            <a:r>
              <a:rPr lang="en-US" sz="2000" dirty="0" smtClean="0">
                <a:solidFill>
                  <a:srgbClr val="C00000"/>
                </a:solidFill>
              </a:rPr>
              <a:t>Answer</a:t>
            </a:r>
            <a:r>
              <a:rPr lang="en-US" sz="2000" dirty="0">
                <a:solidFill>
                  <a:srgbClr val="C00000"/>
                </a:solidFill>
              </a:rPr>
              <a:t>: </a:t>
            </a:r>
            <a:r>
              <a:rPr lang="en-US" sz="2000" dirty="0" err="1">
                <a:solidFill>
                  <a:srgbClr val="C00000"/>
                </a:solidFill>
              </a:rPr>
              <a:t>TypeError</a:t>
            </a:r>
            <a:r>
              <a:rPr lang="en-US" sz="2000" dirty="0">
                <a:solidFill>
                  <a:srgbClr val="C00000"/>
                </a:solidFill>
              </a:rPr>
              <a:t> because tuples are immutable.</a:t>
            </a:r>
            <a:endParaRPr lang="ar-EG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02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3307BB-0D80-ECE3-B4AA-C80615F2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43822"/>
            <a:ext cx="10515600" cy="646331"/>
          </a:xfrm>
        </p:spPr>
        <p:txBody>
          <a:bodyPr/>
          <a:lstStyle/>
          <a:p>
            <a:r>
              <a:rPr lang="en-US" sz="4000" dirty="0"/>
              <a:t>Practice</a:t>
            </a:r>
            <a:endParaRPr lang="en-EG" sz="4000" dirty="0"/>
          </a:p>
        </p:txBody>
      </p:sp>
      <p:sp>
        <p:nvSpPr>
          <p:cNvPr id="4" name="Rectangle 3"/>
          <p:cNvSpPr/>
          <p:nvPr/>
        </p:nvSpPr>
        <p:spPr>
          <a:xfrm>
            <a:off x="1782870" y="2216486"/>
            <a:ext cx="6096000" cy="390876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Create </a:t>
            </a:r>
            <a:r>
              <a:rPr lang="en-US" sz="3200" b="1" dirty="0">
                <a:solidFill>
                  <a:srgbClr val="C00000"/>
                </a:solidFill>
              </a:rPr>
              <a:t>a tuple containing</a:t>
            </a:r>
            <a:r>
              <a:rPr lang="en-US" sz="3200" b="1" dirty="0" smtClean="0">
                <a:solidFill>
                  <a:srgbClr val="C00000"/>
                </a:solidFill>
              </a:rPr>
              <a:t>:</a:t>
            </a:r>
          </a:p>
          <a:p>
            <a:r>
              <a:rPr lang="en-US" sz="2400" dirty="0" smtClean="0"/>
              <a:t>5 </a:t>
            </a:r>
            <a:r>
              <a:rPr lang="en-US" sz="2400" dirty="0"/>
              <a:t>student </a:t>
            </a:r>
            <a:r>
              <a:rPr lang="en-US" sz="2400" dirty="0" smtClean="0"/>
              <a:t>names</a:t>
            </a:r>
          </a:p>
          <a:p>
            <a:endParaRPr lang="en-US" sz="2400" dirty="0" smtClean="0"/>
          </a:p>
          <a:p>
            <a:r>
              <a:rPr lang="en-US" sz="2400" dirty="0" smtClean="0"/>
              <a:t>Print:</a:t>
            </a:r>
          </a:p>
          <a:p>
            <a:endParaRPr lang="en-US" sz="2400" dirty="0" smtClean="0"/>
          </a:p>
          <a:p>
            <a:r>
              <a:rPr lang="en-US" sz="2400" dirty="0" smtClean="0"/>
              <a:t>First student</a:t>
            </a:r>
          </a:p>
          <a:p>
            <a:endParaRPr lang="en-US" sz="2400" dirty="0"/>
          </a:p>
          <a:p>
            <a:r>
              <a:rPr lang="en-US" sz="2400" dirty="0" smtClean="0"/>
              <a:t>Last student</a:t>
            </a:r>
          </a:p>
          <a:p>
            <a:endParaRPr lang="en-US" sz="2400" dirty="0"/>
          </a:p>
          <a:p>
            <a:r>
              <a:rPr lang="en-US" sz="2400" dirty="0" smtClean="0"/>
              <a:t>Number </a:t>
            </a:r>
            <a:r>
              <a:rPr lang="en-US" sz="2400" dirty="0"/>
              <a:t>of students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3127841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6BFE8-E69C-20E6-2B41-DB0B2F9F114E}"/>
              </a:ext>
            </a:extLst>
          </p:cNvPr>
          <p:cNvSpPr/>
          <p:nvPr/>
        </p:nvSpPr>
        <p:spPr>
          <a:xfrm>
            <a:off x="9104081" y="1072599"/>
            <a:ext cx="2121131" cy="4247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184AAA-ECF6-DA6C-15A8-8B4D6A87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834" y="1348745"/>
            <a:ext cx="4009871" cy="701731"/>
          </a:xfrm>
        </p:spPr>
        <p:txBody>
          <a:bodyPr/>
          <a:lstStyle/>
          <a:p>
            <a:r>
              <a:rPr lang="en-US" sz="4400" dirty="0"/>
              <a:t>What is a Set?</a:t>
            </a:r>
            <a:endParaRPr lang="en-EG" sz="4400" dirty="0"/>
          </a:p>
        </p:txBody>
      </p:sp>
      <p:sp>
        <p:nvSpPr>
          <p:cNvPr id="4" name="Rectangle 3"/>
          <p:cNvSpPr/>
          <p:nvPr/>
        </p:nvSpPr>
        <p:spPr>
          <a:xfrm>
            <a:off x="1206673" y="2817736"/>
            <a:ext cx="75364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A set is an unordered collection of unique values</a:t>
            </a:r>
            <a:r>
              <a:rPr lang="en-US" sz="2400" b="1" dirty="0" smtClean="0">
                <a:solidFill>
                  <a:srgbClr val="C00000"/>
                </a:solidFill>
              </a:rPr>
              <a:t>.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endParaRPr lang="en-US" sz="2400" b="1" dirty="0" smtClean="0">
              <a:solidFill>
                <a:srgbClr val="C00000"/>
              </a:solidFill>
            </a:endParaRPr>
          </a:p>
          <a:p>
            <a:r>
              <a:rPr lang="en-US" sz="2400" b="1" dirty="0" smtClean="0">
                <a:solidFill>
                  <a:srgbClr val="C00000"/>
                </a:solidFill>
              </a:rPr>
              <a:t>Duplicate </a:t>
            </a:r>
            <a:r>
              <a:rPr lang="en-US" sz="2400" b="1" dirty="0">
                <a:solidFill>
                  <a:srgbClr val="C00000"/>
                </a:solidFill>
              </a:rPr>
              <a:t>values are removed automatically.</a:t>
            </a:r>
            <a:endParaRPr lang="ar-EG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797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016C7-CF03-F004-6EEF-46CD4567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43822"/>
            <a:ext cx="10515600" cy="646331"/>
          </a:xfrm>
        </p:spPr>
        <p:txBody>
          <a:bodyPr>
            <a:spAutoFit/>
          </a:bodyPr>
          <a:lstStyle/>
          <a:p>
            <a:r>
              <a:rPr lang="en-US" sz="4000" dirty="0"/>
              <a:t>Creating Sets</a:t>
            </a:r>
            <a:endParaRPr lang="en-EG" sz="4000" dirty="0"/>
          </a:p>
        </p:txBody>
      </p:sp>
      <p:sp>
        <p:nvSpPr>
          <p:cNvPr id="4" name="Rectangle 3"/>
          <p:cNvSpPr/>
          <p:nvPr/>
        </p:nvSpPr>
        <p:spPr>
          <a:xfrm>
            <a:off x="1544877" y="2115565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65B94"/>
                </a:solidFill>
              </a:rPr>
              <a:t>numbers = {1,2,3,4}</a:t>
            </a:r>
          </a:p>
          <a:p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>
                <a:solidFill>
                  <a:srgbClr val="065B94"/>
                </a:solidFill>
              </a:rPr>
              <a:t>colors = {"</a:t>
            </a:r>
            <a:r>
              <a:rPr lang="en-US" sz="2800" dirty="0" err="1">
                <a:solidFill>
                  <a:srgbClr val="065B94"/>
                </a:solidFill>
              </a:rPr>
              <a:t>Red","Blue","Green</a:t>
            </a:r>
            <a:r>
              <a:rPr lang="en-US" sz="2800" dirty="0">
                <a:solidFill>
                  <a:srgbClr val="065B94"/>
                </a:solidFill>
              </a:rPr>
              <a:t>"}</a:t>
            </a:r>
            <a:endParaRPr lang="ar-EG" sz="2800" dirty="0">
              <a:solidFill>
                <a:srgbClr val="065B9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2564" y="3883162"/>
            <a:ext cx="38525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Duplicate Values</a:t>
            </a:r>
            <a:endParaRPr lang="ar-EG" sz="3600" b="1" dirty="0"/>
          </a:p>
        </p:txBody>
      </p:sp>
      <p:sp>
        <p:nvSpPr>
          <p:cNvPr id="6" name="Rectangle 5"/>
          <p:cNvSpPr/>
          <p:nvPr/>
        </p:nvSpPr>
        <p:spPr>
          <a:xfrm>
            <a:off x="1544877" y="4771083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65B94"/>
                </a:solidFill>
              </a:rPr>
              <a:t>numbers={1,2,3,2,1,4,5,5}</a:t>
            </a:r>
          </a:p>
          <a:p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>
                <a:solidFill>
                  <a:srgbClr val="065B94"/>
                </a:solidFill>
              </a:rPr>
              <a:t>print(numbers)</a:t>
            </a:r>
            <a:endParaRPr lang="ar-EG" sz="28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90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20E2A9-8CCD-DC8A-4B92-5AC934FE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081" y="1530204"/>
            <a:ext cx="5224620" cy="590931"/>
          </a:xfrm>
        </p:spPr>
        <p:txBody>
          <a:bodyPr wrap="square">
            <a:spAutoFit/>
          </a:bodyPr>
          <a:lstStyle/>
          <a:p>
            <a:r>
              <a:rPr lang="en-US" sz="3600" dirty="0"/>
              <a:t>Set Characteristics</a:t>
            </a:r>
            <a:endParaRPr lang="en-EG" sz="3600" dirty="0"/>
          </a:p>
        </p:txBody>
      </p:sp>
      <p:sp>
        <p:nvSpPr>
          <p:cNvPr id="5" name="Rectangle 4"/>
          <p:cNvSpPr/>
          <p:nvPr/>
        </p:nvSpPr>
        <p:spPr>
          <a:xfrm>
            <a:off x="1478390" y="2121135"/>
            <a:ext cx="3786614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065B94"/>
                </a:solidFill>
              </a:rPr>
              <a:t>Unordered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065B94"/>
                </a:solidFill>
              </a:rPr>
              <a:t>Mutable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065B94"/>
                </a:solidFill>
              </a:rPr>
              <a:t>No </a:t>
            </a:r>
            <a:r>
              <a:rPr lang="en-US" sz="2800" dirty="0">
                <a:solidFill>
                  <a:srgbClr val="065B94"/>
                </a:solidFill>
              </a:rPr>
              <a:t>duplicate </a:t>
            </a:r>
            <a:r>
              <a:rPr lang="en-US" sz="2800" dirty="0" smtClean="0">
                <a:solidFill>
                  <a:srgbClr val="065B94"/>
                </a:solidFill>
              </a:rPr>
              <a:t>values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065B94"/>
                </a:solidFill>
              </a:rPr>
              <a:t>No </a:t>
            </a:r>
            <a:r>
              <a:rPr lang="en-US" sz="2800" dirty="0">
                <a:solidFill>
                  <a:srgbClr val="065B94"/>
                </a:solidFill>
              </a:rPr>
              <a:t>indexing</a:t>
            </a:r>
            <a:endParaRPr lang="ar-EG" sz="2800" dirty="0">
              <a:solidFill>
                <a:srgbClr val="065B9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8081" y="4116964"/>
            <a:ext cx="35317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Adding Elements</a:t>
            </a:r>
            <a:endParaRPr lang="ar-EG" sz="3200" b="1" dirty="0"/>
          </a:p>
        </p:txBody>
      </p:sp>
      <p:sp>
        <p:nvSpPr>
          <p:cNvPr id="8" name="Rectangle 7"/>
          <p:cNvSpPr/>
          <p:nvPr/>
        </p:nvSpPr>
        <p:spPr>
          <a:xfrm>
            <a:off x="1645085" y="4881686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65B94"/>
                </a:solidFill>
              </a:rPr>
              <a:t>numbers={1,2,3}</a:t>
            </a:r>
          </a:p>
          <a:p>
            <a:endParaRPr lang="en-US" sz="2000" dirty="0">
              <a:solidFill>
                <a:srgbClr val="065B94"/>
              </a:solidFill>
            </a:endParaRPr>
          </a:p>
          <a:p>
            <a:r>
              <a:rPr lang="en-US" sz="2000" dirty="0" err="1">
                <a:solidFill>
                  <a:srgbClr val="065B94"/>
                </a:solidFill>
              </a:rPr>
              <a:t>numbers.add</a:t>
            </a:r>
            <a:r>
              <a:rPr lang="en-US" sz="2000" dirty="0">
                <a:solidFill>
                  <a:srgbClr val="065B94"/>
                </a:solidFill>
              </a:rPr>
              <a:t>(4)</a:t>
            </a:r>
          </a:p>
          <a:p>
            <a:endParaRPr lang="en-US" sz="2000" dirty="0">
              <a:solidFill>
                <a:srgbClr val="065B94"/>
              </a:solidFill>
            </a:endParaRPr>
          </a:p>
          <a:p>
            <a:r>
              <a:rPr lang="en-US" sz="2000" dirty="0">
                <a:solidFill>
                  <a:srgbClr val="065B94"/>
                </a:solidFill>
              </a:rPr>
              <a:t>print(numbers)</a:t>
            </a:r>
            <a:endParaRPr lang="ar-EG" sz="20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402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1F4B58-F9D4-B6E3-E4BF-AABD1690E5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9751" y="2049239"/>
            <a:ext cx="10158413" cy="3467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65B94"/>
                </a:solidFill>
              </a:rPr>
              <a:t>numbers={1,2,3,4}</a:t>
            </a:r>
          </a:p>
          <a:p>
            <a:pPr marL="0" indent="0">
              <a:buNone/>
            </a:pPr>
            <a:r>
              <a:rPr lang="en-US" sz="2800" dirty="0" err="1" smtClean="0">
                <a:solidFill>
                  <a:srgbClr val="065B94"/>
                </a:solidFill>
              </a:rPr>
              <a:t>numbers.remove</a:t>
            </a:r>
            <a:r>
              <a:rPr lang="en-US" sz="2800" dirty="0" smtClean="0">
                <a:solidFill>
                  <a:srgbClr val="065B94"/>
                </a:solidFill>
              </a:rPr>
              <a:t>(2</a:t>
            </a:r>
            <a:r>
              <a:rPr lang="en-US" sz="2800" dirty="0">
                <a:solidFill>
                  <a:srgbClr val="065B94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065B94"/>
                </a:solidFill>
              </a:rPr>
              <a:t>print(numbers</a:t>
            </a:r>
            <a:r>
              <a:rPr lang="en-US" sz="2800" dirty="0">
                <a:solidFill>
                  <a:srgbClr val="065B94"/>
                </a:solidFill>
              </a:rPr>
              <a:t>)</a:t>
            </a:r>
            <a:endParaRPr lang="en-EG" sz="2800" dirty="0">
              <a:solidFill>
                <a:srgbClr val="065B94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0553F9-89F1-3AD4-F39F-53C710BC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Elements</a:t>
            </a:r>
            <a:endParaRPr lang="en-EG" dirty="0"/>
          </a:p>
        </p:txBody>
      </p:sp>
      <p:sp>
        <p:nvSpPr>
          <p:cNvPr id="4" name="Rectangle 3"/>
          <p:cNvSpPr/>
          <p:nvPr/>
        </p:nvSpPr>
        <p:spPr>
          <a:xfrm>
            <a:off x="652564" y="3657693"/>
            <a:ext cx="32816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More Set Methods</a:t>
            </a:r>
            <a:endParaRPr lang="ar-EG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1009751" y="4568193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>
                <a:solidFill>
                  <a:srgbClr val="065B94"/>
                </a:solidFill>
              </a:rPr>
              <a:t>numbers={1,2,3</a:t>
            </a:r>
            <a:r>
              <a:rPr lang="en-US" sz="2800" dirty="0" smtClean="0">
                <a:solidFill>
                  <a:srgbClr val="065B94"/>
                </a:solidFill>
              </a:rPr>
              <a:t>}</a:t>
            </a:r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 err="1">
                <a:solidFill>
                  <a:srgbClr val="065B94"/>
                </a:solidFill>
              </a:rPr>
              <a:t>numbers.pop</a:t>
            </a:r>
            <a:r>
              <a:rPr lang="en-US" sz="2800" dirty="0" smtClean="0">
                <a:solidFill>
                  <a:srgbClr val="065B94"/>
                </a:solidFill>
              </a:rPr>
              <a:t>()</a:t>
            </a:r>
            <a:endParaRPr lang="en-US" sz="2800" dirty="0">
              <a:solidFill>
                <a:srgbClr val="065B94"/>
              </a:solidFill>
            </a:endParaRPr>
          </a:p>
          <a:p>
            <a:r>
              <a:rPr lang="en-US" sz="2800" dirty="0" err="1">
                <a:solidFill>
                  <a:srgbClr val="065B94"/>
                </a:solidFill>
              </a:rPr>
              <a:t>numbers.clear</a:t>
            </a:r>
            <a:r>
              <a:rPr lang="en-US" sz="2800" dirty="0">
                <a:solidFill>
                  <a:srgbClr val="065B94"/>
                </a:solidFill>
              </a:rPr>
              <a:t>()</a:t>
            </a:r>
            <a:endParaRPr lang="ar-EG" sz="2800" dirty="0">
              <a:solidFill>
                <a:srgbClr val="065B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18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C0C5A4-465E-96E5-8869-F21B6EA6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506" y="1135284"/>
            <a:ext cx="3839049" cy="535531"/>
          </a:xfrm>
        </p:spPr>
        <p:txBody>
          <a:bodyPr/>
          <a:lstStyle/>
          <a:p>
            <a:r>
              <a:rPr lang="en-US" dirty="0"/>
              <a:t>Union</a:t>
            </a:r>
            <a:endParaRPr lang="en-E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D087B3-9DAE-1644-EDFF-3642792E9F39}"/>
              </a:ext>
            </a:extLst>
          </p:cNvPr>
          <p:cNvSpPr/>
          <p:nvPr/>
        </p:nvSpPr>
        <p:spPr>
          <a:xfrm>
            <a:off x="1459738" y="1665832"/>
            <a:ext cx="5556432" cy="171606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Poppins Medium" pitchFamily="2" charset="77"/>
                <a:cs typeface="Poppins Medium" pitchFamily="2" charset="77"/>
              </a:rPr>
              <a:t>A={1,2,3}</a:t>
            </a:r>
          </a:p>
          <a:p>
            <a:endParaRPr lang="en-US" sz="2000" b="1" dirty="0">
              <a:latin typeface="Poppins Medium" pitchFamily="2" charset="77"/>
              <a:cs typeface="Poppins Medium" pitchFamily="2" charset="77"/>
            </a:endParaRPr>
          </a:p>
          <a:p>
            <a:r>
              <a:rPr lang="en-US" sz="2000" b="1" dirty="0">
                <a:latin typeface="Poppins Medium" pitchFamily="2" charset="77"/>
                <a:cs typeface="Poppins Medium" pitchFamily="2" charset="77"/>
              </a:rPr>
              <a:t>B={3,4,5}</a:t>
            </a:r>
          </a:p>
          <a:p>
            <a:endParaRPr lang="en-US" sz="2000" b="1" dirty="0">
              <a:latin typeface="Poppins Medium" pitchFamily="2" charset="77"/>
              <a:cs typeface="Poppins Medium" pitchFamily="2" charset="77"/>
            </a:endParaRPr>
          </a:p>
          <a:p>
            <a:r>
              <a:rPr lang="en-US" sz="2000" b="1" dirty="0">
                <a:latin typeface="Poppins Medium" pitchFamily="2" charset="77"/>
                <a:cs typeface="Poppins Medium" pitchFamily="2" charset="77"/>
              </a:rPr>
              <a:t>print(A | B)</a:t>
            </a:r>
            <a:endParaRPr lang="en-US" sz="2000" b="1" dirty="0">
              <a:solidFill>
                <a:schemeClr val="lt1"/>
              </a:solidFill>
              <a:latin typeface="Poppins Medium" pitchFamily="2" charset="77"/>
              <a:cs typeface="Poppins Medium" pitchFamily="2" charset="77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952" y="4073460"/>
            <a:ext cx="5694218" cy="20141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5506" y="3488684"/>
            <a:ext cx="25415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Intersection</a:t>
            </a:r>
            <a:endParaRPr lang="ar-EG" sz="3200" b="1" dirty="0"/>
          </a:p>
        </p:txBody>
      </p:sp>
      <p:sp>
        <p:nvSpPr>
          <p:cNvPr id="7" name="Rectangle 6"/>
          <p:cNvSpPr/>
          <p:nvPr/>
        </p:nvSpPr>
        <p:spPr>
          <a:xfrm>
            <a:off x="1459738" y="4341891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A={1,2,3}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B={3,4,5}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print(A &amp; B)</a:t>
            </a:r>
            <a:endParaRPr lang="ar-EG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385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680138-96FD-B9CE-B75F-C5EFE67CAEEA}"/>
              </a:ext>
            </a:extLst>
          </p:cNvPr>
          <p:cNvSpPr/>
          <p:nvPr/>
        </p:nvSpPr>
        <p:spPr>
          <a:xfrm>
            <a:off x="1101805" y="2454623"/>
            <a:ext cx="3157045" cy="31816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A={1,2,3}</a:t>
            </a:r>
          </a:p>
          <a:p>
            <a:endParaRPr lang="en-US" sz="2400" b="1" dirty="0"/>
          </a:p>
          <a:p>
            <a:r>
              <a:rPr lang="en-US" sz="2400" b="1" dirty="0"/>
              <a:t>B={3,4,5}</a:t>
            </a:r>
          </a:p>
          <a:p>
            <a:endParaRPr lang="en-US" sz="2400" b="1" dirty="0"/>
          </a:p>
          <a:p>
            <a:r>
              <a:rPr lang="en-US" sz="2400" b="1" dirty="0"/>
              <a:t>print(A-B)</a:t>
            </a:r>
            <a:endParaRPr lang="en-US" sz="2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BB7CE8-00A3-366D-9216-C83BB6DD6115}"/>
              </a:ext>
            </a:extLst>
          </p:cNvPr>
          <p:cNvSpPr/>
          <p:nvPr/>
        </p:nvSpPr>
        <p:spPr>
          <a:xfrm>
            <a:off x="6212911" y="2454622"/>
            <a:ext cx="4955254" cy="318164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Find</a:t>
            </a:r>
            <a:r>
              <a:rPr lang="en-US" sz="2400" b="1" dirty="0" smtClean="0"/>
              <a:t>:</a:t>
            </a:r>
          </a:p>
          <a:p>
            <a:r>
              <a:rPr lang="en-US" sz="2400" b="1" dirty="0" smtClean="0"/>
              <a:t>Union</a:t>
            </a:r>
          </a:p>
          <a:p>
            <a:r>
              <a:rPr lang="en-US" sz="2400" b="1" dirty="0" smtClean="0"/>
              <a:t>Intersection</a:t>
            </a:r>
          </a:p>
          <a:p>
            <a:r>
              <a:rPr lang="en-US" sz="2400" b="1" dirty="0" smtClean="0"/>
              <a:t>Difference</a:t>
            </a:r>
          </a:p>
          <a:p>
            <a:r>
              <a:rPr lang="en-US" sz="2400" b="1" dirty="0" smtClean="0"/>
              <a:t>between </a:t>
            </a:r>
            <a:r>
              <a:rPr lang="en-US" sz="2400" b="1" dirty="0"/>
              <a:t>two sets.</a:t>
            </a:r>
            <a:endParaRPr lang="en-US" sz="2400" b="1" dirty="0">
              <a:solidFill>
                <a:schemeClr val="lt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2EDE95-A92E-98C9-467D-C7E587DF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/>
          <a:p>
            <a:r>
              <a:rPr lang="en-US" dirty="0"/>
              <a:t>Difference</a:t>
            </a:r>
            <a:endParaRPr lang="en-EG" dirty="0"/>
          </a:p>
        </p:txBody>
      </p:sp>
      <p:sp>
        <p:nvSpPr>
          <p:cNvPr id="11" name="Rectangle 10"/>
          <p:cNvSpPr/>
          <p:nvPr/>
        </p:nvSpPr>
        <p:spPr>
          <a:xfrm>
            <a:off x="7277900" y="1399222"/>
            <a:ext cx="1779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Practice</a:t>
            </a:r>
            <a:endParaRPr lang="ar-EG" sz="3200" b="1" dirty="0"/>
          </a:p>
        </p:txBody>
      </p:sp>
    </p:spTree>
    <p:extLst>
      <p:ext uri="{BB962C8B-B14F-4D97-AF65-F5344CB8AC3E}">
        <p14:creationId xmlns:p14="http://schemas.microsoft.com/office/powerpoint/2010/main" val="1840695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DFA90E-9E1C-4C7F-3466-7FDC6778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497689"/>
            <a:ext cx="10515600" cy="646331"/>
          </a:xfrm>
        </p:spPr>
        <p:txBody>
          <a:bodyPr/>
          <a:lstStyle/>
          <a:p>
            <a:r>
              <a:rPr lang="en-US" sz="4000" dirty="0"/>
              <a:t>Comparison Table</a:t>
            </a:r>
            <a:endParaRPr lang="en-EG" sz="4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945" y="2940539"/>
            <a:ext cx="7665929" cy="297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070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63DF3E-BC61-3146-FFF5-155B22A77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Lab</a:t>
            </a:r>
            <a:endParaRPr lang="en-E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C19967-D6CF-BBB6-52B1-C5474B220E79}"/>
              </a:ext>
            </a:extLst>
          </p:cNvPr>
          <p:cNvSpPr/>
          <p:nvPr/>
        </p:nvSpPr>
        <p:spPr>
          <a:xfrm>
            <a:off x="1975299" y="2567836"/>
            <a:ext cx="5953677" cy="363254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Write programs to</a:t>
            </a:r>
            <a:r>
              <a:rPr lang="en-US" sz="4000" b="1" dirty="0" smtClean="0"/>
              <a:t>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/>
              <a:t>Create </a:t>
            </a:r>
            <a:r>
              <a:rPr lang="en-US" sz="2400" b="1" dirty="0"/>
              <a:t>a tuple of 5 numbers</a:t>
            </a:r>
            <a:r>
              <a:rPr lang="en-US" sz="2400" b="1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/>
              <a:t>Find </a:t>
            </a:r>
            <a:r>
              <a:rPr lang="en-US" sz="2400" b="1" dirty="0"/>
              <a:t>the length of a tuple</a:t>
            </a:r>
            <a:r>
              <a:rPr lang="en-US" sz="2400" b="1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/>
              <a:t>Unpack </a:t>
            </a:r>
            <a:r>
              <a:rPr lang="en-US" sz="2400" b="1" dirty="0"/>
              <a:t>a tuple</a:t>
            </a:r>
            <a:r>
              <a:rPr lang="en-US" sz="2400" b="1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/>
              <a:t>Create </a:t>
            </a:r>
            <a:r>
              <a:rPr lang="en-US" sz="2400" b="1" dirty="0"/>
              <a:t>a set from a list</a:t>
            </a:r>
            <a:r>
              <a:rPr lang="en-US" sz="2400" b="1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/>
              <a:t>Remove </a:t>
            </a:r>
            <a:r>
              <a:rPr lang="en-US" sz="2400" b="1" dirty="0"/>
              <a:t>duplicates</a:t>
            </a:r>
            <a:r>
              <a:rPr lang="en-US" sz="2400" b="1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/>
              <a:t>Find </a:t>
            </a:r>
            <a:r>
              <a:rPr lang="en-US" sz="2400" b="1" dirty="0"/>
              <a:t>union</a:t>
            </a:r>
            <a:r>
              <a:rPr lang="en-US" sz="2400" b="1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/>
              <a:t>Find </a:t>
            </a:r>
            <a:r>
              <a:rPr lang="en-US" sz="2400" b="1" dirty="0"/>
              <a:t>intersection</a:t>
            </a:r>
            <a:r>
              <a:rPr lang="en-US" sz="2400" b="1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/>
              <a:t>Find </a:t>
            </a:r>
            <a:r>
              <a:rPr lang="en-US" sz="2400" b="1" dirty="0"/>
              <a:t>difference.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76350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95605" y="2027170"/>
            <a:ext cx="6096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Student Information (Tuple</a:t>
            </a:r>
            <a:r>
              <a:rPr lang="en-US" sz="2000" b="1" dirty="0" smtClean="0">
                <a:solidFill>
                  <a:srgbClr val="C00000"/>
                </a:solidFill>
              </a:rPr>
              <a:t>)</a:t>
            </a:r>
          </a:p>
          <a:p>
            <a:endParaRPr lang="en-US" sz="2000" b="1" dirty="0" smtClean="0">
              <a:solidFill>
                <a:srgbClr val="C00000"/>
              </a:solidFill>
            </a:endParaRPr>
          </a:p>
          <a:p>
            <a:r>
              <a:rPr lang="en-US" sz="2000" b="1" dirty="0" smtClean="0">
                <a:solidFill>
                  <a:srgbClr val="C00000"/>
                </a:solidFill>
              </a:rPr>
              <a:t>Employee </a:t>
            </a:r>
            <a:r>
              <a:rPr lang="en-US" sz="2000" b="1" dirty="0">
                <a:solidFill>
                  <a:srgbClr val="C00000"/>
                </a:solidFill>
              </a:rPr>
              <a:t>Information (Tuple</a:t>
            </a:r>
            <a:r>
              <a:rPr lang="en-US" sz="2000" b="1" dirty="0" smtClean="0">
                <a:solidFill>
                  <a:srgbClr val="C00000"/>
                </a:solidFill>
              </a:rPr>
              <a:t>)</a:t>
            </a:r>
          </a:p>
          <a:p>
            <a:endParaRPr lang="en-US" sz="2000" b="1" dirty="0" smtClean="0">
              <a:solidFill>
                <a:srgbClr val="C00000"/>
              </a:solidFill>
            </a:endParaRPr>
          </a:p>
          <a:p>
            <a:r>
              <a:rPr lang="en-US" sz="2000" b="1" dirty="0" smtClean="0">
                <a:solidFill>
                  <a:srgbClr val="C00000"/>
                </a:solidFill>
              </a:rPr>
              <a:t>Remove Duplicate Names</a:t>
            </a:r>
          </a:p>
          <a:p>
            <a:endParaRPr lang="en-US" sz="2000" b="1" dirty="0" smtClean="0">
              <a:solidFill>
                <a:srgbClr val="C00000"/>
              </a:solidFill>
            </a:endParaRPr>
          </a:p>
          <a:p>
            <a:r>
              <a:rPr lang="en-US" sz="2000" b="1" dirty="0" smtClean="0">
                <a:solidFill>
                  <a:srgbClr val="C00000"/>
                </a:solidFill>
              </a:rPr>
              <a:t>Union </a:t>
            </a:r>
            <a:r>
              <a:rPr lang="en-US" sz="2000" b="1" dirty="0">
                <a:solidFill>
                  <a:srgbClr val="C00000"/>
                </a:solidFill>
              </a:rPr>
              <a:t>of Two </a:t>
            </a:r>
            <a:r>
              <a:rPr lang="en-US" sz="2000" b="1" dirty="0" smtClean="0">
                <a:solidFill>
                  <a:srgbClr val="C00000"/>
                </a:solidFill>
              </a:rPr>
              <a:t>Sets</a:t>
            </a:r>
          </a:p>
          <a:p>
            <a:endParaRPr lang="en-US" sz="2000" b="1" dirty="0" smtClean="0">
              <a:solidFill>
                <a:srgbClr val="C00000"/>
              </a:solidFill>
            </a:endParaRPr>
          </a:p>
          <a:p>
            <a:r>
              <a:rPr lang="en-US" sz="2000" b="1" dirty="0" smtClean="0">
                <a:solidFill>
                  <a:srgbClr val="C00000"/>
                </a:solidFill>
              </a:rPr>
              <a:t>Intersection </a:t>
            </a:r>
            <a:r>
              <a:rPr lang="en-US" sz="2000" b="1" dirty="0">
                <a:solidFill>
                  <a:srgbClr val="C00000"/>
                </a:solidFill>
              </a:rPr>
              <a:t>of Two </a:t>
            </a:r>
            <a:r>
              <a:rPr lang="en-US" sz="2000" b="1" dirty="0" smtClean="0">
                <a:solidFill>
                  <a:srgbClr val="C00000"/>
                </a:solidFill>
              </a:rPr>
              <a:t>Sets</a:t>
            </a:r>
          </a:p>
          <a:p>
            <a:endParaRPr lang="en-US" sz="2000" b="1" dirty="0" smtClean="0">
              <a:solidFill>
                <a:srgbClr val="C00000"/>
              </a:solidFill>
            </a:endParaRPr>
          </a:p>
          <a:p>
            <a:r>
              <a:rPr lang="en-US" sz="2000" b="1" dirty="0" smtClean="0">
                <a:solidFill>
                  <a:srgbClr val="C00000"/>
                </a:solidFill>
              </a:rPr>
              <a:t>Difference </a:t>
            </a:r>
            <a:r>
              <a:rPr lang="en-US" sz="2000" b="1" dirty="0">
                <a:solidFill>
                  <a:srgbClr val="C00000"/>
                </a:solidFill>
              </a:rPr>
              <a:t>Between </a:t>
            </a:r>
            <a:r>
              <a:rPr lang="en-US" sz="2000" b="1" dirty="0" smtClean="0">
                <a:solidFill>
                  <a:srgbClr val="C00000"/>
                </a:solidFill>
              </a:rPr>
              <a:t>Sets</a:t>
            </a:r>
          </a:p>
          <a:p>
            <a:endParaRPr lang="en-US" sz="2000" b="1" dirty="0" smtClean="0">
              <a:solidFill>
                <a:srgbClr val="C00000"/>
              </a:solidFill>
            </a:endParaRPr>
          </a:p>
          <a:p>
            <a:r>
              <a:rPr lang="en-US" sz="2000" b="1" dirty="0" smtClean="0">
                <a:solidFill>
                  <a:srgbClr val="C00000"/>
                </a:solidFill>
              </a:rPr>
              <a:t>Favorite </a:t>
            </a:r>
            <a:r>
              <a:rPr lang="en-US" sz="2000" b="1" dirty="0">
                <a:solidFill>
                  <a:srgbClr val="C00000"/>
                </a:solidFill>
              </a:rPr>
              <a:t>Movies </a:t>
            </a:r>
            <a:r>
              <a:rPr lang="en-US" sz="2000" b="1" dirty="0" smtClean="0">
                <a:solidFill>
                  <a:srgbClr val="C00000"/>
                </a:solidFill>
              </a:rPr>
              <a:t>Set</a:t>
            </a:r>
          </a:p>
          <a:p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 smtClean="0">
                <a:solidFill>
                  <a:srgbClr val="C00000"/>
                </a:solidFill>
              </a:rPr>
              <a:t>Student </a:t>
            </a:r>
            <a:r>
              <a:rPr lang="en-US" sz="2000" b="1" dirty="0">
                <a:solidFill>
                  <a:srgbClr val="C00000"/>
                </a:solidFill>
              </a:rPr>
              <a:t>Subjects Comparison</a:t>
            </a:r>
            <a:endParaRPr lang="ar-EG" sz="2000" b="1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2290" y="1089764"/>
            <a:ext cx="1315168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4000" b="1" dirty="0" smtClean="0"/>
              <a:t>Task</a:t>
            </a:r>
            <a:endParaRPr lang="ar-EG" sz="4000" b="1" dirty="0"/>
          </a:p>
        </p:txBody>
      </p:sp>
    </p:spTree>
    <p:extLst>
      <p:ext uri="{BB962C8B-B14F-4D97-AF65-F5344CB8AC3E}">
        <p14:creationId xmlns:p14="http://schemas.microsoft.com/office/powerpoint/2010/main" val="2693654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0EABB2A-C5EE-338C-C9EC-51C57A9C201B}"/>
              </a:ext>
            </a:extLst>
          </p:cNvPr>
          <p:cNvSpPr/>
          <p:nvPr/>
        </p:nvSpPr>
        <p:spPr>
          <a:xfrm>
            <a:off x="2883941" y="3109503"/>
            <a:ext cx="6468486" cy="168071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smtClean="0"/>
              <a:t>Thank You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534136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</TotalTime>
  <Words>497</Words>
  <Application>Microsoft Office PowerPoint</Application>
  <PresentationFormat>Widescreen</PresentationFormat>
  <Paragraphs>184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Poppins Medium</vt:lpstr>
      <vt:lpstr>Segoe UI</vt:lpstr>
      <vt:lpstr>Playfair Display</vt:lpstr>
      <vt:lpstr>Inter</vt:lpstr>
      <vt:lpstr>Calibri</vt:lpstr>
      <vt:lpstr>Wingdings</vt:lpstr>
      <vt:lpstr>Office Theme</vt:lpstr>
      <vt:lpstr>PowerPoint Presentation</vt:lpstr>
      <vt:lpstr>PowerPoint Presentation</vt:lpstr>
      <vt:lpstr>Learning Outcomes</vt:lpstr>
      <vt:lpstr>PowerPoint Presentation</vt:lpstr>
      <vt:lpstr>What is a Tuple?</vt:lpstr>
      <vt:lpstr>Tuple vs List</vt:lpstr>
      <vt:lpstr>Creating Tuples</vt:lpstr>
      <vt:lpstr>Accessing Tuple Elements</vt:lpstr>
      <vt:lpstr>Tuple Packing &amp; Unpacking</vt:lpstr>
      <vt:lpstr>Tuple Methods</vt:lpstr>
      <vt:lpstr>Can We Modify a Tuple?</vt:lpstr>
      <vt:lpstr>Practice</vt:lpstr>
      <vt:lpstr>What is a Set?</vt:lpstr>
      <vt:lpstr>Creating Sets</vt:lpstr>
      <vt:lpstr>Set Characteristics</vt:lpstr>
      <vt:lpstr>Removing Elements</vt:lpstr>
      <vt:lpstr>Union</vt:lpstr>
      <vt:lpstr>Difference</vt:lpstr>
      <vt:lpstr>Comparison Table</vt:lpstr>
      <vt:lpstr>Hands-on Lab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SM</cp:lastModifiedBy>
  <cp:revision>38</cp:revision>
  <dcterms:created xsi:type="dcterms:W3CDTF">2026-03-27T11:30:08Z</dcterms:created>
  <dcterms:modified xsi:type="dcterms:W3CDTF">2026-07-18T15:34:06Z</dcterms:modified>
</cp:coreProperties>
</file>