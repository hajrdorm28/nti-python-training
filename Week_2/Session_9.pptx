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94" r:id="rId3"/>
    <p:sldId id="295" r:id="rId4"/>
    <p:sldId id="297" r:id="rId5"/>
    <p:sldId id="298" r:id="rId6"/>
    <p:sldId id="299" r:id="rId7"/>
    <p:sldId id="300" r:id="rId8"/>
    <p:sldId id="301" r:id="rId9"/>
    <p:sldId id="313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2" r:id="rId19"/>
  </p:sldIdLst>
  <p:sldSz cx="12192000" cy="6858000"/>
  <p:notesSz cx="6858000" cy="9144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6BD"/>
    <a:srgbClr val="065B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55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4373890" cy="9541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 smtClean="0">
                <a:solidFill>
                  <a:srgbClr val="065B94"/>
                </a:solidFill>
              </a:rPr>
              <a:t>Instructor : </a:t>
            </a:r>
            <a:r>
              <a:rPr lang="en-US" sz="2800" b="1" dirty="0" err="1" smtClean="0">
                <a:solidFill>
                  <a:srgbClr val="065B94"/>
                </a:solidFill>
              </a:rPr>
              <a:t>Doaa</a:t>
            </a:r>
            <a:r>
              <a:rPr lang="en-US" sz="2800" b="1" dirty="0" smtClean="0">
                <a:solidFill>
                  <a:srgbClr val="065B94"/>
                </a:solidFill>
              </a:rPr>
              <a:t> </a:t>
            </a:r>
            <a:r>
              <a:rPr lang="en-US" sz="2800" b="1" dirty="0" err="1" smtClean="0">
                <a:solidFill>
                  <a:srgbClr val="065B94"/>
                </a:solidFill>
              </a:rPr>
              <a:t>M.Taha</a:t>
            </a:r>
            <a:endParaRPr lang="en-US" sz="2800" b="1" dirty="0" smtClean="0">
              <a:solidFill>
                <a:srgbClr val="065B94"/>
              </a:solidFill>
            </a:endParaRPr>
          </a:p>
          <a:p>
            <a:r>
              <a:rPr lang="en-US" sz="2800" b="1" dirty="0" smtClean="0">
                <a:solidFill>
                  <a:srgbClr val="065B94"/>
                </a:solidFill>
              </a:rPr>
              <a:t>Data Analyst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286902" y="2107850"/>
            <a:ext cx="11700503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-869298" y="1822864"/>
            <a:ext cx="12618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endParaRPr lang="en-US" sz="6000" b="1" dirty="0"/>
          </a:p>
          <a:p>
            <a:pPr algn="r"/>
            <a:r>
              <a:rPr lang="en-US" sz="6000" b="1" dirty="0">
                <a:solidFill>
                  <a:schemeClr val="bg1"/>
                </a:solidFill>
              </a:rPr>
              <a:t>Session </a:t>
            </a:r>
            <a:r>
              <a:rPr lang="en-US" sz="6000" b="1" dirty="0" smtClean="0">
                <a:solidFill>
                  <a:schemeClr val="bg1"/>
                </a:solidFill>
              </a:rPr>
              <a:t>9</a:t>
            </a:r>
            <a:r>
              <a:rPr lang="en-US" sz="6000" b="1" dirty="0" smtClean="0">
                <a:solidFill>
                  <a:schemeClr val="bg1"/>
                </a:solidFill>
              </a:rPr>
              <a:t> </a:t>
            </a:r>
            <a:r>
              <a:rPr lang="en-US" sz="6000" b="1" dirty="0" smtClean="0">
                <a:solidFill>
                  <a:schemeClr val="bg1"/>
                </a:solidFill>
              </a:rPr>
              <a:t>: </a:t>
            </a:r>
            <a:r>
              <a:rPr lang="en-US" sz="4400" b="1" dirty="0">
                <a:solidFill>
                  <a:schemeClr val="bg1"/>
                </a:solidFill>
              </a:rPr>
              <a:t>Python Built-in Modules</a:t>
            </a:r>
            <a:endParaRPr lang="en-US" sz="44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358858"/>
            <a:ext cx="10515600" cy="646331"/>
          </a:xfrm>
        </p:spPr>
        <p:txBody>
          <a:bodyPr/>
          <a:lstStyle/>
          <a:p>
            <a:r>
              <a:rPr lang="en-US" sz="4000" dirty="0"/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636694" y="2774756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574427"/>
            <a:ext cx="1013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61975" y="1910871"/>
            <a:ext cx="9947629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3200" b="1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endParaRPr lang="en-US" sz="3200" b="1" dirty="0" smtClean="0">
              <a:solidFill>
                <a:srgbClr val="C00000"/>
              </a:solidFill>
            </a:endParaRPr>
          </a:p>
          <a:p>
            <a:r>
              <a:rPr lang="en-US" sz="3600" dirty="0"/>
              <a:t>• Understand what a module is.</a:t>
            </a:r>
            <a:br>
              <a:rPr lang="en-US" sz="3600" dirty="0"/>
            </a:br>
            <a:r>
              <a:rPr lang="en-US" sz="3600" dirty="0"/>
              <a:t>• Import and use built-in modules.</a:t>
            </a:r>
            <a:br>
              <a:rPr lang="en-US" sz="3600" dirty="0"/>
            </a:br>
            <a:r>
              <a:rPr lang="en-US" sz="3600" dirty="0"/>
              <a:t>• Use the math module.</a:t>
            </a:r>
            <a:br>
              <a:rPr lang="en-US" sz="3600" dirty="0"/>
            </a:br>
            <a:r>
              <a:rPr lang="en-US" sz="3600" dirty="0"/>
              <a:t>• Use the random module.</a:t>
            </a:r>
            <a:br>
              <a:rPr lang="en-US" sz="3600" dirty="0"/>
            </a:br>
            <a:r>
              <a:rPr lang="en-US" sz="3600" dirty="0"/>
              <a:t>• Solve practical problems using modules.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4" y="1158579"/>
            <a:ext cx="10515600" cy="590931"/>
          </a:xfrm>
        </p:spPr>
        <p:txBody>
          <a:bodyPr/>
          <a:lstStyle/>
          <a:p>
            <a:r>
              <a:rPr lang="en-US" sz="3600" dirty="0"/>
              <a:t>What is a Module?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744416" y="1851806"/>
            <a:ext cx="103599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module is a Python file that contains ready-made functions and variables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Python </a:t>
            </a:r>
            <a:r>
              <a:rPr lang="en-US" sz="2800" dirty="0"/>
              <a:t>provides many built-in modules that help us perform common tasks without writing code from scratch</a:t>
            </a:r>
            <a:r>
              <a:rPr lang="en-US" sz="2800" dirty="0" smtClean="0"/>
              <a:t>.</a:t>
            </a:r>
          </a:p>
          <a:p>
            <a:endParaRPr lang="en-US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Examples:</a:t>
            </a:r>
          </a:p>
          <a:p>
            <a:endParaRPr lang="en-US" dirty="0" smtClean="0"/>
          </a:p>
          <a:p>
            <a:r>
              <a:rPr lang="en-US" sz="2800" dirty="0" smtClean="0">
                <a:solidFill>
                  <a:srgbClr val="065B94"/>
                </a:solidFill>
              </a:rPr>
              <a:t>• math</a:t>
            </a:r>
          </a:p>
          <a:p>
            <a:r>
              <a:rPr lang="en-US" sz="2800" dirty="0" smtClean="0">
                <a:solidFill>
                  <a:srgbClr val="065B94"/>
                </a:solidFill>
              </a:rPr>
              <a:t>• random</a:t>
            </a:r>
          </a:p>
          <a:p>
            <a:r>
              <a:rPr lang="en-US" sz="2800" dirty="0" smtClean="0">
                <a:solidFill>
                  <a:srgbClr val="065B94"/>
                </a:solidFill>
              </a:rPr>
              <a:t>• </a:t>
            </a:r>
            <a:r>
              <a:rPr lang="en-US" sz="2800" dirty="0" err="1">
                <a:solidFill>
                  <a:srgbClr val="065B94"/>
                </a:solidFill>
              </a:rPr>
              <a:t>os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31" y="1634569"/>
            <a:ext cx="10515600" cy="5909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Why Do We Use Modules?</a:t>
            </a:r>
            <a:endParaRPr lang="en-EG" sz="3600" dirty="0"/>
          </a:p>
        </p:txBody>
      </p:sp>
      <p:sp>
        <p:nvSpPr>
          <p:cNvPr id="3" name="Rectangle 2"/>
          <p:cNvSpPr/>
          <p:nvPr/>
        </p:nvSpPr>
        <p:spPr>
          <a:xfrm>
            <a:off x="1353993" y="2365585"/>
            <a:ext cx="43652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65B94"/>
                </a:solidFill>
              </a:rPr>
              <a:t>Benefits of Modules:</a:t>
            </a:r>
            <a:endParaRPr lang="ar-EG" sz="3600" dirty="0">
              <a:solidFill>
                <a:srgbClr val="065B9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53993" y="301191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• Save 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• </a:t>
            </a:r>
            <a:r>
              <a:rPr lang="en-US" sz="2400" dirty="0"/>
              <a:t>Reuse existing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• </a:t>
            </a:r>
            <a:r>
              <a:rPr lang="en-US" sz="2400" dirty="0"/>
              <a:t>Reduce errors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• </a:t>
            </a:r>
            <a:r>
              <a:rPr lang="en-US" sz="2400" dirty="0"/>
              <a:t>Make programs easier to maintain.</a:t>
            </a:r>
            <a:endParaRPr lang="ar-EG" sz="2400" dirty="0"/>
          </a:p>
        </p:txBody>
      </p:sp>
      <p:sp>
        <p:nvSpPr>
          <p:cNvPr id="9" name="Rectangle 8"/>
          <p:cNvSpPr/>
          <p:nvPr/>
        </p:nvSpPr>
        <p:spPr>
          <a:xfrm>
            <a:off x="1353993" y="5044826"/>
            <a:ext cx="91177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Instead of creating your own square root function, you can simply use the math module.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2118628" y="2561718"/>
            <a:ext cx="2527717" cy="12463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/>
              <a:t>import math</a:t>
            </a:r>
            <a:endParaRPr lang="en-US" sz="2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Importing a Module</a:t>
            </a:r>
            <a:endParaRPr lang="en-EG" sz="48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1478" y="2100053"/>
            <a:ext cx="1297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Syntax:</a:t>
            </a:r>
            <a:endParaRPr lang="ar-EG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821478" y="4085097"/>
            <a:ext cx="101262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import statement loads the module so we can use its functions.</a:t>
            </a:r>
            <a:endParaRPr lang="ar-EG" sz="2400" dirty="0"/>
          </a:p>
        </p:txBody>
      </p:sp>
      <p:sp>
        <p:nvSpPr>
          <p:cNvPr id="7" name="Rectangle 6"/>
          <p:cNvSpPr/>
          <p:nvPr/>
        </p:nvSpPr>
        <p:spPr>
          <a:xfrm>
            <a:off x="821478" y="4684362"/>
            <a:ext cx="1553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Example:</a:t>
            </a:r>
            <a:endParaRPr lang="ar-EG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2375108" y="5146027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import </a:t>
            </a:r>
            <a:r>
              <a:rPr lang="en-US" sz="2800" b="1" dirty="0" smtClean="0">
                <a:solidFill>
                  <a:srgbClr val="065B94"/>
                </a:solidFill>
              </a:rPr>
              <a:t>math</a:t>
            </a:r>
            <a:endParaRPr lang="en-US" sz="2800" b="1" dirty="0">
              <a:solidFill>
                <a:srgbClr val="065B94"/>
              </a:solidFill>
            </a:endParaRPr>
          </a:p>
          <a:p>
            <a:r>
              <a:rPr lang="en-US" sz="2800" b="1" dirty="0">
                <a:solidFill>
                  <a:srgbClr val="065B94"/>
                </a:solidFill>
              </a:rPr>
              <a:t>print(</a:t>
            </a:r>
            <a:r>
              <a:rPr lang="en-US" sz="2800" b="1" dirty="0" err="1">
                <a:solidFill>
                  <a:srgbClr val="065B94"/>
                </a:solidFill>
              </a:rPr>
              <a:t>math.sqrt</a:t>
            </a:r>
            <a:r>
              <a:rPr lang="en-US" sz="2800" b="1" dirty="0">
                <a:solidFill>
                  <a:srgbClr val="065B94"/>
                </a:solidFill>
              </a:rPr>
              <a:t>(25))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35" y="1194154"/>
            <a:ext cx="5838396" cy="1089529"/>
          </a:xfrm>
        </p:spPr>
        <p:txBody>
          <a:bodyPr/>
          <a:lstStyle/>
          <a:p>
            <a:r>
              <a:rPr lang="en-US" sz="3600" dirty="0"/>
              <a:t>Using </a:t>
            </a:r>
            <a:r>
              <a:rPr lang="en-US" sz="3600" dirty="0" err="1"/>
              <a:t>math.sqrt</a:t>
            </a:r>
            <a:r>
              <a:rPr lang="en-US" sz="3600" dirty="0"/>
              <a:t>()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739541" y="2240788"/>
            <a:ext cx="9422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The </a:t>
            </a:r>
            <a:r>
              <a:rPr lang="en-US" sz="2800" dirty="0" err="1">
                <a:solidFill>
                  <a:srgbClr val="065B94"/>
                </a:solidFill>
              </a:rPr>
              <a:t>sqrt</a:t>
            </a:r>
            <a:r>
              <a:rPr lang="en-US" sz="2800" dirty="0">
                <a:solidFill>
                  <a:srgbClr val="065B94"/>
                </a:solidFill>
              </a:rPr>
              <a:t>() function calculates the square root of a number.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6959" y="315379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import math</a:t>
            </a:r>
          </a:p>
          <a:p>
            <a:endParaRPr lang="en-US" sz="3600" dirty="0">
              <a:solidFill>
                <a:srgbClr val="C00000"/>
              </a:solidFill>
            </a:endParaRPr>
          </a:p>
          <a:p>
            <a:r>
              <a:rPr lang="en-US" sz="3600" dirty="0">
                <a:solidFill>
                  <a:srgbClr val="C00000"/>
                </a:solidFill>
              </a:rPr>
              <a:t>print(</a:t>
            </a:r>
            <a:r>
              <a:rPr lang="en-US" sz="3600" dirty="0" err="1">
                <a:solidFill>
                  <a:srgbClr val="C00000"/>
                </a:solidFill>
              </a:rPr>
              <a:t>math.sqrt</a:t>
            </a:r>
            <a:r>
              <a:rPr lang="en-US" sz="3600" dirty="0">
                <a:solidFill>
                  <a:srgbClr val="C00000"/>
                </a:solidFill>
              </a:rPr>
              <a:t>(64))</a:t>
            </a:r>
          </a:p>
          <a:p>
            <a:r>
              <a:rPr lang="en-US" sz="3600" dirty="0">
                <a:solidFill>
                  <a:srgbClr val="C00000"/>
                </a:solidFill>
              </a:rPr>
              <a:t>print(</a:t>
            </a:r>
            <a:r>
              <a:rPr lang="en-US" sz="3600" dirty="0" err="1">
                <a:solidFill>
                  <a:srgbClr val="C00000"/>
                </a:solidFill>
              </a:rPr>
              <a:t>math.sqrt</a:t>
            </a:r>
            <a:r>
              <a:rPr lang="en-US" sz="3600" dirty="0">
                <a:solidFill>
                  <a:srgbClr val="C00000"/>
                </a:solidFill>
              </a:rPr>
              <a:t>(81))</a:t>
            </a:r>
          </a:p>
          <a:p>
            <a:r>
              <a:rPr lang="en-US" sz="3600" dirty="0">
                <a:solidFill>
                  <a:srgbClr val="C00000"/>
                </a:solidFill>
              </a:rPr>
              <a:t>print(</a:t>
            </a:r>
            <a:r>
              <a:rPr lang="en-US" sz="3600" dirty="0" err="1">
                <a:solidFill>
                  <a:srgbClr val="C00000"/>
                </a:solidFill>
              </a:rPr>
              <a:t>math.sqrt</a:t>
            </a:r>
            <a:r>
              <a:rPr lang="en-US" sz="3600" dirty="0">
                <a:solidFill>
                  <a:srgbClr val="C00000"/>
                </a:solidFill>
              </a:rPr>
              <a:t>(100))</a:t>
            </a:r>
            <a:endParaRPr lang="ar-EG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51" y="1370064"/>
            <a:ext cx="4886418" cy="590931"/>
          </a:xfrm>
        </p:spPr>
        <p:txBody>
          <a:bodyPr/>
          <a:lstStyle/>
          <a:p>
            <a:r>
              <a:rPr lang="en-US" sz="3600" dirty="0"/>
              <a:t>Using </a:t>
            </a:r>
            <a:r>
              <a:rPr lang="en-US" sz="3600" dirty="0" err="1"/>
              <a:t>math.pow</a:t>
            </a:r>
            <a:r>
              <a:rPr lang="en-US" sz="3600" dirty="0"/>
              <a:t>()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087512" y="2104465"/>
            <a:ext cx="77037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The pow() function raises a number to a power.</a:t>
            </a:r>
            <a:endParaRPr lang="ar-EG" sz="2800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4668" y="351776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dirty="0"/>
              <a:t>import math</a:t>
            </a:r>
          </a:p>
          <a:p>
            <a:endParaRPr lang="en-US" sz="3600" dirty="0"/>
          </a:p>
          <a:p>
            <a:r>
              <a:rPr lang="en-US" sz="3600" dirty="0"/>
              <a:t>print(</a:t>
            </a:r>
            <a:r>
              <a:rPr lang="en-US" sz="3600" dirty="0" err="1"/>
              <a:t>math.pow</a:t>
            </a:r>
            <a:r>
              <a:rPr lang="en-US" sz="3600" dirty="0"/>
              <a:t>(2, 3))</a:t>
            </a:r>
          </a:p>
          <a:p>
            <a:r>
              <a:rPr lang="en-US" sz="3600" dirty="0"/>
              <a:t>print(</a:t>
            </a:r>
            <a:r>
              <a:rPr lang="en-US" sz="3600" dirty="0" err="1"/>
              <a:t>math.pow</a:t>
            </a:r>
            <a:r>
              <a:rPr lang="en-US" sz="3600" dirty="0"/>
              <a:t>(5, 2))</a:t>
            </a:r>
            <a:endParaRPr lang="ar-EG" sz="3600" dirty="0"/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95993" y="3091324"/>
            <a:ext cx="3658179" cy="1006429"/>
          </a:xfrm>
        </p:spPr>
        <p:txBody>
          <a:bodyPr/>
          <a:lstStyle/>
          <a:p>
            <a:r>
              <a:rPr lang="en-US" sz="6600" dirty="0" smtClean="0">
                <a:solidFill>
                  <a:srgbClr val="065B94"/>
                </a:solidFill>
              </a:rPr>
              <a:t>Break</a:t>
            </a:r>
            <a:endParaRPr lang="ar-EG" sz="66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40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916" y="1040041"/>
            <a:ext cx="5651331" cy="1089529"/>
          </a:xfrm>
        </p:spPr>
        <p:txBody>
          <a:bodyPr/>
          <a:lstStyle/>
          <a:p>
            <a:r>
              <a:rPr lang="en-US" sz="3600" dirty="0"/>
              <a:t>Using </a:t>
            </a:r>
            <a:r>
              <a:rPr lang="en-US" sz="3600" dirty="0" err="1"/>
              <a:t>math.factorial</a:t>
            </a:r>
            <a:r>
              <a:rPr lang="en-US" sz="3600" dirty="0"/>
              <a:t>()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572916" y="2129570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Factorial:</a:t>
            </a:r>
            <a:endParaRPr lang="ar-EG" sz="36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02165" y="2926711"/>
            <a:ext cx="46955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65B94"/>
                </a:solidFill>
              </a:rPr>
              <a:t>n! = n × (n-1) × (n-2) × ...</a:t>
            </a:r>
            <a:endParaRPr lang="ar-EG" sz="3200" dirty="0">
              <a:solidFill>
                <a:srgbClr val="065B9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2165" y="370846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smtClean="0"/>
              <a:t>math</a:t>
            </a:r>
          </a:p>
          <a:p>
            <a:endParaRPr lang="en-US" sz="2400" dirty="0"/>
          </a:p>
          <a:p>
            <a:r>
              <a:rPr lang="en-US" sz="2400" dirty="0"/>
              <a:t>print(</a:t>
            </a:r>
            <a:r>
              <a:rPr lang="en-US" sz="2400" dirty="0" err="1"/>
              <a:t>math.factorial</a:t>
            </a:r>
            <a:r>
              <a:rPr lang="en-US" sz="2400" dirty="0"/>
              <a:t>(5))</a:t>
            </a:r>
            <a:endParaRPr lang="ar-EG" sz="2400" dirty="0"/>
          </a:p>
        </p:txBody>
      </p:sp>
      <p:sp>
        <p:nvSpPr>
          <p:cNvPr id="9" name="Rectangle 8"/>
          <p:cNvSpPr/>
          <p:nvPr/>
        </p:nvSpPr>
        <p:spPr>
          <a:xfrm>
            <a:off x="1402165" y="490879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print(</a:t>
            </a:r>
            <a:r>
              <a:rPr lang="en-US" sz="2400" dirty="0" err="1"/>
              <a:t>math.factorial</a:t>
            </a:r>
            <a:r>
              <a:rPr lang="en-US" sz="2400" dirty="0"/>
              <a:t>(3))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math.factorial</a:t>
            </a:r>
            <a:r>
              <a:rPr lang="en-US" sz="2400" dirty="0"/>
              <a:t>(6))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30" y="1385983"/>
            <a:ext cx="4441950" cy="535531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math.pi</a:t>
            </a:r>
            <a:endParaRPr lang="en-EG" dirty="0"/>
          </a:p>
        </p:txBody>
      </p:sp>
      <p:sp>
        <p:nvSpPr>
          <p:cNvPr id="2" name="Rectangle 1"/>
          <p:cNvSpPr/>
          <p:nvPr/>
        </p:nvSpPr>
        <p:spPr>
          <a:xfrm>
            <a:off x="1001034" y="2091940"/>
            <a:ext cx="77492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The value of π is stored in the math module.</a:t>
            </a:r>
            <a:endParaRPr lang="ar-EG" sz="2800" b="1" dirty="0">
              <a:solidFill>
                <a:srgbClr val="065B9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7966" y="263559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import </a:t>
            </a:r>
            <a:r>
              <a:rPr lang="en-US" sz="2800" b="1" dirty="0" smtClean="0"/>
              <a:t>math</a:t>
            </a:r>
            <a:endParaRPr lang="en-US" sz="2800" b="1" dirty="0"/>
          </a:p>
          <a:p>
            <a:r>
              <a:rPr lang="en-US" sz="2800" b="1" dirty="0"/>
              <a:t>print(</a:t>
            </a:r>
            <a:r>
              <a:rPr lang="en-US" sz="2800" b="1" dirty="0" err="1"/>
              <a:t>math.pi</a:t>
            </a:r>
            <a:r>
              <a:rPr lang="en-US" sz="2800" b="1" dirty="0"/>
              <a:t>)</a:t>
            </a:r>
            <a:endParaRPr lang="ar-EG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567966" y="4655497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import </a:t>
            </a:r>
            <a:r>
              <a:rPr lang="en-US" sz="2000" b="1" dirty="0" smtClean="0"/>
              <a:t>math</a:t>
            </a:r>
            <a:endParaRPr lang="en-US" sz="2000" b="1" dirty="0"/>
          </a:p>
          <a:p>
            <a:r>
              <a:rPr lang="en-US" sz="2000" b="1" dirty="0"/>
              <a:t>radius = </a:t>
            </a:r>
            <a:r>
              <a:rPr lang="en-US" sz="2000" b="1" dirty="0" smtClean="0"/>
              <a:t>5</a:t>
            </a:r>
            <a:endParaRPr lang="en-US" sz="2000" b="1" dirty="0"/>
          </a:p>
          <a:p>
            <a:r>
              <a:rPr lang="en-US" sz="2000" b="1" dirty="0"/>
              <a:t>area = </a:t>
            </a:r>
            <a:r>
              <a:rPr lang="en-US" sz="2000" b="1" dirty="0" err="1"/>
              <a:t>math.pi</a:t>
            </a:r>
            <a:r>
              <a:rPr lang="en-US" sz="2000" b="1" dirty="0"/>
              <a:t> * radius ** </a:t>
            </a:r>
            <a:r>
              <a:rPr lang="en-US" sz="2000" b="1" dirty="0" smtClean="0"/>
              <a:t>2</a:t>
            </a:r>
            <a:endParaRPr lang="en-US" sz="2000" b="1" dirty="0"/>
          </a:p>
          <a:p>
            <a:r>
              <a:rPr lang="en-US" sz="2000" b="1" dirty="0"/>
              <a:t>print(area)</a:t>
            </a:r>
            <a:endParaRPr lang="ar-EG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1001034" y="3891767"/>
            <a:ext cx="2545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Area of a Circle:</a:t>
            </a:r>
            <a:endParaRPr lang="ar-EG" sz="24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The Random Module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031309" y="1962453"/>
            <a:ext cx="78621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The random module is used to generate random values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 smtClean="0">
                <a:solidFill>
                  <a:srgbClr val="065B94"/>
                </a:solidFill>
              </a:rPr>
              <a:t>Import</a:t>
            </a:r>
            <a:r>
              <a:rPr lang="en-US" sz="2400" dirty="0">
                <a:solidFill>
                  <a:srgbClr val="065B94"/>
                </a:solidFill>
              </a:rPr>
              <a:t>: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00564" y="2562617"/>
            <a:ext cx="3441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import random</a:t>
            </a:r>
            <a:endParaRPr lang="ar-EG" sz="3600" b="1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564" y="320894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/>
              <a:t>Applications</a:t>
            </a:r>
            <a:r>
              <a:rPr lang="en-US" sz="3200" b="1" dirty="0" smtClean="0"/>
              <a:t>:</a:t>
            </a:r>
          </a:p>
          <a:p>
            <a:endParaRPr lang="en-US" dirty="0" smtClean="0"/>
          </a:p>
          <a:p>
            <a:r>
              <a:rPr lang="en-US" sz="2800" dirty="0" smtClean="0"/>
              <a:t>• Games</a:t>
            </a:r>
          </a:p>
          <a:p>
            <a:r>
              <a:rPr lang="en-US" sz="2800" dirty="0" smtClean="0"/>
              <a:t>• Simulations</a:t>
            </a:r>
          </a:p>
          <a:p>
            <a:r>
              <a:rPr lang="en-US" sz="2800" dirty="0" smtClean="0"/>
              <a:t>• </a:t>
            </a:r>
            <a:r>
              <a:rPr lang="en-US" sz="2800" dirty="0"/>
              <a:t>Password </a:t>
            </a:r>
            <a:r>
              <a:rPr lang="en-US" sz="2800" dirty="0" smtClean="0"/>
              <a:t>generation</a:t>
            </a:r>
          </a:p>
          <a:p>
            <a:r>
              <a:rPr lang="en-US" sz="2800" dirty="0" smtClean="0"/>
              <a:t>• </a:t>
            </a:r>
            <a:r>
              <a:rPr lang="en-US" sz="2800" dirty="0"/>
              <a:t>Lottery systems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11185742" y="1327759"/>
            <a:ext cx="1006258" cy="479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1319" y="1174223"/>
            <a:ext cx="5162127" cy="590931"/>
          </a:xfrm>
        </p:spPr>
        <p:txBody>
          <a:bodyPr/>
          <a:lstStyle/>
          <a:p>
            <a:r>
              <a:rPr lang="en-US" sz="3600" dirty="0" err="1"/>
              <a:t>random.randint</a:t>
            </a:r>
            <a:r>
              <a:rPr lang="en-US" sz="3600" dirty="0"/>
              <a:t>()</a:t>
            </a:r>
            <a:endParaRPr lang="ar-EG" sz="3600" dirty="0"/>
          </a:p>
        </p:txBody>
      </p:sp>
      <p:sp>
        <p:nvSpPr>
          <p:cNvPr id="2" name="Rectangle 1"/>
          <p:cNvSpPr/>
          <p:nvPr/>
        </p:nvSpPr>
        <p:spPr>
          <a:xfrm>
            <a:off x="722348" y="1878997"/>
            <a:ext cx="71256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D76BD"/>
                </a:solidFill>
              </a:rPr>
              <a:t>Generates a random integer within a range.</a:t>
            </a:r>
            <a:endParaRPr lang="ar-EG" sz="2800" dirty="0">
              <a:solidFill>
                <a:srgbClr val="0D76BD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9852" y="2804496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import random</a:t>
            </a:r>
          </a:p>
          <a:p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random.randint</a:t>
            </a:r>
            <a:r>
              <a:rPr lang="en-US" sz="2800" dirty="0"/>
              <a:t>(1, 10))</a:t>
            </a:r>
            <a:endParaRPr lang="ar-EG" sz="2800" dirty="0"/>
          </a:p>
        </p:txBody>
      </p:sp>
      <p:sp>
        <p:nvSpPr>
          <p:cNvPr id="5" name="Rectangle 4"/>
          <p:cNvSpPr/>
          <p:nvPr/>
        </p:nvSpPr>
        <p:spPr>
          <a:xfrm>
            <a:off x="5733446" y="2804495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import random</a:t>
            </a:r>
          </a:p>
          <a:p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random.randint</a:t>
            </a:r>
            <a:r>
              <a:rPr lang="en-US" sz="2800" dirty="0"/>
              <a:t>(50, 60))</a:t>
            </a:r>
            <a:endParaRPr lang="ar-EG" sz="2800" dirty="0"/>
          </a:p>
        </p:txBody>
      </p:sp>
      <p:sp>
        <p:nvSpPr>
          <p:cNvPr id="7" name="Rectangle 6"/>
          <p:cNvSpPr/>
          <p:nvPr/>
        </p:nvSpPr>
        <p:spPr>
          <a:xfrm>
            <a:off x="722348" y="5228833"/>
            <a:ext cx="75952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D76BD"/>
                </a:solidFill>
              </a:rPr>
              <a:t>Each execution may produce a different result.</a:t>
            </a:r>
            <a:endParaRPr lang="ar-EG" sz="2800" dirty="0">
              <a:solidFill>
                <a:srgbClr val="0D76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 err="1"/>
              <a:t>random.choice</a:t>
            </a:r>
            <a:r>
              <a:rPr lang="en-US" dirty="0"/>
              <a:t>()</a:t>
            </a:r>
            <a:endParaRPr lang="en-EG" dirty="0"/>
          </a:p>
        </p:txBody>
      </p:sp>
      <p:sp>
        <p:nvSpPr>
          <p:cNvPr id="2" name="Rectangle 1"/>
          <p:cNvSpPr/>
          <p:nvPr/>
        </p:nvSpPr>
        <p:spPr>
          <a:xfrm>
            <a:off x="972262" y="2154570"/>
            <a:ext cx="6264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D76BD"/>
                </a:solidFill>
              </a:rPr>
              <a:t>Selects a random item from a list.</a:t>
            </a:r>
            <a:endParaRPr lang="ar-EG" sz="3200" dirty="0">
              <a:solidFill>
                <a:srgbClr val="0D76BD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564" y="3178851"/>
            <a:ext cx="762417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import random</a:t>
            </a:r>
          </a:p>
          <a:p>
            <a:endParaRPr lang="en-US" sz="3200" dirty="0"/>
          </a:p>
          <a:p>
            <a:r>
              <a:rPr lang="en-US" sz="3200" dirty="0"/>
              <a:t>colors = ["Red", "Blue", "Green", "Black"]</a:t>
            </a:r>
          </a:p>
          <a:p>
            <a:endParaRPr lang="en-US" sz="3200" dirty="0"/>
          </a:p>
          <a:p>
            <a:r>
              <a:rPr lang="en-US" sz="3200" dirty="0"/>
              <a:t>print(</a:t>
            </a:r>
            <a:r>
              <a:rPr lang="en-US" sz="3200" dirty="0" err="1"/>
              <a:t>random.choice</a:t>
            </a:r>
            <a:r>
              <a:rPr lang="en-US" sz="3200" dirty="0"/>
              <a:t>(colors))</a:t>
            </a: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36" y="1382538"/>
            <a:ext cx="6965738" cy="535531"/>
          </a:xfrm>
        </p:spPr>
        <p:txBody>
          <a:bodyPr wrap="square">
            <a:spAutoFit/>
          </a:bodyPr>
          <a:lstStyle/>
          <a:p>
            <a:r>
              <a:rPr lang="en-US" dirty="0"/>
              <a:t>More Examples</a:t>
            </a:r>
            <a:endParaRPr lang="en-EG" dirty="0"/>
          </a:p>
        </p:txBody>
      </p:sp>
      <p:sp>
        <p:nvSpPr>
          <p:cNvPr id="2" name="Rectangle 1"/>
          <p:cNvSpPr/>
          <p:nvPr/>
        </p:nvSpPr>
        <p:spPr>
          <a:xfrm>
            <a:off x="1043834" y="2176769"/>
            <a:ext cx="744881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D76BD"/>
                </a:solidFill>
              </a:rPr>
              <a:t>import random</a:t>
            </a:r>
          </a:p>
          <a:p>
            <a:endParaRPr lang="en-US" sz="2000" dirty="0">
              <a:solidFill>
                <a:srgbClr val="0D76BD"/>
              </a:solidFill>
            </a:endParaRPr>
          </a:p>
          <a:p>
            <a:r>
              <a:rPr lang="en-US" sz="2000" dirty="0">
                <a:solidFill>
                  <a:srgbClr val="0D76BD"/>
                </a:solidFill>
              </a:rPr>
              <a:t>days = ["Sunday", "Monday", "Tuesday", "Wednesday"]</a:t>
            </a:r>
          </a:p>
          <a:p>
            <a:endParaRPr lang="en-US" sz="2000" dirty="0">
              <a:solidFill>
                <a:srgbClr val="0D76BD"/>
              </a:solidFill>
            </a:endParaRPr>
          </a:p>
          <a:p>
            <a:r>
              <a:rPr lang="en-US" sz="2000" dirty="0">
                <a:solidFill>
                  <a:srgbClr val="0D76BD"/>
                </a:solidFill>
              </a:rPr>
              <a:t>print(</a:t>
            </a:r>
            <a:r>
              <a:rPr lang="en-US" sz="2000" dirty="0" err="1">
                <a:solidFill>
                  <a:srgbClr val="0D76BD"/>
                </a:solidFill>
              </a:rPr>
              <a:t>random.choice</a:t>
            </a:r>
            <a:r>
              <a:rPr lang="en-US" sz="2000" dirty="0">
                <a:solidFill>
                  <a:srgbClr val="0D76BD"/>
                </a:solidFill>
              </a:rPr>
              <a:t>(days))</a:t>
            </a:r>
            <a:endParaRPr lang="ar-EG" sz="2000" dirty="0">
              <a:solidFill>
                <a:srgbClr val="0D76BD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3834" y="4404962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import random</a:t>
            </a:r>
          </a:p>
          <a:p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rgbClr val="C00000"/>
                </a:solidFill>
              </a:rPr>
              <a:t>fruits = ["Apple", "Banana", "Orange"]</a:t>
            </a:r>
          </a:p>
          <a:p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rgbClr val="C00000"/>
                </a:solidFill>
              </a:rPr>
              <a:t>print(</a:t>
            </a:r>
            <a:r>
              <a:rPr lang="en-US" sz="2000" dirty="0" err="1">
                <a:solidFill>
                  <a:srgbClr val="C00000"/>
                </a:solidFill>
              </a:rPr>
              <a:t>random.choice</a:t>
            </a:r>
            <a:r>
              <a:rPr lang="en-US" sz="2000" dirty="0">
                <a:solidFill>
                  <a:srgbClr val="C00000"/>
                </a:solidFill>
              </a:rPr>
              <a:t>(fruits))</a:t>
            </a:r>
            <a:endParaRPr lang="ar-EG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777" y="1934753"/>
            <a:ext cx="10158413" cy="4276405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A dice contains numbers from 1 to 6.</a:t>
            </a:r>
            <a:endParaRPr lang="en-EG" sz="4000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Project – Dice Simulator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514777" y="3719012"/>
            <a:ext cx="27658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Coin </a:t>
            </a:r>
            <a:r>
              <a:rPr lang="en-US" sz="4000" b="1" dirty="0" smtClean="0">
                <a:solidFill>
                  <a:srgbClr val="C00000"/>
                </a:solidFill>
              </a:rPr>
              <a:t>Toss </a:t>
            </a:r>
            <a:endParaRPr lang="ar-EG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804393"/>
            <a:ext cx="3839049" cy="535531"/>
          </a:xfrm>
        </p:spPr>
        <p:txBody>
          <a:bodyPr/>
          <a:lstStyle/>
          <a:p>
            <a:r>
              <a:rPr lang="en-US" dirty="0"/>
              <a:t>Mini Project</a:t>
            </a:r>
            <a:endParaRPr lang="en-E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087B3-9DAE-1644-EDFF-3642792E9F39}"/>
              </a:ext>
            </a:extLst>
          </p:cNvPr>
          <p:cNvSpPr/>
          <p:nvPr/>
        </p:nvSpPr>
        <p:spPr>
          <a:xfrm>
            <a:off x="2173721" y="2620996"/>
            <a:ext cx="8498454" cy="3277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Write a program that: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Generates a random number from 1 to 20.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Prints the square root of 225.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Prints the factorial of 7.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Chooses a random color from a list. </a:t>
            </a:r>
          </a:p>
          <a:p>
            <a:endParaRPr lang="en-US" sz="1600" b="1" dirty="0">
              <a:solidFill>
                <a:schemeClr val="lt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3052537" y="2759501"/>
            <a:ext cx="5953677" cy="227511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</TotalTime>
  <Words>480</Words>
  <Application>Microsoft Office PowerPoint</Application>
  <PresentationFormat>Widescreen</PresentationFormat>
  <Paragraphs>126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Wingdings</vt:lpstr>
      <vt:lpstr>Arial</vt:lpstr>
      <vt:lpstr>Poppins Medium</vt:lpstr>
      <vt:lpstr>Playfair Display</vt:lpstr>
      <vt:lpstr>Inter</vt:lpstr>
      <vt:lpstr>Segoe UI</vt:lpstr>
      <vt:lpstr>Calibri</vt:lpstr>
      <vt:lpstr>Office Theme</vt:lpstr>
      <vt:lpstr>PowerPoint Presentation</vt:lpstr>
      <vt:lpstr>PowerPoint Presentation</vt:lpstr>
      <vt:lpstr>Learning Outcomes</vt:lpstr>
      <vt:lpstr>What is a Module?</vt:lpstr>
      <vt:lpstr>Why Do We Use Modules?</vt:lpstr>
      <vt:lpstr>Importing a Module</vt:lpstr>
      <vt:lpstr>Using math.sqrt()</vt:lpstr>
      <vt:lpstr>Using math.pow()</vt:lpstr>
      <vt:lpstr>Break</vt:lpstr>
      <vt:lpstr>Using math.factorial()</vt:lpstr>
      <vt:lpstr>Using math.pi</vt:lpstr>
      <vt:lpstr>The Random Module</vt:lpstr>
      <vt:lpstr>random.randint()</vt:lpstr>
      <vt:lpstr>random.choice()</vt:lpstr>
      <vt:lpstr>More Examples</vt:lpstr>
      <vt:lpstr>Mini Project – Dice Simulator</vt:lpstr>
      <vt:lpstr>Mini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51</cp:revision>
  <dcterms:created xsi:type="dcterms:W3CDTF">2026-03-27T11:30:08Z</dcterms:created>
  <dcterms:modified xsi:type="dcterms:W3CDTF">2026-07-21T21:47:13Z</dcterms:modified>
</cp:coreProperties>
</file>