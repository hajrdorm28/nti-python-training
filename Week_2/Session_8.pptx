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94" r:id="rId3"/>
    <p:sldId id="295" r:id="rId4"/>
    <p:sldId id="296" r:id="rId5"/>
    <p:sldId id="297" r:id="rId6"/>
    <p:sldId id="314" r:id="rId7"/>
    <p:sldId id="298" r:id="rId8"/>
    <p:sldId id="299" r:id="rId9"/>
    <p:sldId id="300" r:id="rId10"/>
    <p:sldId id="301" r:id="rId11"/>
    <p:sldId id="313" r:id="rId12"/>
    <p:sldId id="302" r:id="rId13"/>
    <p:sldId id="303" r:id="rId14"/>
    <p:sldId id="304" r:id="rId15"/>
    <p:sldId id="305" r:id="rId16"/>
    <p:sldId id="308" r:id="rId17"/>
    <p:sldId id="311" r:id="rId18"/>
    <p:sldId id="312" r:id="rId19"/>
  </p:sldIdLst>
  <p:sldSz cx="12192000" cy="6858000"/>
  <p:notesSz cx="6858000" cy="9144000"/>
  <p:embeddedFontLst>
    <p:embeddedFont>
      <p:font typeface="Segoe UI" panose="020B0502040204020203" pitchFamily="34" charset="0"/>
      <p:regular r:id="rId21"/>
      <p:bold r:id="rId22"/>
      <p:italic r:id="rId23"/>
      <p:boldItalic r:id="rId24"/>
    </p:embeddedFont>
    <p:embeddedFont>
      <p:font typeface="Calibri" panose="020F0502020204030204" pitchFamily="34" charset="0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528" userDrawn="1">
          <p15:clr>
            <a:srgbClr val="A4A3A4"/>
          </p15:clr>
        </p15:guide>
        <p15:guide id="3" pos="71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B94"/>
    <a:srgbClr val="0D76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2" autoAdjust="0"/>
    <p:restoredTop sz="91061" autoAdjust="0"/>
  </p:normalViewPr>
  <p:slideViewPr>
    <p:cSldViewPr snapToGrid="0">
      <p:cViewPr varScale="1">
        <p:scale>
          <a:sx n="77" d="100"/>
          <a:sy n="77" d="100"/>
        </p:scale>
        <p:origin x="552" y="90"/>
      </p:cViewPr>
      <p:guideLst>
        <p:guide orient="horz" pos="3888"/>
        <p:guide pos="528"/>
        <p:guide pos="71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5E4A5-61F0-4A45-A308-BB450F325CC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22913-3848-4702-9CA6-43C445879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20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9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01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37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7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84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99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64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56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08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278F43A-FB5C-B2EB-F9DE-AF246B9BCD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62" y="1376475"/>
            <a:ext cx="4742246" cy="456210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DAEE64-3165-EBF4-F20C-C39BD64C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49891"/>
            <a:ext cx="4341467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304979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CE44F-0AC8-95A4-A0BE-37EFA2F155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192401"/>
            <a:ext cx="8893175" cy="3266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5548F9-F8BC-EFDB-C687-8D0C5A93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3971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24865" y="1495168"/>
            <a:ext cx="7692964" cy="428263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FF78D9-C1A2-526F-6420-B3D76D0BD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495168"/>
            <a:ext cx="34050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39461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76163"/>
            <a:ext cx="12192000" cy="34289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820320-FD11-BAF5-37F4-CF304DE6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4475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90699" y="155695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ABAD49B-FDB5-F77F-A443-0E3F5E7156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9319" y="154650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66EAC-19C8-6C5F-048D-4DC4B555FC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68" y="1316734"/>
            <a:ext cx="4074856" cy="198310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55632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B0C6339-CA41-2A13-E31E-C9B624A249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8" y="2444345"/>
            <a:ext cx="3294042" cy="29417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1EF183C-CE0C-2B93-D215-252B683E94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18112" y="1645630"/>
            <a:ext cx="3294042" cy="438355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818556-CB74-61E7-75FD-256A2431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35537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7395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9F59937-5E08-66DF-EBE6-71F9DF9C98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00171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B3B78D-483A-DCE1-6079-3B46A855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0991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4056" y="2231136"/>
            <a:ext cx="3254626" cy="325526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9FEAE8-5AF9-03B3-0844-DDBF6CB1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39311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91731" y="1426865"/>
            <a:ext cx="5869214" cy="294390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9BD62F-0B76-88A2-E29D-59829B77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600282"/>
            <a:ext cx="392948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1266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25143" y="1589524"/>
            <a:ext cx="6966857" cy="424736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F799DE-AC33-6FB4-AA25-AEF9862E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589524"/>
            <a:ext cx="365817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12768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0712" y="1320323"/>
            <a:ext cx="4204740" cy="498278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D27499-F706-FAB7-D036-ED85BD77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162" y="1320323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20452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9" y="3285120"/>
            <a:ext cx="5043461" cy="2555623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85313B9-1E3D-25CD-C016-3DA6D7EFD1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10341" y="1557495"/>
            <a:ext cx="5294667" cy="284235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CE7931-72DD-ACE7-A685-6ECE67AA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705" y="1313548"/>
            <a:ext cx="4441950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2397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7469" y="2459715"/>
            <a:ext cx="4783157" cy="33940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21E2BF-599D-B1F9-D6E8-5DCA4FF2B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79152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81455" y="1552454"/>
            <a:ext cx="5613400" cy="4247361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AE96D8-BF7F-6004-FB2D-86621585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71" y="3026520"/>
            <a:ext cx="40098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92748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7973" y="2975832"/>
            <a:ext cx="8036051" cy="29068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2D82A6-9BE4-1B56-B81C-E40D68A6C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25356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721" y="1373448"/>
            <a:ext cx="3484625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D8A88D9-93EB-19DF-C0DB-7F020B3F07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57323" y="1373448"/>
            <a:ext cx="2970520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BFA21-027C-9D7E-86C4-6A892D55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3327970"/>
            <a:ext cx="3758662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053210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83530" y="2471257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D4F9BE-3AC0-19C2-9187-3FD8A481A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56375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22483-4632-E171-2855-7D99A603FA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224603"/>
            <a:ext cx="10158413" cy="346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6BE785-A8E6-66CF-A260-2DF94E4B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220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125" y="1524612"/>
            <a:ext cx="5694218" cy="4420275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21626-1B9C-F9E7-848F-8656655C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82794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74998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84629" y="2337059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34112C-F87F-EA2E-4F5B-03A38B93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5522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58097"/>
            <a:ext cx="3526971" cy="473897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2C1E3-120D-3FEC-1B77-2A36BF6D4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875" y="1553089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603250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1909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0B098B3-79E1-266E-BB89-C5D12EB23D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59547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40E445-A68C-4D36-E75A-60468A3F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9643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882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B439235-1612-8175-756F-EC4690BF4E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477963-0E68-6BE9-685A-14AC4960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40324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4259" y="1470454"/>
            <a:ext cx="4463683" cy="439990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E7F65-8C2A-99A3-29F7-AB052EE6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772" y="1580088"/>
            <a:ext cx="460272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008214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0990" y="2318009"/>
            <a:ext cx="3461119" cy="346111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45EB47-DFC0-2E76-0595-02B2E454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40464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750" y="2200589"/>
            <a:ext cx="3461118" cy="38734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1F8B9-D5FB-9194-E851-27D411D7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846613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30723" y="1507524"/>
            <a:ext cx="3154531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DA4CFAE-E2E2-884F-70F5-32FCCDCD7A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22136" y="1507524"/>
            <a:ext cx="3154532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DBEE-D77F-11A7-DCDC-8738B648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726" y="3211081"/>
            <a:ext cx="2159997" cy="1255728"/>
          </a:xfrm>
        </p:spPr>
        <p:txBody>
          <a:bodyPr>
            <a:sp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500069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15DC9D-6410-4FCE-22DB-5A4A3E96802F}"/>
              </a:ext>
            </a:extLst>
          </p:cNvPr>
          <p:cNvPicPr/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263767-B6AA-FEF6-295D-20D68A167F80}"/>
              </a:ext>
            </a:extLst>
          </p:cNvPr>
          <p:cNvSpPr/>
          <p:nvPr userDrawn="1"/>
        </p:nvSpPr>
        <p:spPr>
          <a:xfrm>
            <a:off x="884503" y="6172205"/>
            <a:ext cx="685800" cy="685800"/>
          </a:xfrm>
          <a:prstGeom prst="rect">
            <a:avLst/>
          </a:prstGeom>
          <a:solidFill>
            <a:schemeClr val="accent1"/>
          </a:solidFill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60E2A6B-A809-4840-BF14-8648BC0BDF87}" type="slidenum">
              <a:rPr lang="id-ID" sz="1300" b="1" smtClean="0">
                <a:solidFill>
                  <a:schemeClr val="bg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pPr algn="ctr"/>
              <a:t>‹#›</a:t>
            </a:fld>
            <a:endParaRPr lang="en-US" sz="1300" b="1">
              <a:solidFill>
                <a:schemeClr val="bg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DAD369-F2D1-9F1E-1936-EEF937EF9009}"/>
              </a:ext>
            </a:extLst>
          </p:cNvPr>
          <p:cNvSpPr/>
          <p:nvPr userDrawn="1"/>
        </p:nvSpPr>
        <p:spPr>
          <a:xfrm>
            <a:off x="9800473" y="6403136"/>
            <a:ext cx="1629527" cy="411478"/>
          </a:xfrm>
          <a:prstGeom prst="rect">
            <a:avLst/>
          </a:prstGeom>
          <a:noFill/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t>Copyright @ 2026 NTI </a:t>
            </a:r>
            <a:endParaRPr lang="en-US" sz="1000" dirty="0">
              <a:solidFill>
                <a:schemeClr val="tx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B3B6FB33-A672-9B82-41E4-0AC900F93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3067"/>
            <a:ext cx="10515600" cy="54784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E7308B9-242D-32FB-28B8-815AFC14B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564" y="2008412"/>
            <a:ext cx="10515600" cy="3739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484B76-34FB-C4DC-593D-8783A64B409D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633075" y="184578"/>
            <a:ext cx="1768481" cy="8776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FDA9D8-55BC-8A23-77AE-11215C839C67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9549800" y="257729"/>
            <a:ext cx="1513435" cy="73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98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>
              <a:lumMod val="85000"/>
              <a:lumOff val="15000"/>
            </a:schemeClr>
          </a:solidFill>
          <a:latin typeface="Poppins Medium" pitchFamily="2" charset="77"/>
          <a:ea typeface="+mj-ea"/>
          <a:cs typeface="Poppins Medium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BB33DD-B563-558B-A025-FB92064EDF1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9DEECA3-5394-9AC0-01CC-D16A223C28EF}"/>
              </a:ext>
            </a:extLst>
          </p:cNvPr>
          <p:cNvSpPr/>
          <p:nvPr/>
        </p:nvSpPr>
        <p:spPr>
          <a:xfrm>
            <a:off x="8905060" y="1148050"/>
            <a:ext cx="2526013" cy="4742245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09379A-6685-5A36-1A51-C194755EBC96}"/>
              </a:ext>
            </a:extLst>
          </p:cNvPr>
          <p:cNvSpPr txBox="1"/>
          <p:nvPr/>
        </p:nvSpPr>
        <p:spPr>
          <a:xfrm>
            <a:off x="760927" y="3206864"/>
            <a:ext cx="4430731" cy="185358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5400">
                <a:solidFill>
                  <a:schemeClr val="tx2"/>
                </a:solidFill>
                <a:latin typeface="Inter ExtraBold" panose="02000503000000020004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SUMMER</a:t>
            </a:r>
          </a:p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TRAINING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AF8EEF-9065-C8BD-C95F-69F4F2221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10" y="151463"/>
            <a:ext cx="1768481" cy="877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325AA9-937B-9722-93B6-6A87406DA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590" y="149934"/>
            <a:ext cx="1513435" cy="7313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9557" y="5223353"/>
            <a:ext cx="4373890" cy="95410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800" b="1" dirty="0" smtClean="0">
                <a:solidFill>
                  <a:srgbClr val="065B94"/>
                </a:solidFill>
              </a:rPr>
              <a:t>Instructor : </a:t>
            </a:r>
            <a:r>
              <a:rPr lang="en-US" sz="2800" b="1" dirty="0" err="1" smtClean="0">
                <a:solidFill>
                  <a:srgbClr val="065B94"/>
                </a:solidFill>
              </a:rPr>
              <a:t>Doaa</a:t>
            </a:r>
            <a:r>
              <a:rPr lang="en-US" sz="2800" b="1" dirty="0" smtClean="0">
                <a:solidFill>
                  <a:srgbClr val="065B94"/>
                </a:solidFill>
              </a:rPr>
              <a:t> </a:t>
            </a:r>
            <a:r>
              <a:rPr lang="en-US" sz="2800" b="1" dirty="0" err="1" smtClean="0">
                <a:solidFill>
                  <a:srgbClr val="065B94"/>
                </a:solidFill>
              </a:rPr>
              <a:t>M.Taha</a:t>
            </a:r>
            <a:endParaRPr lang="en-US" sz="2800" b="1" dirty="0" smtClean="0">
              <a:solidFill>
                <a:srgbClr val="065B94"/>
              </a:solidFill>
            </a:endParaRPr>
          </a:p>
          <a:p>
            <a:r>
              <a:rPr lang="en-US" sz="2800" b="1" dirty="0" smtClean="0">
                <a:solidFill>
                  <a:srgbClr val="065B94"/>
                </a:solidFill>
              </a:rPr>
              <a:t>Data Analyst</a:t>
            </a:r>
            <a:endParaRPr lang="ar-EG" sz="2800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835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0744C2-E677-420B-89A6-2E2BEE86E3C0}"/>
              </a:ext>
            </a:extLst>
          </p:cNvPr>
          <p:cNvSpPr/>
          <p:nvPr/>
        </p:nvSpPr>
        <p:spPr>
          <a:xfrm>
            <a:off x="0" y="2120376"/>
            <a:ext cx="12192000" cy="3644900"/>
          </a:xfrm>
          <a:prstGeom prst="rect">
            <a:avLst/>
          </a:prstGeom>
          <a:solidFill>
            <a:srgbClr val="065B9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cs typeface="Poppins Medium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526AB-A15D-F80A-8A3D-31B493CC197F}"/>
              </a:ext>
            </a:extLst>
          </p:cNvPr>
          <p:cNvSpPr txBox="1"/>
          <p:nvPr/>
        </p:nvSpPr>
        <p:spPr>
          <a:xfrm>
            <a:off x="-631304" y="1760233"/>
            <a:ext cx="127314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800" b="1" dirty="0"/>
          </a:p>
          <a:p>
            <a:endParaRPr lang="en-US" sz="6000" b="1" dirty="0"/>
          </a:p>
          <a:p>
            <a:pPr algn="r"/>
            <a:r>
              <a:rPr lang="en-US" sz="6000" b="1" dirty="0">
                <a:solidFill>
                  <a:schemeClr val="bg1"/>
                </a:solidFill>
              </a:rPr>
              <a:t>Session 8</a:t>
            </a:r>
            <a:r>
              <a:rPr lang="en-US" sz="6000" b="1" dirty="0" smtClean="0">
                <a:solidFill>
                  <a:schemeClr val="bg1"/>
                </a:solidFill>
              </a:rPr>
              <a:t> : </a:t>
            </a:r>
            <a:r>
              <a:rPr lang="en-US" sz="4400" b="1" dirty="0">
                <a:solidFill>
                  <a:schemeClr val="bg1"/>
                </a:solidFill>
              </a:rPr>
              <a:t>Working with Files in Python</a:t>
            </a:r>
            <a:endParaRPr lang="en-US" sz="4400" b="1" dirty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3996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02E416-D2F6-5691-B5D3-0F318A91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385" y="1358858"/>
            <a:ext cx="10515600" cy="646331"/>
          </a:xfrm>
        </p:spPr>
        <p:txBody>
          <a:bodyPr/>
          <a:lstStyle/>
          <a:p>
            <a:r>
              <a:rPr lang="en-US" sz="4000" dirty="0"/>
              <a:t>Learning Outcomes</a:t>
            </a:r>
            <a:endParaRPr lang="en-EG" sz="40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78136-80FD-6B50-54D6-A3954F50D64C}"/>
              </a:ext>
            </a:extLst>
          </p:cNvPr>
          <p:cNvSpPr txBox="1"/>
          <p:nvPr/>
        </p:nvSpPr>
        <p:spPr>
          <a:xfrm>
            <a:off x="5636694" y="2774756"/>
            <a:ext cx="5531470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chemeClr val="bg2"/>
                </a:solidFill>
                <a:latin typeface="+mj-lt"/>
                <a:cs typeface="Segoe UI" panose="020B0502040204020203" pitchFamily="34" charset="0"/>
              </a:rPr>
              <a:t>r</a:t>
            </a:r>
            <a:endParaRPr lang="en-US" sz="1600" dirty="0">
              <a:solidFill>
                <a:schemeClr val="bg2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2037D3-AC89-8E5A-BCA6-061E80E19998}"/>
              </a:ext>
            </a:extLst>
          </p:cNvPr>
          <p:cNvSpPr txBox="1"/>
          <p:nvPr/>
        </p:nvSpPr>
        <p:spPr>
          <a:xfrm>
            <a:off x="1194005" y="1574427"/>
            <a:ext cx="101379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0">
                <a:solidFill>
                  <a:schemeClr val="tx2"/>
                </a:solidFill>
                <a:latin typeface="Playfair Display" pitchFamily="2" charset="0"/>
              </a:defRPr>
            </a:lvl1pPr>
          </a:lstStyle>
          <a:p>
            <a:endParaRPr lang="en-US" sz="3600" b="1" dirty="0"/>
          </a:p>
          <a:p>
            <a:endParaRPr lang="en-US" sz="3600" dirty="0"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61975" y="1910871"/>
            <a:ext cx="994762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sz="3200" b="1" dirty="0">
                <a:solidFill>
                  <a:srgbClr val="C00000"/>
                </a:solidFill>
              </a:rPr>
              <a:t>By the end of this session, you will be able to</a:t>
            </a:r>
            <a:r>
              <a:rPr lang="en-US" sz="3200" b="1" dirty="0" smtClean="0">
                <a:solidFill>
                  <a:srgbClr val="C00000"/>
                </a:solidFill>
              </a:rPr>
              <a:t>:</a:t>
            </a:r>
          </a:p>
          <a:p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25343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06075" y="2774756"/>
            <a:ext cx="7626648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By the end of this session, you will be able to</a:t>
            </a:r>
            <a:r>
              <a:rPr lang="en-US" sz="2400" b="1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065B94"/>
                </a:solidFill>
              </a:rPr>
              <a:t>Understand </a:t>
            </a:r>
            <a:r>
              <a:rPr lang="en-US" sz="2400" dirty="0">
                <a:solidFill>
                  <a:srgbClr val="065B94"/>
                </a:solidFill>
              </a:rPr>
              <a:t>file handling in Python</a:t>
            </a:r>
            <a:r>
              <a:rPr lang="en-US" sz="2400" dirty="0" smtClean="0">
                <a:solidFill>
                  <a:srgbClr val="065B94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065B94"/>
                </a:solidFill>
              </a:rPr>
              <a:t>Open </a:t>
            </a:r>
            <a:r>
              <a:rPr lang="en-US" sz="2400" dirty="0">
                <a:solidFill>
                  <a:srgbClr val="065B94"/>
                </a:solidFill>
              </a:rPr>
              <a:t>and close files</a:t>
            </a:r>
            <a:r>
              <a:rPr lang="en-US" sz="2400" dirty="0" smtClean="0">
                <a:solidFill>
                  <a:srgbClr val="065B94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065B94"/>
                </a:solidFill>
              </a:rPr>
              <a:t>Read </a:t>
            </a:r>
            <a:r>
              <a:rPr lang="en-US" sz="2400" dirty="0">
                <a:solidFill>
                  <a:srgbClr val="065B94"/>
                </a:solidFill>
              </a:rPr>
              <a:t>data from files</a:t>
            </a:r>
            <a:r>
              <a:rPr lang="en-US" sz="2400" dirty="0" smtClean="0">
                <a:solidFill>
                  <a:srgbClr val="065B94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065B94"/>
                </a:solidFill>
              </a:rPr>
              <a:t>Write </a:t>
            </a:r>
            <a:r>
              <a:rPr lang="en-US" sz="2400" dirty="0">
                <a:solidFill>
                  <a:srgbClr val="065B94"/>
                </a:solidFill>
              </a:rPr>
              <a:t>data to files</a:t>
            </a:r>
            <a:r>
              <a:rPr lang="en-US" sz="2400" dirty="0" smtClean="0">
                <a:solidFill>
                  <a:srgbClr val="065B94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065B94"/>
                </a:solidFill>
              </a:rPr>
              <a:t>Append </a:t>
            </a:r>
            <a:r>
              <a:rPr lang="en-US" sz="2400" dirty="0">
                <a:solidFill>
                  <a:srgbClr val="065B94"/>
                </a:solidFill>
              </a:rPr>
              <a:t>data to existing files</a:t>
            </a:r>
            <a:r>
              <a:rPr lang="en-US" sz="2400" dirty="0" smtClean="0">
                <a:solidFill>
                  <a:srgbClr val="065B94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065B94"/>
                </a:solidFill>
              </a:rPr>
              <a:t>Use </a:t>
            </a:r>
            <a:r>
              <a:rPr lang="en-US" sz="2400" dirty="0">
                <a:solidFill>
                  <a:srgbClr val="065B94"/>
                </a:solidFill>
              </a:rPr>
              <a:t>the with statement</a:t>
            </a:r>
            <a:r>
              <a:rPr lang="en-US" sz="2400" dirty="0" smtClean="0">
                <a:solidFill>
                  <a:srgbClr val="065B94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065B94"/>
                </a:solidFill>
              </a:rPr>
              <a:t>Solve </a:t>
            </a:r>
            <a:r>
              <a:rPr lang="en-US" sz="2400" dirty="0">
                <a:solidFill>
                  <a:srgbClr val="065B94"/>
                </a:solidFill>
              </a:rPr>
              <a:t>file handling problems.</a:t>
            </a:r>
            <a:endParaRPr lang="ar-EG" sz="24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415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78634-F6B2-B5A9-441F-37C6B8A6B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75843" y="1316734"/>
            <a:ext cx="4074856" cy="590931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Review</a:t>
            </a:r>
            <a:endParaRPr lang="en-EG" sz="3600" b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74213" y="1907665"/>
            <a:ext cx="31918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Quick Questions</a:t>
            </a:r>
            <a:endParaRPr lang="ar-EG" sz="3200" dirty="0">
              <a:solidFill>
                <a:srgbClr val="C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102699" y="2842789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065B94"/>
                </a:solidFill>
              </a:rPr>
              <a:t>What is a dictionary</a:t>
            </a:r>
            <a:r>
              <a:rPr lang="en-US" sz="2800" dirty="0" smtClean="0">
                <a:solidFill>
                  <a:srgbClr val="065B94"/>
                </a:solidFill>
              </a:rPr>
              <a:t>?</a:t>
            </a:r>
          </a:p>
          <a:p>
            <a:endParaRPr lang="en-US" sz="2800" dirty="0">
              <a:solidFill>
                <a:srgbClr val="065B94"/>
              </a:solidFill>
            </a:endParaRPr>
          </a:p>
          <a:p>
            <a:r>
              <a:rPr lang="en-US" sz="2800" dirty="0" smtClean="0">
                <a:solidFill>
                  <a:srgbClr val="065B94"/>
                </a:solidFill>
              </a:rPr>
              <a:t>What </a:t>
            </a:r>
            <a:r>
              <a:rPr lang="en-US" sz="2800" dirty="0">
                <a:solidFill>
                  <a:srgbClr val="065B94"/>
                </a:solidFill>
              </a:rPr>
              <a:t>is a key-value pair</a:t>
            </a:r>
            <a:r>
              <a:rPr lang="en-US" sz="2800" dirty="0" smtClean="0">
                <a:solidFill>
                  <a:srgbClr val="065B94"/>
                </a:solidFill>
              </a:rPr>
              <a:t>?</a:t>
            </a:r>
          </a:p>
          <a:p>
            <a:endParaRPr lang="en-US" sz="2800" dirty="0">
              <a:solidFill>
                <a:srgbClr val="065B94"/>
              </a:solidFill>
            </a:endParaRPr>
          </a:p>
          <a:p>
            <a:r>
              <a:rPr lang="en-US" sz="2800" dirty="0" smtClean="0">
                <a:solidFill>
                  <a:srgbClr val="065B94"/>
                </a:solidFill>
              </a:rPr>
              <a:t>Which </a:t>
            </a:r>
            <a:r>
              <a:rPr lang="en-US" sz="2800" dirty="0">
                <a:solidFill>
                  <a:srgbClr val="065B94"/>
                </a:solidFill>
              </a:rPr>
              <a:t>method returns all keys</a:t>
            </a:r>
            <a:r>
              <a:rPr lang="en-US" sz="2800" dirty="0" smtClean="0">
                <a:solidFill>
                  <a:srgbClr val="065B94"/>
                </a:solidFill>
              </a:rPr>
              <a:t>?</a:t>
            </a:r>
          </a:p>
          <a:p>
            <a:endParaRPr lang="en-US" sz="2800" dirty="0">
              <a:solidFill>
                <a:srgbClr val="065B94"/>
              </a:solidFill>
            </a:endParaRPr>
          </a:p>
          <a:p>
            <a:r>
              <a:rPr lang="en-US" sz="2800" dirty="0" smtClean="0">
                <a:solidFill>
                  <a:srgbClr val="065B94"/>
                </a:solidFill>
              </a:rPr>
              <a:t>What </a:t>
            </a:r>
            <a:r>
              <a:rPr lang="en-US" sz="2800" dirty="0">
                <a:solidFill>
                  <a:srgbClr val="065B94"/>
                </a:solidFill>
              </a:rPr>
              <a:t>is get() used for?</a:t>
            </a:r>
            <a:endParaRPr lang="ar-EG" sz="28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27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10800-D88D-544B-9928-C765DD7B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43822"/>
            <a:ext cx="10515600" cy="646331"/>
          </a:xfrm>
        </p:spPr>
        <p:txBody>
          <a:bodyPr/>
          <a:lstStyle/>
          <a:p>
            <a:r>
              <a:rPr lang="en-US" sz="3600" dirty="0" smtClean="0"/>
              <a:t> </a:t>
            </a:r>
            <a:r>
              <a:rPr lang="en-US" sz="4000" dirty="0"/>
              <a:t>What is a File?</a:t>
            </a:r>
            <a:endParaRPr lang="en-EG" sz="4000" dirty="0"/>
          </a:p>
        </p:txBody>
      </p:sp>
      <p:sp>
        <p:nvSpPr>
          <p:cNvPr id="2" name="Rectangle 1"/>
          <p:cNvSpPr/>
          <p:nvPr/>
        </p:nvSpPr>
        <p:spPr>
          <a:xfrm>
            <a:off x="788263" y="1990153"/>
            <a:ext cx="11403737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65B94"/>
                </a:solidFill>
              </a:rPr>
              <a:t>A file is used to store data </a:t>
            </a:r>
            <a:r>
              <a:rPr lang="en-US" sz="3600" b="1" dirty="0">
                <a:solidFill>
                  <a:srgbClr val="FF0000"/>
                </a:solidFill>
              </a:rPr>
              <a:t>permanently</a:t>
            </a:r>
            <a:r>
              <a:rPr lang="en-US" sz="3200" b="1" dirty="0">
                <a:solidFill>
                  <a:srgbClr val="065B94"/>
                </a:solidFill>
              </a:rPr>
              <a:t> on your computer</a:t>
            </a:r>
            <a:r>
              <a:rPr lang="en-US" sz="3200" b="1" dirty="0" smtClean="0">
                <a:solidFill>
                  <a:srgbClr val="065B94"/>
                </a:solidFill>
              </a:rPr>
              <a:t>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sz="2400" b="1" dirty="0" smtClean="0"/>
              <a:t>Examples:</a:t>
            </a:r>
          </a:p>
          <a:p>
            <a:endParaRPr lang="en-US" dirty="0"/>
          </a:p>
          <a:p>
            <a:r>
              <a:rPr lang="en-US" sz="2800" b="1" dirty="0" smtClean="0">
                <a:solidFill>
                  <a:srgbClr val="065B94"/>
                </a:solidFill>
              </a:rPr>
              <a:t>.txt</a:t>
            </a:r>
          </a:p>
          <a:p>
            <a:r>
              <a:rPr lang="en-US" sz="2800" b="1" dirty="0" smtClean="0">
                <a:solidFill>
                  <a:srgbClr val="065B94"/>
                </a:solidFill>
              </a:rPr>
              <a:t>.csv</a:t>
            </a:r>
          </a:p>
          <a:p>
            <a:r>
              <a:rPr lang="en-US" sz="2800" b="1" dirty="0" smtClean="0">
                <a:solidFill>
                  <a:srgbClr val="065B94"/>
                </a:solidFill>
              </a:rPr>
              <a:t>.</a:t>
            </a:r>
            <a:r>
              <a:rPr lang="en-US" sz="2800" b="1" dirty="0" err="1" smtClean="0">
                <a:solidFill>
                  <a:srgbClr val="065B94"/>
                </a:solidFill>
              </a:rPr>
              <a:t>json</a:t>
            </a:r>
            <a:endParaRPr lang="en-US" sz="2800" b="1" dirty="0" smtClean="0">
              <a:solidFill>
                <a:srgbClr val="065B94"/>
              </a:solidFill>
            </a:endParaRPr>
          </a:p>
          <a:p>
            <a:r>
              <a:rPr lang="en-US" sz="2800" b="1" dirty="0" smtClean="0">
                <a:solidFill>
                  <a:srgbClr val="065B94"/>
                </a:solidFill>
              </a:rPr>
              <a:t>.</a:t>
            </a:r>
            <a:r>
              <a:rPr lang="en-US" sz="2800" b="1" dirty="0" err="1">
                <a:solidFill>
                  <a:srgbClr val="065B94"/>
                </a:solidFill>
              </a:rPr>
              <a:t>py</a:t>
            </a:r>
            <a:endParaRPr lang="ar-EG" sz="2800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683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03385" y="1114909"/>
            <a:ext cx="71667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Working on Different IDEs</a:t>
            </a:r>
            <a:endParaRPr lang="ar-EG" sz="4400" b="1" dirty="0"/>
          </a:p>
        </p:txBody>
      </p:sp>
      <p:sp>
        <p:nvSpPr>
          <p:cNvPr id="6" name="Rectangle 5"/>
          <p:cNvSpPr/>
          <p:nvPr/>
        </p:nvSpPr>
        <p:spPr>
          <a:xfrm>
            <a:off x="2371595" y="2428717"/>
            <a:ext cx="8037534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VS </a:t>
            </a:r>
            <a:r>
              <a:rPr lang="en-US" sz="2800" b="1" dirty="0" smtClean="0">
                <a:solidFill>
                  <a:srgbClr val="C00000"/>
                </a:solidFill>
              </a:rPr>
              <a:t>Code</a:t>
            </a:r>
          </a:p>
          <a:p>
            <a:endParaRPr lang="en-US" dirty="0"/>
          </a:p>
          <a:p>
            <a:r>
              <a:rPr lang="en-US" sz="2800" dirty="0" smtClean="0"/>
              <a:t>Create </a:t>
            </a:r>
            <a:r>
              <a:rPr lang="en-US" sz="2800" dirty="0"/>
              <a:t>a .txt file manually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Save </a:t>
            </a:r>
            <a:r>
              <a:rPr lang="en-US" sz="2800" dirty="0"/>
              <a:t>it in the same folder as your Python file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sz="2800" b="1" dirty="0" smtClean="0">
                <a:solidFill>
                  <a:srgbClr val="C00000"/>
                </a:solidFill>
              </a:rPr>
              <a:t>Google </a:t>
            </a:r>
            <a:r>
              <a:rPr lang="en-US" sz="2800" b="1" dirty="0" err="1" smtClean="0">
                <a:solidFill>
                  <a:srgbClr val="C00000"/>
                </a:solidFill>
              </a:rPr>
              <a:t>Colab</a:t>
            </a:r>
            <a:endParaRPr lang="en-US" sz="2800" b="1" dirty="0" smtClean="0">
              <a:solidFill>
                <a:srgbClr val="C00000"/>
              </a:solidFill>
            </a:endParaRPr>
          </a:p>
          <a:p>
            <a:endParaRPr lang="en-US" dirty="0"/>
          </a:p>
          <a:p>
            <a:r>
              <a:rPr lang="en-US" sz="2800" dirty="0" smtClean="0"/>
              <a:t>Create </a:t>
            </a:r>
            <a:r>
              <a:rPr lang="en-US" sz="2800" dirty="0"/>
              <a:t>the file using Python </a:t>
            </a:r>
            <a:r>
              <a:rPr lang="en-US" sz="2800" dirty="0">
                <a:solidFill>
                  <a:srgbClr val="FF0000"/>
                </a:solidFill>
              </a:rPr>
              <a:t>code</a:t>
            </a:r>
            <a:r>
              <a:rPr lang="en-US" sz="2800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sz="2800" dirty="0" smtClean="0"/>
              <a:t>Or </a:t>
            </a:r>
            <a:r>
              <a:rPr lang="en-US" sz="2800" dirty="0"/>
              <a:t>upload the file using the Files panel.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41571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CD770F-3897-47FC-371D-7EC698F2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31" y="1606869"/>
            <a:ext cx="10515600" cy="646331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dirty="0"/>
              <a:t>Why Do We Use Files?</a:t>
            </a:r>
            <a:endParaRPr lang="en-EG" sz="4000" dirty="0"/>
          </a:p>
        </p:txBody>
      </p:sp>
      <p:sp>
        <p:nvSpPr>
          <p:cNvPr id="2" name="Rectangle 1"/>
          <p:cNvSpPr/>
          <p:nvPr/>
        </p:nvSpPr>
        <p:spPr>
          <a:xfrm>
            <a:off x="2016857" y="2553976"/>
            <a:ext cx="6985348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65B94"/>
                </a:solidFill>
              </a:rPr>
              <a:t>Without files</a:t>
            </a:r>
            <a:r>
              <a:rPr lang="en-US" sz="2800" b="1" dirty="0" smtClean="0">
                <a:solidFill>
                  <a:srgbClr val="065B94"/>
                </a:solidFill>
              </a:rPr>
              <a:t>:</a:t>
            </a:r>
          </a:p>
          <a:p>
            <a:r>
              <a:rPr lang="en-US" sz="2800" dirty="0" smtClean="0"/>
              <a:t>Data </a:t>
            </a:r>
            <a:r>
              <a:rPr lang="en-US" sz="2800" dirty="0"/>
              <a:t>is lost when the program ends</a:t>
            </a:r>
            <a:r>
              <a:rPr lang="en-US" sz="2800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sz="2800" b="1" dirty="0" smtClean="0">
                <a:solidFill>
                  <a:srgbClr val="065B94"/>
                </a:solidFill>
              </a:rPr>
              <a:t>With </a:t>
            </a:r>
            <a:r>
              <a:rPr lang="en-US" sz="2800" b="1" dirty="0">
                <a:solidFill>
                  <a:srgbClr val="065B94"/>
                </a:solidFill>
              </a:rPr>
              <a:t>files</a:t>
            </a:r>
            <a:r>
              <a:rPr lang="en-US" sz="2800" b="1" dirty="0" smtClean="0">
                <a:solidFill>
                  <a:srgbClr val="065B94"/>
                </a:solidFill>
              </a:rPr>
              <a:t>:</a:t>
            </a:r>
          </a:p>
          <a:p>
            <a:r>
              <a:rPr lang="en-US" sz="2800" dirty="0" smtClean="0"/>
              <a:t>Data </a:t>
            </a:r>
            <a:r>
              <a:rPr lang="en-US" sz="2800" dirty="0"/>
              <a:t>is saved permanently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Easy </a:t>
            </a:r>
            <a:r>
              <a:rPr lang="en-US" sz="2800" dirty="0"/>
              <a:t>to store and retrieve information.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889344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690B87-1450-BA19-803D-DB5B813FFE54}"/>
              </a:ext>
            </a:extLst>
          </p:cNvPr>
          <p:cNvSpPr/>
          <p:nvPr/>
        </p:nvSpPr>
        <p:spPr>
          <a:xfrm>
            <a:off x="1242617" y="2430049"/>
            <a:ext cx="7989065" cy="17458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FF0000"/>
                </a:solidFill>
              </a:rPr>
              <a:t>file</a:t>
            </a:r>
            <a:r>
              <a:rPr lang="en-US" sz="2800" b="1" dirty="0"/>
              <a:t> = open("students.txt", "r")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4FB870-6B5F-BCFC-FE68-5F08948E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277391"/>
            <a:ext cx="10515600" cy="1421928"/>
          </a:xfrm>
        </p:spPr>
        <p:txBody>
          <a:bodyPr/>
          <a:lstStyle/>
          <a:p>
            <a:r>
              <a:rPr lang="en-US" sz="4800" dirty="0" smtClean="0"/>
              <a:t> </a:t>
            </a:r>
            <a:r>
              <a:rPr lang="en-US" sz="4800" dirty="0"/>
              <a:t>Opening a File</a:t>
            </a:r>
            <a:r>
              <a:rPr lang="ar-EG" sz="4800" dirty="0"/>
              <a:t/>
            </a:r>
            <a:br>
              <a:rPr lang="ar-EG" sz="4800" dirty="0"/>
            </a:br>
            <a:endParaRPr lang="en-EG" sz="48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92713" y="4482159"/>
            <a:ext cx="3153427" cy="16927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/>
              <a:t>Parameters</a:t>
            </a:r>
            <a:r>
              <a:rPr lang="en-US" sz="4000" b="1" dirty="0" smtClean="0"/>
              <a:t>:</a:t>
            </a:r>
          </a:p>
          <a:p>
            <a:r>
              <a:rPr lang="en-US" sz="3200" dirty="0" smtClean="0"/>
              <a:t>File Name</a:t>
            </a:r>
          </a:p>
          <a:p>
            <a:r>
              <a:rPr lang="en-US" sz="3200" dirty="0" smtClean="0"/>
              <a:t>Mode</a:t>
            </a:r>
            <a:endParaRPr lang="ar-EG" sz="3200" dirty="0"/>
          </a:p>
        </p:txBody>
      </p:sp>
    </p:spTree>
    <p:extLst>
      <p:ext uri="{BB962C8B-B14F-4D97-AF65-F5344CB8AC3E}">
        <p14:creationId xmlns:p14="http://schemas.microsoft.com/office/powerpoint/2010/main" val="1492202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7AD466-D315-1A54-59BE-E0E6B059E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0" y="1638573"/>
            <a:ext cx="3929484" cy="701731"/>
          </a:xfrm>
        </p:spPr>
        <p:txBody>
          <a:bodyPr/>
          <a:lstStyle/>
          <a:p>
            <a:r>
              <a:rPr lang="en-US" sz="4400" dirty="0"/>
              <a:t>File Modes</a:t>
            </a:r>
            <a:endParaRPr lang="en-EG" sz="4400" dirty="0"/>
          </a:p>
        </p:txBody>
      </p:sp>
      <p:sp>
        <p:nvSpPr>
          <p:cNvPr id="4" name="Rectangle 3"/>
          <p:cNvSpPr/>
          <p:nvPr/>
        </p:nvSpPr>
        <p:spPr>
          <a:xfrm>
            <a:off x="1995813" y="2562937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ar-EG" sz="2800" dirty="0">
              <a:solidFill>
                <a:srgbClr val="065B94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813" y="2562937"/>
            <a:ext cx="7663424" cy="338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386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28D2C7-CEEA-6779-FA0E-43D3652E7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444868"/>
            <a:ext cx="4886418" cy="590931"/>
          </a:xfrm>
        </p:spPr>
        <p:txBody>
          <a:bodyPr/>
          <a:lstStyle/>
          <a:p>
            <a:r>
              <a:rPr lang="en-US" sz="3600" dirty="0"/>
              <a:t>Reading a File</a:t>
            </a:r>
            <a:endParaRPr lang="en-EG" sz="3600" dirty="0"/>
          </a:p>
        </p:txBody>
      </p:sp>
      <p:sp>
        <p:nvSpPr>
          <p:cNvPr id="2" name="Rectangle 1"/>
          <p:cNvSpPr/>
          <p:nvPr/>
        </p:nvSpPr>
        <p:spPr>
          <a:xfrm>
            <a:off x="1081413" y="2272658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065B94"/>
                </a:solidFill>
              </a:rPr>
              <a:t>file = open("students.txt", "r")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r>
              <a:rPr lang="en-US" sz="2400" dirty="0">
                <a:solidFill>
                  <a:srgbClr val="065B94"/>
                </a:solidFill>
              </a:rPr>
              <a:t>print(</a:t>
            </a:r>
            <a:r>
              <a:rPr lang="en-US" sz="2400" dirty="0" err="1">
                <a:solidFill>
                  <a:srgbClr val="065B94"/>
                </a:solidFill>
              </a:rPr>
              <a:t>file.</a:t>
            </a:r>
            <a:r>
              <a:rPr lang="en-US" sz="2400" b="1" dirty="0" err="1">
                <a:solidFill>
                  <a:srgbClr val="FF0000"/>
                </a:solidFill>
              </a:rPr>
              <a:t>read</a:t>
            </a:r>
            <a:r>
              <a:rPr lang="en-US" sz="2400" b="1" dirty="0">
                <a:solidFill>
                  <a:srgbClr val="FF0000"/>
                </a:solidFill>
              </a:rPr>
              <a:t>()</a:t>
            </a:r>
            <a:r>
              <a:rPr lang="en-US" sz="2400" dirty="0">
                <a:solidFill>
                  <a:srgbClr val="065B94"/>
                </a:solidFill>
              </a:rPr>
              <a:t>)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r>
              <a:rPr lang="en-US" sz="2400" dirty="0" err="1">
                <a:solidFill>
                  <a:srgbClr val="065B94"/>
                </a:solidFill>
              </a:rPr>
              <a:t>file.close</a:t>
            </a:r>
            <a:r>
              <a:rPr lang="en-US" sz="2400" dirty="0">
                <a:solidFill>
                  <a:srgbClr val="065B94"/>
                </a:solidFill>
              </a:rPr>
              <a:t>()</a:t>
            </a:r>
            <a:endParaRPr lang="ar-EG" sz="2400" dirty="0">
              <a:solidFill>
                <a:srgbClr val="065B94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62612" y="4211650"/>
            <a:ext cx="14670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/>
              <a:t>read()</a:t>
            </a:r>
            <a:endParaRPr lang="ar-EG" sz="3600" b="1" dirty="0"/>
          </a:p>
        </p:txBody>
      </p:sp>
      <p:sp>
        <p:nvSpPr>
          <p:cNvPr id="5" name="Rectangle 4"/>
          <p:cNvSpPr/>
          <p:nvPr/>
        </p:nvSpPr>
        <p:spPr>
          <a:xfrm>
            <a:off x="1081414" y="5001504"/>
            <a:ext cx="2598788" cy="10464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Reads the entire </a:t>
            </a:r>
            <a:r>
              <a:rPr lang="en-US" sz="2000" dirty="0" smtClean="0"/>
              <a:t>file 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sz="2400" b="1" dirty="0" smtClean="0"/>
              <a:t>Example</a:t>
            </a:r>
            <a:endParaRPr lang="ar-EG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5756191" y="5524724"/>
            <a:ext cx="28424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65B94"/>
                </a:solidFill>
              </a:rPr>
              <a:t>print(</a:t>
            </a:r>
            <a:r>
              <a:rPr lang="en-US" sz="2800" b="1" dirty="0" err="1">
                <a:solidFill>
                  <a:srgbClr val="065B94"/>
                </a:solidFill>
              </a:rPr>
              <a:t>file.read</a:t>
            </a:r>
            <a:r>
              <a:rPr lang="en-US" sz="2800" b="1" dirty="0">
                <a:solidFill>
                  <a:srgbClr val="065B94"/>
                </a:solidFill>
              </a:rPr>
              <a:t>())</a:t>
            </a:r>
            <a:endParaRPr lang="ar-EG" sz="2800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92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95993" y="3091324"/>
            <a:ext cx="3658179" cy="1006429"/>
          </a:xfrm>
        </p:spPr>
        <p:txBody>
          <a:bodyPr/>
          <a:lstStyle/>
          <a:p>
            <a:r>
              <a:rPr lang="en-US" sz="6600" dirty="0" smtClean="0">
                <a:solidFill>
                  <a:srgbClr val="065B94"/>
                </a:solidFill>
              </a:rPr>
              <a:t>Break</a:t>
            </a:r>
            <a:endParaRPr lang="ar-EG" sz="66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408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64087" y="1080030"/>
            <a:ext cx="303159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3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readline</a:t>
            </a:r>
            <a:r>
              <a:rPr kumimoji="0" lang="ar-EG" altLang="ar-E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3200" b="0" i="0" u="none" strike="noStrike" cap="none" normalizeH="0" baseline="0" dirty="0" err="1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Reads</a:t>
            </a:r>
            <a:r>
              <a:rPr kumimoji="0" lang="ar-EG" altLang="ar-EG" sz="3200" b="0" i="0" u="none" strike="noStrike" cap="none" normalizeH="0" baseline="0" dirty="0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3200" b="0" i="0" u="none" strike="noStrike" cap="none" normalizeH="0" baseline="0" dirty="0" err="1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one</a:t>
            </a:r>
            <a:r>
              <a:rPr kumimoji="0" lang="ar-EG" altLang="ar-EG" sz="3200" b="0" i="0" u="none" strike="noStrike" cap="none" normalizeH="0" baseline="0" dirty="0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3200" b="0" i="0" u="none" strike="noStrike" cap="none" normalizeH="0" baseline="0" dirty="0" err="1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line</a:t>
            </a:r>
            <a:r>
              <a:rPr kumimoji="0" lang="ar-EG" altLang="ar-EG" sz="3200" b="0" i="0" u="none" strike="noStrike" cap="none" normalizeH="0" baseline="0" dirty="0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ar-EG" altLang="ar-EG" sz="3200" b="0" i="0" u="none" strike="noStrike" cap="none" normalizeH="0" baseline="0" dirty="0" smtClean="0">
              <a:ln>
                <a:noFill/>
              </a:ln>
              <a:solidFill>
                <a:srgbClr val="065B94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4087" y="2736405"/>
            <a:ext cx="36215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 err="1"/>
              <a:t>print</a:t>
            </a:r>
            <a:r>
              <a:rPr lang="ar-EG" sz="3200" dirty="0"/>
              <a:t>(</a:t>
            </a:r>
            <a:r>
              <a:rPr lang="ar-EG" sz="3200" dirty="0" err="1"/>
              <a:t>file.readline</a:t>
            </a:r>
            <a:r>
              <a:rPr lang="ar-EG" sz="3200" dirty="0"/>
              <a:t>())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4087" y="3608944"/>
            <a:ext cx="408156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/>
              <a:t>readlines</a:t>
            </a:r>
            <a:r>
              <a:rPr lang="en-US" sz="3600" b="1" dirty="0" smtClean="0"/>
              <a:t>()</a:t>
            </a:r>
          </a:p>
          <a:p>
            <a:r>
              <a:rPr lang="en-US" sz="2800" dirty="0" smtClean="0">
                <a:solidFill>
                  <a:srgbClr val="065B94"/>
                </a:solidFill>
              </a:rPr>
              <a:t>Returns </a:t>
            </a:r>
            <a:r>
              <a:rPr lang="en-US" sz="2800" dirty="0">
                <a:solidFill>
                  <a:srgbClr val="065B94"/>
                </a:solidFill>
              </a:rPr>
              <a:t>a list of all lines.</a:t>
            </a:r>
            <a:endParaRPr lang="ar-EG" sz="2800" dirty="0">
              <a:solidFill>
                <a:srgbClr val="065B94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94147" y="4912371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/>
              <a:t>lines = </a:t>
            </a:r>
            <a:r>
              <a:rPr lang="en-US" sz="3200" dirty="0" err="1"/>
              <a:t>file.readlines</a:t>
            </a:r>
            <a:r>
              <a:rPr lang="en-US" sz="3200" dirty="0" smtClean="0"/>
              <a:t>()</a:t>
            </a:r>
            <a:endParaRPr lang="en-US" sz="3200" dirty="0"/>
          </a:p>
          <a:p>
            <a:r>
              <a:rPr lang="en-US" sz="3200" dirty="0"/>
              <a:t>print(lines)</a:t>
            </a:r>
            <a:endParaRPr lang="ar-EG" sz="3200" dirty="0"/>
          </a:p>
        </p:txBody>
      </p:sp>
    </p:spTree>
    <p:extLst>
      <p:ext uri="{BB962C8B-B14F-4D97-AF65-F5344CB8AC3E}">
        <p14:creationId xmlns:p14="http://schemas.microsoft.com/office/powerpoint/2010/main" val="3172006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A3D099-E932-301A-BF46-FD04B70C5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30" y="1240253"/>
            <a:ext cx="4441950" cy="701731"/>
          </a:xfrm>
        </p:spPr>
        <p:txBody>
          <a:bodyPr/>
          <a:lstStyle/>
          <a:p>
            <a:r>
              <a:rPr lang="en-US" sz="4400" dirty="0"/>
              <a:t>Closing Files</a:t>
            </a:r>
            <a:endParaRPr lang="en-EG" sz="4400" dirty="0"/>
          </a:p>
        </p:txBody>
      </p:sp>
      <p:sp>
        <p:nvSpPr>
          <p:cNvPr id="5" name="Rectangle 4"/>
          <p:cNvSpPr/>
          <p:nvPr/>
        </p:nvSpPr>
        <p:spPr>
          <a:xfrm>
            <a:off x="868470" y="1941984"/>
            <a:ext cx="75114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65B94"/>
                </a:solidFill>
              </a:rPr>
              <a:t>Always close files after using them.</a:t>
            </a:r>
            <a:endParaRPr lang="ar-EG" sz="3600" dirty="0">
              <a:solidFill>
                <a:srgbClr val="065B94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600437" y="2775769"/>
            <a:ext cx="27238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err="1">
                <a:solidFill>
                  <a:srgbClr val="C00000"/>
                </a:solidFill>
              </a:rPr>
              <a:t>file.close</a:t>
            </a:r>
            <a:r>
              <a:rPr lang="en-US" sz="4000" b="1" dirty="0">
                <a:solidFill>
                  <a:srgbClr val="C00000"/>
                </a:solidFill>
              </a:rPr>
              <a:t>()</a:t>
            </a:r>
            <a:endParaRPr lang="ar-EG" sz="4000" b="1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9830" y="3532433"/>
            <a:ext cx="36388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/>
              <a:t>Writing to a File</a:t>
            </a:r>
            <a:endParaRPr lang="ar-EG" sz="3600" b="1" dirty="0"/>
          </a:p>
        </p:txBody>
      </p:sp>
      <p:sp>
        <p:nvSpPr>
          <p:cNvPr id="6" name="Rectangle 5"/>
          <p:cNvSpPr/>
          <p:nvPr/>
        </p:nvSpPr>
        <p:spPr>
          <a:xfrm>
            <a:off x="1933780" y="4569240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file = open("students.txt", "w")</a:t>
            </a:r>
          </a:p>
          <a:p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 err="1">
                <a:solidFill>
                  <a:srgbClr val="C00000"/>
                </a:solidFill>
              </a:rPr>
              <a:t>file.write</a:t>
            </a:r>
            <a:r>
              <a:rPr lang="en-US" sz="2000" b="1" dirty="0">
                <a:solidFill>
                  <a:srgbClr val="C00000"/>
                </a:solidFill>
              </a:rPr>
              <a:t>("Ahmed")</a:t>
            </a:r>
          </a:p>
          <a:p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 err="1">
                <a:solidFill>
                  <a:srgbClr val="C00000"/>
                </a:solidFill>
              </a:rPr>
              <a:t>file.close</a:t>
            </a:r>
            <a:r>
              <a:rPr lang="en-US" sz="2000" b="1" dirty="0">
                <a:solidFill>
                  <a:srgbClr val="C00000"/>
                </a:solidFill>
              </a:rPr>
              <a:t>()</a:t>
            </a:r>
            <a:endParaRPr lang="ar-EG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023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3307BB-0D80-ECE3-B4AA-C80615F23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71522"/>
            <a:ext cx="10515600" cy="590931"/>
          </a:xfrm>
        </p:spPr>
        <p:txBody>
          <a:bodyPr/>
          <a:lstStyle/>
          <a:p>
            <a:r>
              <a:rPr lang="en-US" sz="3600" dirty="0"/>
              <a:t>Appending Data</a:t>
            </a:r>
            <a:endParaRPr lang="en-EG" sz="3600" dirty="0"/>
          </a:p>
        </p:txBody>
      </p:sp>
      <p:sp>
        <p:nvSpPr>
          <p:cNvPr id="2" name="Rectangle 1"/>
          <p:cNvSpPr/>
          <p:nvPr/>
        </p:nvSpPr>
        <p:spPr>
          <a:xfrm>
            <a:off x="1219200" y="2327081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ar-EG" sz="2000" b="1" dirty="0" err="1">
                <a:solidFill>
                  <a:srgbClr val="C00000"/>
                </a:solidFill>
              </a:rPr>
              <a:t>file</a:t>
            </a:r>
            <a:r>
              <a:rPr lang="ar-EG" sz="2000" b="1" dirty="0">
                <a:solidFill>
                  <a:srgbClr val="C00000"/>
                </a:solidFill>
              </a:rPr>
              <a:t> = </a:t>
            </a:r>
            <a:r>
              <a:rPr lang="ar-EG" sz="2000" b="1" dirty="0" err="1">
                <a:solidFill>
                  <a:srgbClr val="C00000"/>
                </a:solidFill>
              </a:rPr>
              <a:t>open</a:t>
            </a:r>
            <a:r>
              <a:rPr lang="ar-EG" sz="2000" b="1" dirty="0">
                <a:solidFill>
                  <a:srgbClr val="C00000"/>
                </a:solidFill>
              </a:rPr>
              <a:t>("students.txt", "a")</a:t>
            </a:r>
          </a:p>
          <a:p>
            <a:endParaRPr lang="ar-EG" sz="2000" b="1" dirty="0">
              <a:solidFill>
                <a:srgbClr val="C00000"/>
              </a:solidFill>
            </a:endParaRPr>
          </a:p>
          <a:p>
            <a:r>
              <a:rPr lang="ar-EG" sz="2000" b="1" dirty="0" err="1">
                <a:solidFill>
                  <a:srgbClr val="C00000"/>
                </a:solidFill>
              </a:rPr>
              <a:t>file.write</a:t>
            </a:r>
            <a:r>
              <a:rPr lang="ar-EG" sz="2000" b="1" dirty="0">
                <a:solidFill>
                  <a:srgbClr val="C00000"/>
                </a:solidFill>
              </a:rPr>
              <a:t>("\</a:t>
            </a:r>
            <a:r>
              <a:rPr lang="ar-EG" sz="2000" b="1" dirty="0" err="1">
                <a:solidFill>
                  <a:srgbClr val="C00000"/>
                </a:solidFill>
              </a:rPr>
              <a:t>nSara</a:t>
            </a:r>
            <a:r>
              <a:rPr lang="ar-EG" sz="2000" b="1" dirty="0">
                <a:solidFill>
                  <a:srgbClr val="C00000"/>
                </a:solidFill>
              </a:rPr>
              <a:t>")</a:t>
            </a:r>
          </a:p>
          <a:p>
            <a:endParaRPr lang="ar-EG" sz="2000" b="1" dirty="0">
              <a:solidFill>
                <a:srgbClr val="C00000"/>
              </a:solidFill>
            </a:endParaRPr>
          </a:p>
          <a:p>
            <a:r>
              <a:rPr lang="ar-EG" sz="2000" b="1" dirty="0" err="1">
                <a:solidFill>
                  <a:srgbClr val="C00000"/>
                </a:solidFill>
              </a:rPr>
              <a:t>file.close</a:t>
            </a:r>
            <a:r>
              <a:rPr lang="ar-EG" sz="2000" b="1" dirty="0">
                <a:solidFill>
                  <a:srgbClr val="C00000"/>
                </a:solidFill>
              </a:rPr>
              <a:t>()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5161934" y="2799715"/>
            <a:ext cx="609333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“A</a:t>
            </a: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</a:t>
            </a: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EG" altLang="ar-EG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adds</a:t>
            </a: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EG" altLang="ar-EG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data</a:t>
            </a: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EG" altLang="ar-EG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without</a:t>
            </a: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EG" altLang="ar-EG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deleting</a:t>
            </a: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EG" altLang="ar-EG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existing</a:t>
            </a: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EG" altLang="ar-EG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content</a:t>
            </a: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ar-EG" altLang="ar-EG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2564" y="4030537"/>
            <a:ext cx="43508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Using with Statement</a:t>
            </a:r>
            <a:endParaRPr lang="ar-EG" sz="3200" b="1" dirty="0"/>
          </a:p>
        </p:txBody>
      </p:sp>
      <p:sp>
        <p:nvSpPr>
          <p:cNvPr id="9" name="Rectangle 8"/>
          <p:cNvSpPr/>
          <p:nvPr/>
        </p:nvSpPr>
        <p:spPr>
          <a:xfrm>
            <a:off x="1366406" y="4855534"/>
            <a:ext cx="4828566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Advantages</a:t>
            </a:r>
            <a:r>
              <a:rPr lang="en-US" sz="2400" b="1" dirty="0" smtClean="0">
                <a:solidFill>
                  <a:srgbClr val="C00000"/>
                </a:solidFill>
              </a:rPr>
              <a:t>:</a:t>
            </a:r>
          </a:p>
          <a:p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sz="2800" dirty="0" smtClean="0"/>
              <a:t>Automatically </a:t>
            </a:r>
            <a:r>
              <a:rPr lang="en-US" sz="2800" dirty="0"/>
              <a:t>closes the file</a:t>
            </a:r>
            <a:r>
              <a:rPr lang="en-US" sz="2800" dirty="0" smtClean="0"/>
              <a:t>.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Cleaner </a:t>
            </a:r>
            <a:r>
              <a:rPr lang="en-US" sz="2800" dirty="0"/>
              <a:t>code.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3127841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06BFE8-E69C-20E6-2B41-DB0B2F9F114E}"/>
              </a:ext>
            </a:extLst>
          </p:cNvPr>
          <p:cNvSpPr/>
          <p:nvPr/>
        </p:nvSpPr>
        <p:spPr>
          <a:xfrm>
            <a:off x="9104081" y="1072599"/>
            <a:ext cx="2121131" cy="4247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00678" y="1249379"/>
            <a:ext cx="5162127" cy="590931"/>
          </a:xfrm>
        </p:spPr>
        <p:txBody>
          <a:bodyPr/>
          <a:lstStyle/>
          <a:p>
            <a:r>
              <a:rPr lang="en-US" sz="3600" dirty="0"/>
              <a:t>File Exists?</a:t>
            </a:r>
            <a:endParaRPr lang="ar-EG" sz="3600" dirty="0"/>
          </a:p>
        </p:txBody>
      </p:sp>
      <p:sp>
        <p:nvSpPr>
          <p:cNvPr id="2" name="Rectangle 1"/>
          <p:cNvSpPr/>
          <p:nvPr/>
        </p:nvSpPr>
        <p:spPr>
          <a:xfrm>
            <a:off x="1244252" y="221577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import </a:t>
            </a:r>
            <a:r>
              <a:rPr lang="en-US" sz="2400" dirty="0" err="1">
                <a:solidFill>
                  <a:srgbClr val="C00000"/>
                </a:solidFill>
              </a:rPr>
              <a:t>os</a:t>
            </a:r>
            <a:endParaRPr lang="en-US" sz="2400" dirty="0">
              <a:solidFill>
                <a:srgbClr val="C00000"/>
              </a:solidFill>
            </a:endParaRP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print(</a:t>
            </a:r>
            <a:r>
              <a:rPr lang="en-US" sz="2400" dirty="0" err="1">
                <a:solidFill>
                  <a:srgbClr val="C00000"/>
                </a:solidFill>
              </a:rPr>
              <a:t>os.path.exists</a:t>
            </a:r>
            <a:r>
              <a:rPr lang="en-US" sz="2400" dirty="0">
                <a:solidFill>
                  <a:srgbClr val="C00000"/>
                </a:solidFill>
              </a:rPr>
              <a:t>("students.txt"))</a:t>
            </a:r>
            <a:endParaRPr lang="ar-EG" sz="2400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00678" y="3594373"/>
            <a:ext cx="18710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Example</a:t>
            </a:r>
            <a:endParaRPr lang="ar-EG" sz="3200" b="1" dirty="0"/>
          </a:p>
        </p:txBody>
      </p:sp>
      <p:sp>
        <p:nvSpPr>
          <p:cNvPr id="5" name="Rectangle 4"/>
          <p:cNvSpPr/>
          <p:nvPr/>
        </p:nvSpPr>
        <p:spPr>
          <a:xfrm>
            <a:off x="1244252" y="4408698"/>
            <a:ext cx="43941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Save student names into a file.</a:t>
            </a:r>
            <a:endParaRPr lang="ar-EG" sz="2400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46542" y="514880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/>
              <a:t>with open("students.txt", "w") as file:</a:t>
            </a:r>
          </a:p>
          <a:p>
            <a:r>
              <a:rPr lang="en-US" sz="2400" b="1" dirty="0"/>
              <a:t>    </a:t>
            </a:r>
            <a:r>
              <a:rPr lang="en-US" sz="2400" b="1" dirty="0" err="1"/>
              <a:t>file.write</a:t>
            </a:r>
            <a:r>
              <a:rPr lang="en-US" sz="2400" b="1" dirty="0"/>
              <a:t>("Ali\n")</a:t>
            </a:r>
          </a:p>
          <a:p>
            <a:r>
              <a:rPr lang="en-US" sz="2400" b="1" dirty="0"/>
              <a:t>    </a:t>
            </a:r>
            <a:r>
              <a:rPr lang="en-US" sz="2400" b="1" dirty="0" err="1"/>
              <a:t>file.write</a:t>
            </a:r>
            <a:r>
              <a:rPr lang="en-US" sz="2400" b="1" dirty="0"/>
              <a:t>("Sara\n")</a:t>
            </a:r>
            <a:endParaRPr lang="ar-EG" sz="2400" b="1" dirty="0"/>
          </a:p>
        </p:txBody>
      </p:sp>
    </p:spTree>
    <p:extLst>
      <p:ext uri="{BB962C8B-B14F-4D97-AF65-F5344CB8AC3E}">
        <p14:creationId xmlns:p14="http://schemas.microsoft.com/office/powerpoint/2010/main" val="2041797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1F4B58-F9D4-B6E3-E4BF-AABD1690E5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25000" lnSpcReduction="20000"/>
          </a:bodyPr>
          <a:lstStyle/>
          <a:p>
            <a:endParaRPr lang="en-US" b="1" dirty="0"/>
          </a:p>
          <a:p>
            <a:pPr marL="0" indent="0">
              <a:buNone/>
            </a:pPr>
            <a:r>
              <a:rPr lang="en-US" sz="12800" b="1" dirty="0">
                <a:solidFill>
                  <a:srgbClr val="065B94"/>
                </a:solidFill>
              </a:rPr>
              <a:t>Write programs to:</a:t>
            </a:r>
          </a:p>
          <a:p>
            <a:endParaRPr lang="en-US" dirty="0"/>
          </a:p>
          <a:p>
            <a:r>
              <a:rPr lang="en-US" sz="7400" b="1" dirty="0"/>
              <a:t>Create a text file. </a:t>
            </a:r>
          </a:p>
          <a:p>
            <a:r>
              <a:rPr lang="en-US" sz="7400" b="1" dirty="0"/>
              <a:t>Write names. </a:t>
            </a:r>
          </a:p>
          <a:p>
            <a:r>
              <a:rPr lang="en-US" sz="7400" b="1" dirty="0"/>
              <a:t>Read names. </a:t>
            </a:r>
          </a:p>
          <a:p>
            <a:r>
              <a:rPr lang="en-US" sz="7400" b="1" dirty="0"/>
              <a:t>Append data. </a:t>
            </a:r>
          </a:p>
          <a:p>
            <a:r>
              <a:rPr lang="en-US" sz="7400" b="1" dirty="0"/>
              <a:t>Count lines. </a:t>
            </a:r>
          </a:p>
          <a:p>
            <a:r>
              <a:rPr lang="en-US" sz="7400" b="1" dirty="0"/>
              <a:t>Count words. </a:t>
            </a:r>
          </a:p>
          <a:p>
            <a:r>
              <a:rPr lang="en-US" sz="7400" b="1" dirty="0"/>
              <a:t>Copy file content. </a:t>
            </a:r>
          </a:p>
          <a:p>
            <a:r>
              <a:rPr lang="en-US" sz="7400" b="1" dirty="0"/>
              <a:t>Display file content. </a:t>
            </a:r>
          </a:p>
          <a:p>
            <a:pPr marL="0" indent="0">
              <a:buNone/>
            </a:pPr>
            <a:endParaRPr lang="en-E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0553F9-89F1-3AD4-F39F-53C710BCE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Lab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048188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680138-96FD-B9CE-B75F-C5EFE67CAEEA}"/>
              </a:ext>
            </a:extLst>
          </p:cNvPr>
          <p:cNvSpPr/>
          <p:nvPr/>
        </p:nvSpPr>
        <p:spPr>
          <a:xfrm>
            <a:off x="2103886" y="1666987"/>
            <a:ext cx="7816727" cy="47536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Student File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Employee File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Product File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Count Characters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Count Words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Count Lines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Copy File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Append Data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Search for a Name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Mini Student Record System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2EDE95-A92E-98C9-467D-C7E587DF0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964" y="1131456"/>
            <a:ext cx="10515600" cy="535531"/>
          </a:xfrm>
        </p:spPr>
        <p:txBody>
          <a:bodyPr>
            <a:spAutoFit/>
          </a:bodyPr>
          <a:lstStyle/>
          <a:p>
            <a:r>
              <a:rPr lang="en-US" dirty="0" smtClean="0"/>
              <a:t>TASK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1840695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C19967-D6CF-BBB6-52B1-C5474B220E79}"/>
              </a:ext>
            </a:extLst>
          </p:cNvPr>
          <p:cNvSpPr/>
          <p:nvPr/>
        </p:nvSpPr>
        <p:spPr>
          <a:xfrm>
            <a:off x="3052537" y="2759501"/>
            <a:ext cx="5953677" cy="227511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smtClean="0"/>
              <a:t>Thank You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676350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TI Brand">
      <a:dk1>
        <a:srgbClr val="000000"/>
      </a:dk1>
      <a:lt1>
        <a:srgbClr val="FFFFFF"/>
      </a:lt1>
      <a:dk2>
        <a:srgbClr val="06588F"/>
      </a:dk2>
      <a:lt2>
        <a:srgbClr val="FFFFFF"/>
      </a:lt2>
      <a:accent1>
        <a:srgbClr val="0E639E"/>
      </a:accent1>
      <a:accent2>
        <a:srgbClr val="E9A713"/>
      </a:accent2>
      <a:accent3>
        <a:srgbClr val="EA7355"/>
      </a:accent3>
      <a:accent4>
        <a:srgbClr val="4FA9AC"/>
      </a:accent4>
      <a:accent5>
        <a:srgbClr val="43BCFF"/>
      </a:accent5>
      <a:accent6>
        <a:srgbClr val="6079C2"/>
      </a:accent6>
      <a:hlink>
        <a:srgbClr val="688CC1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TI &amp; ESE" id="{1E3C099D-4D26-3541-9A32-31697215961B}" vid="{7F984A55-E95C-A54B-B073-2F5FB430A0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788</TotalTime>
  <Words>462</Words>
  <Application>Microsoft Office PowerPoint</Application>
  <PresentationFormat>Widescreen</PresentationFormat>
  <Paragraphs>147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Unicode MS</vt:lpstr>
      <vt:lpstr>Segoe UI</vt:lpstr>
      <vt:lpstr>Poppins Medium</vt:lpstr>
      <vt:lpstr>Playfair Display</vt:lpstr>
      <vt:lpstr>Inter</vt:lpstr>
      <vt:lpstr>Calibri</vt:lpstr>
      <vt:lpstr>Wingdings</vt:lpstr>
      <vt:lpstr>Office Theme</vt:lpstr>
      <vt:lpstr>PowerPoint Presentation</vt:lpstr>
      <vt:lpstr>PowerPoint Presentation</vt:lpstr>
      <vt:lpstr>Learning Outcomes</vt:lpstr>
      <vt:lpstr>PowerPoint Presentation</vt:lpstr>
      <vt:lpstr> What is a File?</vt:lpstr>
      <vt:lpstr>PowerPoint Presentation</vt:lpstr>
      <vt:lpstr>Why Do We Use Files?</vt:lpstr>
      <vt:lpstr> Opening a File </vt:lpstr>
      <vt:lpstr>File Modes</vt:lpstr>
      <vt:lpstr>Reading a File</vt:lpstr>
      <vt:lpstr>Break</vt:lpstr>
      <vt:lpstr>PowerPoint Presentation</vt:lpstr>
      <vt:lpstr>Closing Files</vt:lpstr>
      <vt:lpstr>Appending Data</vt:lpstr>
      <vt:lpstr>File Exists?</vt:lpstr>
      <vt:lpstr>Hands-on Lab</vt:lpstr>
      <vt:lpstr>TASK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Sally Samir</dc:creator>
  <cp:lastModifiedBy>SM</cp:lastModifiedBy>
  <cp:revision>57</cp:revision>
  <dcterms:created xsi:type="dcterms:W3CDTF">2026-03-27T11:30:08Z</dcterms:created>
  <dcterms:modified xsi:type="dcterms:W3CDTF">2026-07-21T09:13:33Z</dcterms:modified>
</cp:coreProperties>
</file>