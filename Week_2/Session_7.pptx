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10" r:id="rId18"/>
    <p:sldId id="311" r:id="rId19"/>
    <p:sldId id="312" r:id="rId20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</p:embeddedFont>
    <p:embeddedFont>
      <p:font typeface="Segoe UI" panose="020B0502040204020203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91061" autoAdjust="0"/>
  </p:normalViewPr>
  <p:slideViewPr>
    <p:cSldViewPr snapToGrid="0">
      <p:cViewPr varScale="1">
        <p:scale>
          <a:sx n="77" d="100"/>
          <a:sy n="77" d="100"/>
        </p:scale>
        <p:origin x="552" y="90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5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23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22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0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9557" y="5223353"/>
            <a:ext cx="4373890" cy="95410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 smtClean="0">
                <a:solidFill>
                  <a:srgbClr val="065B94"/>
                </a:solidFill>
              </a:rPr>
              <a:t>Instructor : </a:t>
            </a:r>
            <a:r>
              <a:rPr lang="en-US" sz="2800" b="1" dirty="0" err="1" smtClean="0">
                <a:solidFill>
                  <a:srgbClr val="065B94"/>
                </a:solidFill>
              </a:rPr>
              <a:t>Doaa</a:t>
            </a:r>
            <a:r>
              <a:rPr lang="en-US" sz="2800" b="1" dirty="0" smtClean="0">
                <a:solidFill>
                  <a:srgbClr val="065B94"/>
                </a:solidFill>
              </a:rPr>
              <a:t> </a:t>
            </a:r>
            <a:r>
              <a:rPr lang="en-US" sz="2800" b="1" dirty="0" err="1" smtClean="0">
                <a:solidFill>
                  <a:srgbClr val="065B94"/>
                </a:solidFill>
              </a:rPr>
              <a:t>M.Taha</a:t>
            </a:r>
            <a:endParaRPr lang="en-US" sz="2800" b="1" dirty="0" smtClean="0">
              <a:solidFill>
                <a:srgbClr val="065B94"/>
              </a:solidFill>
            </a:endParaRPr>
          </a:p>
          <a:p>
            <a:r>
              <a:rPr lang="en-US" sz="2800" b="1" dirty="0" smtClean="0">
                <a:solidFill>
                  <a:srgbClr val="065B94"/>
                </a:solidFill>
              </a:rPr>
              <a:t>Data Analyst</a:t>
            </a:r>
            <a:endParaRPr lang="ar-EG" sz="28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286904" y="2157954"/>
            <a:ext cx="11700503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1560751" y="1735181"/>
            <a:ext cx="915280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/>
          </a:p>
          <a:p>
            <a:endParaRPr lang="en-US" sz="6000" b="1" dirty="0"/>
          </a:p>
          <a:p>
            <a:pPr algn="r"/>
            <a:r>
              <a:rPr lang="en-US" sz="6000" b="1" dirty="0">
                <a:solidFill>
                  <a:schemeClr val="bg1"/>
                </a:solidFill>
              </a:rPr>
              <a:t>Session </a:t>
            </a:r>
            <a:r>
              <a:rPr lang="en-US" sz="6000" b="1" dirty="0" smtClean="0">
                <a:solidFill>
                  <a:schemeClr val="bg1"/>
                </a:solidFill>
              </a:rPr>
              <a:t>7 : Dictionaries</a:t>
            </a:r>
            <a:endParaRPr lang="en-US" sz="6000" b="1" dirty="0">
              <a:solidFill>
                <a:schemeClr val="bg1"/>
              </a:solidFill>
            </a:endParaRPr>
          </a:p>
          <a:p>
            <a:endParaRPr lang="en-US" sz="6000" b="1" dirty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385" y="1358858"/>
            <a:ext cx="10515600" cy="646331"/>
          </a:xfrm>
        </p:spPr>
        <p:txBody>
          <a:bodyPr/>
          <a:lstStyle/>
          <a:p>
            <a:r>
              <a:rPr lang="en-US" sz="4000" dirty="0"/>
              <a:t>Learning Outcomes</a:t>
            </a:r>
            <a:endParaRPr lang="en-EG" sz="4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78136-80FD-6B50-54D6-A3954F50D64C}"/>
              </a:ext>
            </a:extLst>
          </p:cNvPr>
          <p:cNvSpPr txBox="1"/>
          <p:nvPr/>
        </p:nvSpPr>
        <p:spPr>
          <a:xfrm>
            <a:off x="5636694" y="2774756"/>
            <a:ext cx="553147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bg2"/>
                </a:solidFill>
                <a:latin typeface="+mj-lt"/>
                <a:cs typeface="Segoe UI" panose="020B0502040204020203" pitchFamily="34" charset="0"/>
              </a:rPr>
              <a:t>r</a:t>
            </a:r>
            <a:endParaRPr lang="en-US" sz="1600" dirty="0">
              <a:solidFill>
                <a:schemeClr val="bg2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037D3-AC89-8E5A-BCA6-061E80E19998}"/>
              </a:ext>
            </a:extLst>
          </p:cNvPr>
          <p:cNvSpPr txBox="1"/>
          <p:nvPr/>
        </p:nvSpPr>
        <p:spPr>
          <a:xfrm>
            <a:off x="1194005" y="1574427"/>
            <a:ext cx="10137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0">
                <a:solidFill>
                  <a:schemeClr val="tx2"/>
                </a:solidFill>
                <a:latin typeface="Playfair Display" pitchFamily="2" charset="0"/>
              </a:defRPr>
            </a:lvl1pPr>
          </a:lstStyle>
          <a:p>
            <a:endParaRPr lang="en-US" sz="3600" b="1" dirty="0"/>
          </a:p>
          <a:p>
            <a:endParaRPr lang="en-US" sz="3600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61975" y="1910871"/>
            <a:ext cx="994762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3200" b="1" dirty="0">
                <a:solidFill>
                  <a:srgbClr val="C00000"/>
                </a:solidFill>
              </a:rPr>
              <a:t>By the end of this session, you will be able to</a:t>
            </a:r>
            <a:r>
              <a:rPr lang="en-US" sz="3200" b="1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Define dictionaries.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Create dictionaries.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Access dictionary values.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Add, update, and delete items.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 dictionary methods.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Loop through dictionaries.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Solve problems using dictionaries. </a:t>
            </a:r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78634-F6B2-B5A9-441F-37C6B8A6B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5843" y="1316734"/>
            <a:ext cx="4074856" cy="590931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Review</a:t>
            </a:r>
            <a:endParaRPr lang="en-EG" sz="36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74213" y="1907665"/>
            <a:ext cx="31918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Quick Questions</a:t>
            </a:r>
            <a:endParaRPr lang="ar-EG" sz="3200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16481" y="2200052"/>
            <a:ext cx="946905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What is a List?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What is a Tuple?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What is a Set?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Which data structure removes duplicates?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Which one is immutable? </a:t>
            </a:r>
          </a:p>
        </p:txBody>
      </p:sp>
    </p:spTree>
    <p:extLst>
      <p:ext uri="{BB962C8B-B14F-4D97-AF65-F5344CB8AC3E}">
        <p14:creationId xmlns:p14="http://schemas.microsoft.com/office/powerpoint/2010/main" val="155627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What is a Dictionary?</a:t>
            </a:r>
            <a:endParaRPr lang="en-EG" sz="36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65336" y="1695626"/>
            <a:ext cx="5724837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360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ar-EG" altLang="ar-EG" sz="360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dictionary</a:t>
            </a:r>
            <a:r>
              <a:rPr kumimoji="0" lang="ar-EG" altLang="ar-EG" sz="360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360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stores</a:t>
            </a:r>
            <a:r>
              <a:rPr kumimoji="0" lang="ar-EG" altLang="ar-EG" sz="360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360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EG" altLang="ar-EG" sz="360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360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as</a:t>
            </a:r>
            <a:r>
              <a:rPr kumimoji="0" lang="ar-EG" altLang="ar-EG" sz="360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r-EG" altLang="ar-EG" sz="4000" b="1" i="0" u="none" strike="noStrike" cap="none" normalizeH="0" baseline="0" dirty="0" smtClean="0">
              <a:ln>
                <a:noFill/>
              </a:ln>
              <a:solidFill>
                <a:srgbClr val="065B94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4000" b="1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ar-EG" altLang="ar-EG" sz="4000" b="1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ar-EG" altLang="ar-EG" sz="4000" b="1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Value</a:t>
            </a:r>
            <a:endParaRPr kumimoji="0" lang="ar-EG" altLang="ar-EG" sz="4000" b="1" i="0" u="none" strike="noStrike" cap="none" normalizeH="0" baseline="0" dirty="0" smtClean="0">
              <a:ln>
                <a:noFill/>
              </a:ln>
              <a:solidFill>
                <a:srgbClr val="065B94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4000" b="1" i="0" u="none" strike="noStrike" cap="none" normalizeH="0" baseline="0" dirty="0" smtClean="0">
              <a:ln>
                <a:noFill/>
              </a:ln>
              <a:solidFill>
                <a:srgbClr val="065B94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endParaRPr kumimoji="0" lang="ar-EG" altLang="ar-EG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22115" y="4619503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student = {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   "name": "Ali",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   "age": 20,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   "grade": "A"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}</a:t>
            </a:r>
            <a:endParaRPr lang="ar-EG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31" y="1634569"/>
            <a:ext cx="10515600" cy="59093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Creating Dictionaries</a:t>
            </a:r>
            <a:endParaRPr lang="en-EG" sz="3600" dirty="0"/>
          </a:p>
        </p:txBody>
      </p:sp>
      <p:sp>
        <p:nvSpPr>
          <p:cNvPr id="5" name="Rectangle 4"/>
          <p:cNvSpPr/>
          <p:nvPr/>
        </p:nvSpPr>
        <p:spPr>
          <a:xfrm>
            <a:off x="1632559" y="282669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student = {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   "name": "Sara",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   "age": 22,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   "city": "Alex"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}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print(student)</a:t>
            </a:r>
            <a:endParaRPr lang="ar-EG" sz="24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83969" y="1579169"/>
            <a:ext cx="46604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/>
              <a:t>Accessing Values</a:t>
            </a:r>
            <a:endParaRPr lang="ar-EG" sz="3600" b="1" dirty="0"/>
          </a:p>
        </p:txBody>
      </p:sp>
      <p:sp>
        <p:nvSpPr>
          <p:cNvPr id="7" name="Rectangle 6"/>
          <p:cNvSpPr/>
          <p:nvPr/>
        </p:nvSpPr>
        <p:spPr>
          <a:xfrm>
            <a:off x="6680548" y="282669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student = {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   "name": "Ali",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   "age": 20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}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print(student["name"])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print(student["age"])</a:t>
            </a:r>
            <a:endParaRPr lang="ar-EG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1367878" y="2311012"/>
            <a:ext cx="4920188" cy="3255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student = {</a:t>
            </a:r>
          </a:p>
          <a:p>
            <a:r>
              <a:rPr lang="en-US" sz="2400" b="1" dirty="0"/>
              <a:t>    "name": "Ali"</a:t>
            </a:r>
          </a:p>
          <a:p>
            <a:r>
              <a:rPr lang="en-US" sz="2400" b="1" dirty="0"/>
              <a:t>}</a:t>
            </a:r>
          </a:p>
          <a:p>
            <a:endParaRPr lang="en-US" sz="2400" b="1" dirty="0"/>
          </a:p>
          <a:p>
            <a:r>
              <a:rPr lang="en-US" sz="2400" b="1" dirty="0"/>
              <a:t>print(</a:t>
            </a:r>
            <a:r>
              <a:rPr lang="en-US" sz="2400" b="1" dirty="0" err="1"/>
              <a:t>student.get</a:t>
            </a:r>
            <a:r>
              <a:rPr lang="en-US" sz="2400" b="1" dirty="0"/>
              <a:t>("name"))</a:t>
            </a:r>
          </a:p>
          <a:p>
            <a:r>
              <a:rPr lang="en-US" sz="2400" b="1" dirty="0"/>
              <a:t>print(</a:t>
            </a:r>
            <a:r>
              <a:rPr lang="en-US" sz="2400" b="1" dirty="0" err="1"/>
              <a:t>student.get</a:t>
            </a:r>
            <a:r>
              <a:rPr lang="en-US" sz="2400" b="1" dirty="0"/>
              <a:t>("age"))</a:t>
            </a:r>
            <a:endParaRPr lang="en-US" sz="24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Using get()</a:t>
            </a:r>
            <a:endParaRPr lang="en-EG" sz="3600" dirty="0"/>
          </a:p>
        </p:txBody>
      </p:sp>
      <p:sp>
        <p:nvSpPr>
          <p:cNvPr id="4" name="Rectangle 3"/>
          <p:cNvSpPr/>
          <p:nvPr/>
        </p:nvSpPr>
        <p:spPr>
          <a:xfrm>
            <a:off x="7029335" y="3415424"/>
            <a:ext cx="4686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Why is get() safer than []?</a:t>
            </a:r>
            <a:endParaRPr lang="ar-EG" sz="2800" b="1" dirty="0"/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0" y="1693973"/>
            <a:ext cx="3929484" cy="590931"/>
          </a:xfrm>
        </p:spPr>
        <p:txBody>
          <a:bodyPr/>
          <a:lstStyle/>
          <a:p>
            <a:r>
              <a:rPr lang="en-US" sz="3600" dirty="0"/>
              <a:t>Updating Values</a:t>
            </a:r>
            <a:endParaRPr lang="en-EG" sz="3600" dirty="0"/>
          </a:p>
        </p:txBody>
      </p:sp>
      <p:sp>
        <p:nvSpPr>
          <p:cNvPr id="4" name="Rectangle 3"/>
          <p:cNvSpPr/>
          <p:nvPr/>
        </p:nvSpPr>
        <p:spPr>
          <a:xfrm>
            <a:off x="1995813" y="2562937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student = {</a:t>
            </a:r>
          </a:p>
          <a:p>
            <a:r>
              <a:rPr lang="en-US" sz="2800" dirty="0">
                <a:solidFill>
                  <a:srgbClr val="065B94"/>
                </a:solidFill>
              </a:rPr>
              <a:t>    "name": "Ali",</a:t>
            </a:r>
          </a:p>
          <a:p>
            <a:r>
              <a:rPr lang="en-US" sz="2800" dirty="0">
                <a:solidFill>
                  <a:srgbClr val="065B94"/>
                </a:solidFill>
              </a:rPr>
              <a:t>    "age": 20</a:t>
            </a:r>
          </a:p>
          <a:p>
            <a:r>
              <a:rPr lang="en-US" sz="2800" dirty="0">
                <a:solidFill>
                  <a:srgbClr val="065B94"/>
                </a:solidFill>
              </a:rPr>
              <a:t>}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>
                <a:solidFill>
                  <a:srgbClr val="065B94"/>
                </a:solidFill>
              </a:rPr>
              <a:t>student["age"] = 21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>
                <a:solidFill>
                  <a:srgbClr val="065B94"/>
                </a:solidFill>
              </a:rPr>
              <a:t>print(student)</a:t>
            </a:r>
            <a:endParaRPr lang="ar-EG" sz="28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783423"/>
            <a:ext cx="4886418" cy="590931"/>
          </a:xfrm>
        </p:spPr>
        <p:txBody>
          <a:bodyPr/>
          <a:lstStyle/>
          <a:p>
            <a:r>
              <a:rPr lang="en-US" sz="3600" dirty="0"/>
              <a:t>Adding New Items</a:t>
            </a:r>
            <a:endParaRPr lang="en-EG" sz="3600" dirty="0"/>
          </a:p>
        </p:txBody>
      </p:sp>
      <p:sp>
        <p:nvSpPr>
          <p:cNvPr id="6" name="Rectangle 5"/>
          <p:cNvSpPr/>
          <p:nvPr/>
        </p:nvSpPr>
        <p:spPr>
          <a:xfrm>
            <a:off x="2709797" y="2649906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65B94"/>
                </a:solidFill>
              </a:rPr>
              <a:t>student = {</a:t>
            </a:r>
          </a:p>
          <a:p>
            <a:r>
              <a:rPr lang="en-US" sz="2400" dirty="0">
                <a:solidFill>
                  <a:srgbClr val="065B94"/>
                </a:solidFill>
              </a:rPr>
              <a:t>    "name": "Ali"</a:t>
            </a:r>
          </a:p>
          <a:p>
            <a:r>
              <a:rPr lang="en-US" sz="2400" dirty="0">
                <a:solidFill>
                  <a:srgbClr val="065B94"/>
                </a:solidFill>
              </a:rPr>
              <a:t>}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student["grade"] = "A"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student["city"] = "Cairo"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print(student)</a:t>
            </a:r>
            <a:endParaRPr lang="ar-EG" sz="24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BE851-8669-DFBC-3FF1-F20DA06F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50" y="1326331"/>
            <a:ext cx="3839049" cy="590931"/>
          </a:xfrm>
        </p:spPr>
        <p:txBody>
          <a:bodyPr/>
          <a:lstStyle/>
          <a:p>
            <a:r>
              <a:rPr lang="en-US" sz="3600" dirty="0"/>
              <a:t>Removing Items</a:t>
            </a:r>
            <a:endParaRPr lang="en-EG" sz="3600" dirty="0"/>
          </a:p>
        </p:txBody>
      </p:sp>
      <p:sp>
        <p:nvSpPr>
          <p:cNvPr id="6" name="Rectangle 5"/>
          <p:cNvSpPr/>
          <p:nvPr/>
        </p:nvSpPr>
        <p:spPr>
          <a:xfrm>
            <a:off x="1855743" y="2368292"/>
            <a:ext cx="43685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rgbClr val="C00000"/>
                </a:solidFill>
              </a:rPr>
              <a:t>student.pop</a:t>
            </a:r>
            <a:r>
              <a:rPr lang="en-US" sz="3600" b="1" dirty="0">
                <a:solidFill>
                  <a:srgbClr val="C00000"/>
                </a:solidFill>
              </a:rPr>
              <a:t>("age")</a:t>
            </a:r>
            <a:endParaRPr lang="ar-EG" sz="3600" b="1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55743" y="3617327"/>
            <a:ext cx="41889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del student["city"]</a:t>
            </a:r>
            <a:endParaRPr lang="ar-EG" sz="3600" b="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55743" y="4741102"/>
            <a:ext cx="3365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rgbClr val="C00000"/>
                </a:solidFill>
              </a:rPr>
              <a:t>student.clear</a:t>
            </a:r>
            <a:r>
              <a:rPr lang="en-US" sz="3600" b="1" dirty="0">
                <a:solidFill>
                  <a:srgbClr val="C00000"/>
                </a:solidFill>
              </a:rPr>
              <a:t>()</a:t>
            </a:r>
            <a:endParaRPr lang="ar-EG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3D099-E932-301A-BF46-FD04B70C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553" y="1411035"/>
            <a:ext cx="4441950" cy="535531"/>
          </a:xfrm>
        </p:spPr>
        <p:txBody>
          <a:bodyPr/>
          <a:lstStyle/>
          <a:p>
            <a:r>
              <a:rPr lang="en-US" dirty="0"/>
              <a:t>Dictionary Methods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2935266" y="2690336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dirty="0" err="1">
                <a:solidFill>
                  <a:srgbClr val="C00000"/>
                </a:solidFill>
              </a:rPr>
              <a:t>student.keys</a:t>
            </a:r>
            <a:r>
              <a:rPr lang="en-US" sz="3600" dirty="0">
                <a:solidFill>
                  <a:srgbClr val="C00000"/>
                </a:solidFill>
              </a:rPr>
              <a:t>()</a:t>
            </a:r>
          </a:p>
          <a:p>
            <a:endParaRPr lang="en-US" sz="3600" dirty="0">
              <a:solidFill>
                <a:srgbClr val="C00000"/>
              </a:solidFill>
            </a:endParaRPr>
          </a:p>
          <a:p>
            <a:r>
              <a:rPr lang="en-US" sz="3600" dirty="0" err="1">
                <a:solidFill>
                  <a:srgbClr val="C00000"/>
                </a:solidFill>
              </a:rPr>
              <a:t>student.values</a:t>
            </a:r>
            <a:r>
              <a:rPr lang="en-US" sz="3600" dirty="0">
                <a:solidFill>
                  <a:srgbClr val="C00000"/>
                </a:solidFill>
              </a:rPr>
              <a:t>()</a:t>
            </a:r>
          </a:p>
          <a:p>
            <a:endParaRPr lang="en-US" sz="3600" dirty="0">
              <a:solidFill>
                <a:srgbClr val="C00000"/>
              </a:solidFill>
            </a:endParaRPr>
          </a:p>
          <a:p>
            <a:r>
              <a:rPr lang="en-US" sz="3600" dirty="0" err="1">
                <a:solidFill>
                  <a:srgbClr val="C00000"/>
                </a:solidFill>
              </a:rPr>
              <a:t>student.items</a:t>
            </a:r>
            <a:r>
              <a:rPr lang="en-US" sz="3600" dirty="0">
                <a:solidFill>
                  <a:srgbClr val="C00000"/>
                </a:solidFill>
              </a:rPr>
              <a:t>()</a:t>
            </a:r>
            <a:endParaRPr lang="ar-EG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3307BB-0D80-ECE3-B4AA-C80615F2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Loop Through Keys</a:t>
            </a:r>
            <a:endParaRPr lang="en-EG" sz="3600" dirty="0"/>
          </a:p>
        </p:txBody>
      </p:sp>
      <p:sp>
        <p:nvSpPr>
          <p:cNvPr id="4" name="Rectangle 3"/>
          <p:cNvSpPr/>
          <p:nvPr/>
        </p:nvSpPr>
        <p:spPr>
          <a:xfrm>
            <a:off x="1507298" y="2149578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65B94"/>
                </a:solidFill>
              </a:rPr>
              <a:t>student = {</a:t>
            </a:r>
          </a:p>
          <a:p>
            <a:r>
              <a:rPr lang="en-US" sz="2800" b="1" dirty="0">
                <a:solidFill>
                  <a:srgbClr val="065B94"/>
                </a:solidFill>
              </a:rPr>
              <a:t>    "</a:t>
            </a:r>
            <a:r>
              <a:rPr lang="en-US" sz="2800" b="1" dirty="0" err="1">
                <a:solidFill>
                  <a:srgbClr val="065B94"/>
                </a:solidFill>
              </a:rPr>
              <a:t>name":"Ali</a:t>
            </a:r>
            <a:r>
              <a:rPr lang="en-US" sz="2800" b="1" dirty="0">
                <a:solidFill>
                  <a:srgbClr val="065B94"/>
                </a:solidFill>
              </a:rPr>
              <a:t>",</a:t>
            </a:r>
          </a:p>
          <a:p>
            <a:r>
              <a:rPr lang="en-US" sz="2800" b="1" dirty="0">
                <a:solidFill>
                  <a:srgbClr val="065B94"/>
                </a:solidFill>
              </a:rPr>
              <a:t>    "age":20,</a:t>
            </a:r>
          </a:p>
          <a:p>
            <a:r>
              <a:rPr lang="en-US" sz="2800" b="1" dirty="0">
                <a:solidFill>
                  <a:srgbClr val="065B94"/>
                </a:solidFill>
              </a:rPr>
              <a:t>    "</a:t>
            </a:r>
            <a:r>
              <a:rPr lang="en-US" sz="2800" b="1" dirty="0" err="1">
                <a:solidFill>
                  <a:srgbClr val="065B94"/>
                </a:solidFill>
              </a:rPr>
              <a:t>grade":"A</a:t>
            </a:r>
            <a:r>
              <a:rPr lang="en-US" sz="2800" b="1" dirty="0">
                <a:solidFill>
                  <a:srgbClr val="065B94"/>
                </a:solidFill>
              </a:rPr>
              <a:t>"</a:t>
            </a:r>
          </a:p>
          <a:p>
            <a:r>
              <a:rPr lang="en-US" sz="2800" b="1" dirty="0">
                <a:solidFill>
                  <a:srgbClr val="065B94"/>
                </a:solidFill>
              </a:rPr>
              <a:t>}</a:t>
            </a:r>
          </a:p>
          <a:p>
            <a:endParaRPr lang="en-US" sz="2800" b="1" dirty="0">
              <a:solidFill>
                <a:srgbClr val="065B94"/>
              </a:solidFill>
            </a:endParaRPr>
          </a:p>
          <a:p>
            <a:r>
              <a:rPr lang="en-US" sz="2800" b="1" dirty="0">
                <a:solidFill>
                  <a:srgbClr val="065B94"/>
                </a:solidFill>
              </a:rPr>
              <a:t>for key in student:</a:t>
            </a:r>
          </a:p>
          <a:p>
            <a:r>
              <a:rPr lang="en-US" sz="2800" b="1" dirty="0">
                <a:solidFill>
                  <a:srgbClr val="065B94"/>
                </a:solidFill>
              </a:rPr>
              <a:t>    print(key)</a:t>
            </a:r>
            <a:endParaRPr lang="ar-EG" sz="2800" b="1" dirty="0">
              <a:solidFill>
                <a:srgbClr val="065B9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97405" y="1362288"/>
            <a:ext cx="50643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Loop Through Values</a:t>
            </a:r>
            <a:endParaRPr lang="ar-EG" sz="3600" b="1" dirty="0"/>
          </a:p>
        </p:txBody>
      </p:sp>
      <p:sp>
        <p:nvSpPr>
          <p:cNvPr id="6" name="Rectangle 5"/>
          <p:cNvSpPr/>
          <p:nvPr/>
        </p:nvSpPr>
        <p:spPr>
          <a:xfrm>
            <a:off x="7603298" y="327296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for value in </a:t>
            </a:r>
            <a:r>
              <a:rPr lang="en-US" sz="2400" b="1" dirty="0" err="1">
                <a:solidFill>
                  <a:srgbClr val="065B94"/>
                </a:solidFill>
              </a:rPr>
              <a:t>student.values</a:t>
            </a:r>
            <a:r>
              <a:rPr lang="en-US" sz="2400" b="1" dirty="0">
                <a:solidFill>
                  <a:srgbClr val="065B94"/>
                </a:solidFill>
              </a:rPr>
              <a:t>():</a:t>
            </a:r>
          </a:p>
          <a:p>
            <a:r>
              <a:rPr lang="en-US" sz="2400" b="1" dirty="0">
                <a:solidFill>
                  <a:srgbClr val="065B94"/>
                </a:solidFill>
              </a:rPr>
              <a:t>    print(value)</a:t>
            </a:r>
            <a:endParaRPr lang="ar-EG" sz="24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BFE8-E69C-20E6-2B41-DB0B2F9F114E}"/>
              </a:ext>
            </a:extLst>
          </p:cNvPr>
          <p:cNvSpPr/>
          <p:nvPr/>
        </p:nvSpPr>
        <p:spPr>
          <a:xfrm>
            <a:off x="9104081" y="1072599"/>
            <a:ext cx="2121131" cy="4247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00678" y="1249379"/>
            <a:ext cx="5162127" cy="590931"/>
          </a:xfrm>
        </p:spPr>
        <p:txBody>
          <a:bodyPr/>
          <a:lstStyle/>
          <a:p>
            <a:r>
              <a:rPr lang="en-US" sz="3600" dirty="0"/>
              <a:t>Loop Through Items</a:t>
            </a:r>
            <a:endParaRPr lang="ar-EG" sz="3600" dirty="0"/>
          </a:p>
        </p:txBody>
      </p:sp>
      <p:sp>
        <p:nvSpPr>
          <p:cNvPr id="8" name="Rectangle 7"/>
          <p:cNvSpPr/>
          <p:nvPr/>
        </p:nvSpPr>
        <p:spPr>
          <a:xfrm>
            <a:off x="1537443" y="2041123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65B94"/>
                </a:solidFill>
              </a:rPr>
              <a:t>for key, value in </a:t>
            </a:r>
            <a:r>
              <a:rPr lang="en-US" sz="2800" b="1" dirty="0" err="1">
                <a:solidFill>
                  <a:srgbClr val="065B94"/>
                </a:solidFill>
              </a:rPr>
              <a:t>student.items</a:t>
            </a:r>
            <a:r>
              <a:rPr lang="en-US" sz="2800" b="1" dirty="0">
                <a:solidFill>
                  <a:srgbClr val="065B94"/>
                </a:solidFill>
              </a:rPr>
              <a:t>():</a:t>
            </a:r>
          </a:p>
          <a:p>
            <a:r>
              <a:rPr lang="en-US" sz="2800" b="1" dirty="0">
                <a:solidFill>
                  <a:srgbClr val="065B94"/>
                </a:solidFill>
              </a:rPr>
              <a:t>    print(key, value)</a:t>
            </a:r>
            <a:endParaRPr lang="ar-EG" sz="2800" b="1" dirty="0">
              <a:solidFill>
                <a:srgbClr val="065B94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0678" y="3196043"/>
            <a:ext cx="36679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Nested Dictionary</a:t>
            </a:r>
            <a:endParaRPr lang="ar-EG" sz="3200" b="1" dirty="0"/>
          </a:p>
        </p:txBody>
      </p:sp>
      <p:sp>
        <p:nvSpPr>
          <p:cNvPr id="10" name="Rectangle 9"/>
          <p:cNvSpPr/>
          <p:nvPr/>
        </p:nvSpPr>
        <p:spPr>
          <a:xfrm>
            <a:off x="2272762" y="3888800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65B94"/>
                </a:solidFill>
              </a:rPr>
              <a:t>students = {</a:t>
            </a:r>
          </a:p>
          <a:p>
            <a:r>
              <a:rPr lang="en-US" b="1" dirty="0">
                <a:solidFill>
                  <a:srgbClr val="065B94"/>
                </a:solidFill>
              </a:rPr>
              <a:t>    1:{</a:t>
            </a:r>
          </a:p>
          <a:p>
            <a:r>
              <a:rPr lang="en-US" b="1" dirty="0">
                <a:solidFill>
                  <a:srgbClr val="065B94"/>
                </a:solidFill>
              </a:rPr>
              <a:t>        "</a:t>
            </a:r>
            <a:r>
              <a:rPr lang="en-US" b="1" dirty="0" err="1">
                <a:solidFill>
                  <a:srgbClr val="065B94"/>
                </a:solidFill>
              </a:rPr>
              <a:t>name":"Ali</a:t>
            </a:r>
            <a:r>
              <a:rPr lang="en-US" b="1" dirty="0">
                <a:solidFill>
                  <a:srgbClr val="065B94"/>
                </a:solidFill>
              </a:rPr>
              <a:t>",</a:t>
            </a:r>
          </a:p>
          <a:p>
            <a:r>
              <a:rPr lang="en-US" b="1" dirty="0">
                <a:solidFill>
                  <a:srgbClr val="065B94"/>
                </a:solidFill>
              </a:rPr>
              <a:t>        "</a:t>
            </a:r>
            <a:r>
              <a:rPr lang="en-US" b="1" dirty="0" err="1">
                <a:solidFill>
                  <a:srgbClr val="065B94"/>
                </a:solidFill>
              </a:rPr>
              <a:t>grade":"A</a:t>
            </a:r>
            <a:r>
              <a:rPr lang="en-US" b="1" dirty="0">
                <a:solidFill>
                  <a:srgbClr val="065B94"/>
                </a:solidFill>
              </a:rPr>
              <a:t>"</a:t>
            </a:r>
          </a:p>
          <a:p>
            <a:r>
              <a:rPr lang="en-US" b="1" dirty="0">
                <a:solidFill>
                  <a:srgbClr val="065B94"/>
                </a:solidFill>
              </a:rPr>
              <a:t>    },</a:t>
            </a:r>
          </a:p>
          <a:p>
            <a:r>
              <a:rPr lang="en-US" b="1" dirty="0">
                <a:solidFill>
                  <a:srgbClr val="065B94"/>
                </a:solidFill>
              </a:rPr>
              <a:t>    2:{</a:t>
            </a:r>
          </a:p>
          <a:p>
            <a:r>
              <a:rPr lang="en-US" b="1" dirty="0">
                <a:solidFill>
                  <a:srgbClr val="065B94"/>
                </a:solidFill>
              </a:rPr>
              <a:t>        "</a:t>
            </a:r>
            <a:r>
              <a:rPr lang="en-US" b="1" dirty="0" err="1">
                <a:solidFill>
                  <a:srgbClr val="065B94"/>
                </a:solidFill>
              </a:rPr>
              <a:t>name":"Sara</a:t>
            </a:r>
            <a:r>
              <a:rPr lang="en-US" b="1" dirty="0">
                <a:solidFill>
                  <a:srgbClr val="065B94"/>
                </a:solidFill>
              </a:rPr>
              <a:t>",</a:t>
            </a:r>
          </a:p>
          <a:p>
            <a:r>
              <a:rPr lang="en-US" b="1" dirty="0">
                <a:solidFill>
                  <a:srgbClr val="065B94"/>
                </a:solidFill>
              </a:rPr>
              <a:t>        "</a:t>
            </a:r>
            <a:r>
              <a:rPr lang="en-US" b="1" dirty="0" err="1">
                <a:solidFill>
                  <a:srgbClr val="065B94"/>
                </a:solidFill>
              </a:rPr>
              <a:t>grade":"B</a:t>
            </a:r>
            <a:r>
              <a:rPr lang="en-US" b="1" dirty="0">
                <a:solidFill>
                  <a:srgbClr val="065B94"/>
                </a:solidFill>
              </a:rPr>
              <a:t>"</a:t>
            </a:r>
          </a:p>
          <a:p>
            <a:r>
              <a:rPr lang="en-US" b="1" dirty="0">
                <a:solidFill>
                  <a:srgbClr val="065B94"/>
                </a:solidFill>
              </a:rPr>
              <a:t>    }</a:t>
            </a:r>
          </a:p>
          <a:p>
            <a:r>
              <a:rPr lang="en-US" b="1" dirty="0">
                <a:solidFill>
                  <a:srgbClr val="065B94"/>
                </a:solidFill>
              </a:rPr>
              <a:t>}</a:t>
            </a:r>
            <a:endParaRPr lang="ar-EG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797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016C7-CF03-F004-6EEF-46CD4567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/>
          <a:p>
            <a:r>
              <a:rPr lang="en-US" dirty="0"/>
              <a:t>Access Nested Dictionary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1394564" y="214061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65B94"/>
                </a:solidFill>
              </a:rPr>
              <a:t>print(students[1]["name"])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print(students[2]["grade"])</a:t>
            </a:r>
            <a:endParaRPr lang="ar-EG" sz="2400" dirty="0">
              <a:solidFill>
                <a:srgbClr val="065B9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2564" y="3546810"/>
            <a:ext cx="38202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Dictionary Inside List</a:t>
            </a:r>
            <a:endParaRPr lang="ar-EG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2562702" y="446760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65B94"/>
                </a:solidFill>
              </a:rPr>
              <a:t>students = [</a:t>
            </a:r>
          </a:p>
          <a:p>
            <a:endParaRPr lang="en-US" b="1" dirty="0">
              <a:solidFill>
                <a:srgbClr val="065B94"/>
              </a:solidFill>
            </a:endParaRPr>
          </a:p>
          <a:p>
            <a:r>
              <a:rPr lang="en-US" b="1" dirty="0">
                <a:solidFill>
                  <a:srgbClr val="065B94"/>
                </a:solidFill>
              </a:rPr>
              <a:t>{"name":"Ali","age":20},</a:t>
            </a:r>
          </a:p>
          <a:p>
            <a:endParaRPr lang="en-US" b="1" dirty="0">
              <a:solidFill>
                <a:srgbClr val="065B94"/>
              </a:solidFill>
            </a:endParaRPr>
          </a:p>
          <a:p>
            <a:r>
              <a:rPr lang="en-US" b="1" dirty="0">
                <a:solidFill>
                  <a:srgbClr val="065B94"/>
                </a:solidFill>
              </a:rPr>
              <a:t>{"name":"Sara","age":21}</a:t>
            </a:r>
          </a:p>
          <a:p>
            <a:endParaRPr lang="en-US" b="1" dirty="0">
              <a:solidFill>
                <a:srgbClr val="065B94"/>
              </a:solidFill>
            </a:endParaRPr>
          </a:p>
          <a:p>
            <a:r>
              <a:rPr lang="en-US" b="1" dirty="0">
                <a:solidFill>
                  <a:srgbClr val="065B94"/>
                </a:solidFill>
              </a:rPr>
              <a:t>]</a:t>
            </a:r>
            <a:endParaRPr lang="ar-EG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90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20E2A9-8CCD-DC8A-4B92-5AC934FE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914" y="1407590"/>
            <a:ext cx="6965738" cy="535531"/>
          </a:xfrm>
        </p:spPr>
        <p:txBody>
          <a:bodyPr wrap="square">
            <a:spAutoFit/>
          </a:bodyPr>
          <a:lstStyle/>
          <a:p>
            <a:r>
              <a:rPr lang="en-US" dirty="0"/>
              <a:t>Loop Through List of Dictionaries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1933183" y="2278403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65B94"/>
                </a:solidFill>
              </a:rPr>
              <a:t>for student in students:</a:t>
            </a:r>
          </a:p>
          <a:p>
            <a:endParaRPr lang="en-US" sz="2000" b="1" dirty="0">
              <a:solidFill>
                <a:srgbClr val="065B94"/>
              </a:solidFill>
            </a:endParaRPr>
          </a:p>
          <a:p>
            <a:r>
              <a:rPr lang="en-US" sz="2000" b="1" dirty="0">
                <a:solidFill>
                  <a:srgbClr val="065B94"/>
                </a:solidFill>
              </a:rPr>
              <a:t>    print(student["name"])</a:t>
            </a:r>
            <a:endParaRPr lang="ar-EG" sz="2000" b="1" dirty="0">
              <a:solidFill>
                <a:srgbClr val="065B9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23783" y="3981944"/>
            <a:ext cx="711959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Example</a:t>
            </a:r>
          </a:p>
          <a:p>
            <a:endParaRPr lang="en-US" dirty="0"/>
          </a:p>
          <a:p>
            <a:r>
              <a:rPr lang="en-US" sz="2000" b="1" dirty="0" smtClean="0">
                <a:solidFill>
                  <a:srgbClr val="065B94"/>
                </a:solidFill>
              </a:rPr>
              <a:t>Store </a:t>
            </a:r>
            <a:r>
              <a:rPr lang="en-US" sz="2000" b="1" dirty="0">
                <a:solidFill>
                  <a:srgbClr val="065B94"/>
                </a:solidFill>
              </a:rPr>
              <a:t>employee </a:t>
            </a:r>
            <a:r>
              <a:rPr lang="en-US" sz="2000" b="1" dirty="0" smtClean="0">
                <a:solidFill>
                  <a:srgbClr val="065B94"/>
                </a:solidFill>
              </a:rPr>
              <a:t>information.</a:t>
            </a:r>
          </a:p>
          <a:p>
            <a:r>
              <a:rPr lang="en-US" sz="2000" b="1" dirty="0" smtClean="0">
                <a:solidFill>
                  <a:srgbClr val="065B94"/>
                </a:solidFill>
              </a:rPr>
              <a:t>employee </a:t>
            </a:r>
            <a:r>
              <a:rPr lang="en-US" sz="2000" b="1" dirty="0">
                <a:solidFill>
                  <a:srgbClr val="065B94"/>
                </a:solidFill>
              </a:rPr>
              <a:t>= {"name":"Ahmed","salary":10000,"department":"IT</a:t>
            </a:r>
            <a:r>
              <a:rPr lang="en-US" sz="2000" b="1" dirty="0" smtClean="0">
                <a:solidFill>
                  <a:srgbClr val="065B94"/>
                </a:solidFill>
              </a:rPr>
              <a:t>"}</a:t>
            </a:r>
          </a:p>
          <a:p>
            <a:r>
              <a:rPr lang="en-US" sz="2000" b="1" dirty="0" smtClean="0">
                <a:solidFill>
                  <a:srgbClr val="065B94"/>
                </a:solidFill>
              </a:rPr>
              <a:t>Print </a:t>
            </a:r>
            <a:r>
              <a:rPr lang="en-US" sz="2000" b="1" dirty="0">
                <a:solidFill>
                  <a:srgbClr val="065B94"/>
                </a:solidFill>
              </a:rPr>
              <a:t>all information.</a:t>
            </a:r>
            <a:endParaRPr lang="ar-EG" sz="20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402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1F4B58-F9D4-B6E3-E4BF-AABD1690E5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55000" lnSpcReduction="20000"/>
          </a:bodyPr>
          <a:lstStyle/>
          <a:p>
            <a:endParaRPr lang="en-US" b="1" dirty="0"/>
          </a:p>
          <a:p>
            <a:pPr marL="0" indent="0">
              <a:buNone/>
            </a:pPr>
            <a:r>
              <a:rPr lang="en-US" sz="4400" b="1" dirty="0">
                <a:solidFill>
                  <a:srgbClr val="065B94"/>
                </a:solidFill>
              </a:rPr>
              <a:t>Write programs to:</a:t>
            </a:r>
          </a:p>
          <a:p>
            <a:r>
              <a:rPr lang="en-US" sz="3800" dirty="0"/>
              <a:t>Create a student dictionary. </a:t>
            </a:r>
          </a:p>
          <a:p>
            <a:r>
              <a:rPr lang="en-US" sz="3800" dirty="0"/>
              <a:t>Update age. </a:t>
            </a:r>
          </a:p>
          <a:p>
            <a:r>
              <a:rPr lang="en-US" sz="3800" dirty="0"/>
              <a:t>Add email. </a:t>
            </a:r>
          </a:p>
          <a:p>
            <a:r>
              <a:rPr lang="en-US" sz="3800" dirty="0"/>
              <a:t>Delete city. </a:t>
            </a:r>
          </a:p>
          <a:p>
            <a:r>
              <a:rPr lang="en-US" sz="3800" dirty="0"/>
              <a:t>Print keys. </a:t>
            </a:r>
          </a:p>
          <a:p>
            <a:r>
              <a:rPr lang="en-US" sz="3800" dirty="0"/>
              <a:t>Print values. </a:t>
            </a:r>
          </a:p>
          <a:p>
            <a:r>
              <a:rPr lang="en-US" sz="3800" dirty="0"/>
              <a:t>Print all items. </a:t>
            </a:r>
          </a:p>
          <a:p>
            <a:r>
              <a:rPr lang="en-US" sz="3800" dirty="0"/>
              <a:t>Count frequency of characters in a string. </a:t>
            </a:r>
          </a:p>
          <a:p>
            <a:pPr marL="0" indent="0">
              <a:buNone/>
            </a:pPr>
            <a:endParaRPr lang="en-E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553F9-89F1-3AD4-F39F-53C710BC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Lab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4818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C0C5A4-465E-96E5-8869-F21B6EA6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804393"/>
            <a:ext cx="3839049" cy="535531"/>
          </a:xfrm>
        </p:spPr>
        <p:txBody>
          <a:bodyPr/>
          <a:lstStyle/>
          <a:p>
            <a:r>
              <a:rPr lang="en-US" dirty="0"/>
              <a:t>Mini Project</a:t>
            </a:r>
            <a:endParaRPr lang="en-E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D087B3-9DAE-1644-EDFF-3642792E9F39}"/>
              </a:ext>
            </a:extLst>
          </p:cNvPr>
          <p:cNvSpPr/>
          <p:nvPr/>
        </p:nvSpPr>
        <p:spPr>
          <a:xfrm>
            <a:off x="2173721" y="2620996"/>
            <a:ext cx="8498454" cy="32771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atin typeface="Poppins Medium" pitchFamily="2" charset="77"/>
                <a:cs typeface="Poppins Medium" pitchFamily="2" charset="77"/>
              </a:rPr>
              <a:t>Functions</a:t>
            </a:r>
            <a:r>
              <a:rPr lang="en-US" sz="2800" b="1" dirty="0" smtClean="0">
                <a:latin typeface="Poppins Medium" pitchFamily="2" charset="77"/>
                <a:cs typeface="Poppins Medium" pitchFamily="2" charset="77"/>
              </a:rPr>
              <a:t>:</a:t>
            </a:r>
          </a:p>
          <a:p>
            <a:endParaRPr lang="en-US" sz="2800" b="1" dirty="0" smtClean="0">
              <a:latin typeface="Poppins Medium" pitchFamily="2" charset="77"/>
              <a:cs typeface="Poppins Medium" pitchFamily="2" charset="77"/>
            </a:endParaRPr>
          </a:p>
          <a:p>
            <a:r>
              <a:rPr lang="en-US" sz="2800" b="1" dirty="0" smtClean="0">
                <a:latin typeface="Poppins Medium" pitchFamily="2" charset="77"/>
                <a:cs typeface="Poppins Medium" pitchFamily="2" charset="77"/>
              </a:rPr>
              <a:t>Add Student</a:t>
            </a:r>
          </a:p>
          <a:p>
            <a:r>
              <a:rPr lang="en-US" sz="2800" b="1" dirty="0" smtClean="0">
                <a:latin typeface="Poppins Medium" pitchFamily="2" charset="77"/>
                <a:cs typeface="Poppins Medium" pitchFamily="2" charset="77"/>
              </a:rPr>
              <a:t>Search Student</a:t>
            </a:r>
          </a:p>
          <a:p>
            <a:r>
              <a:rPr lang="en-US" sz="2800" b="1" dirty="0" smtClean="0">
                <a:latin typeface="Poppins Medium" pitchFamily="2" charset="77"/>
                <a:cs typeface="Poppins Medium" pitchFamily="2" charset="77"/>
              </a:rPr>
              <a:t>Update Student</a:t>
            </a:r>
          </a:p>
          <a:p>
            <a:r>
              <a:rPr lang="en-US" sz="2800" b="1" dirty="0" smtClean="0">
                <a:latin typeface="Poppins Medium" pitchFamily="2" charset="77"/>
                <a:cs typeface="Poppins Medium" pitchFamily="2" charset="77"/>
              </a:rPr>
              <a:t>Delete Student</a:t>
            </a:r>
          </a:p>
          <a:p>
            <a:r>
              <a:rPr lang="en-US" sz="2800" b="1" dirty="0" smtClean="0">
                <a:latin typeface="Poppins Medium" pitchFamily="2" charset="77"/>
                <a:cs typeface="Poppins Medium" pitchFamily="2" charset="77"/>
              </a:rPr>
              <a:t>Display Students</a:t>
            </a:r>
          </a:p>
          <a:p>
            <a:endParaRPr lang="en-US" sz="1600" b="1" dirty="0">
              <a:solidFill>
                <a:schemeClr val="lt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6938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680138-96FD-B9CE-B75F-C5EFE67CAEEA}"/>
              </a:ext>
            </a:extLst>
          </p:cNvPr>
          <p:cNvSpPr/>
          <p:nvPr/>
        </p:nvSpPr>
        <p:spPr>
          <a:xfrm>
            <a:off x="1151909" y="2104339"/>
            <a:ext cx="7528628" cy="39833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Employee </a:t>
            </a:r>
            <a:r>
              <a:rPr lang="en-US" sz="2800" dirty="0" smtClean="0"/>
              <a:t>Dictionary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Product Dictionary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Phone Book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Frequency Counter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Word Counter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Student Management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Inventory System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Library </a:t>
            </a:r>
            <a:r>
              <a:rPr lang="en-US" sz="2800" dirty="0"/>
              <a:t>System</a:t>
            </a:r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2EDE95-A92E-98C9-467D-C7E587DF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/>
          <a:p>
            <a:r>
              <a:rPr lang="en-US" dirty="0" smtClean="0"/>
              <a:t>TASK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840695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C19967-D6CF-BBB6-52B1-C5474B220E79}"/>
              </a:ext>
            </a:extLst>
          </p:cNvPr>
          <p:cNvSpPr/>
          <p:nvPr/>
        </p:nvSpPr>
        <p:spPr>
          <a:xfrm>
            <a:off x="3052537" y="2759501"/>
            <a:ext cx="5953677" cy="227511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/>
              <a:t>Thank You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7635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</TotalTime>
  <Words>545</Words>
  <Application>Microsoft Office PowerPoint</Application>
  <PresentationFormat>Widescreen</PresentationFormat>
  <Paragraphs>178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Poppins Medium</vt:lpstr>
      <vt:lpstr>Calibri</vt:lpstr>
      <vt:lpstr>Playfair Display</vt:lpstr>
      <vt:lpstr>Inter</vt:lpstr>
      <vt:lpstr>Wingdings</vt:lpstr>
      <vt:lpstr>Arial</vt:lpstr>
      <vt:lpstr>Arial Unicode MS</vt:lpstr>
      <vt:lpstr>Segoe UI</vt:lpstr>
      <vt:lpstr>Office Theme</vt:lpstr>
      <vt:lpstr>PowerPoint Presentation</vt:lpstr>
      <vt:lpstr>PowerPoint Presentation</vt:lpstr>
      <vt:lpstr>Learning Outcomes</vt:lpstr>
      <vt:lpstr>PowerPoint Presentation</vt:lpstr>
      <vt:lpstr>What is a Dictionary?</vt:lpstr>
      <vt:lpstr>Creating Dictionaries</vt:lpstr>
      <vt:lpstr>Using get()</vt:lpstr>
      <vt:lpstr>Updating Values</vt:lpstr>
      <vt:lpstr>Adding New Items</vt:lpstr>
      <vt:lpstr>Removing Items</vt:lpstr>
      <vt:lpstr>Dictionary Methods</vt:lpstr>
      <vt:lpstr>Loop Through Keys</vt:lpstr>
      <vt:lpstr>Loop Through Items</vt:lpstr>
      <vt:lpstr>Access Nested Dictionary</vt:lpstr>
      <vt:lpstr>Loop Through List of Dictionaries</vt:lpstr>
      <vt:lpstr>Hands-on Lab</vt:lpstr>
      <vt:lpstr>Mini Project</vt:lpstr>
      <vt:lpstr>TASK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35</cp:revision>
  <dcterms:created xsi:type="dcterms:W3CDTF">2026-03-27T11:30:08Z</dcterms:created>
  <dcterms:modified xsi:type="dcterms:W3CDTF">2026-07-19T18:47:51Z</dcterms:modified>
</cp:coreProperties>
</file>