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13" r:id="rId11"/>
    <p:sldId id="302" r:id="rId12"/>
    <p:sldId id="303" r:id="rId13"/>
    <p:sldId id="304" r:id="rId14"/>
    <p:sldId id="312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373890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 smtClean="0">
                <a:solidFill>
                  <a:srgbClr val="065B94"/>
                </a:solidFill>
              </a:rPr>
              <a:t>Instructor : </a:t>
            </a:r>
            <a:r>
              <a:rPr lang="en-US" sz="2800" b="1" dirty="0" err="1" smtClean="0">
                <a:solidFill>
                  <a:srgbClr val="065B94"/>
                </a:solidFill>
              </a:rPr>
              <a:t>Doaa</a:t>
            </a:r>
            <a:r>
              <a:rPr lang="en-US" sz="2800" b="1" dirty="0" smtClean="0">
                <a:solidFill>
                  <a:srgbClr val="065B94"/>
                </a:solidFill>
              </a:rPr>
              <a:t> </a:t>
            </a:r>
            <a:r>
              <a:rPr lang="en-US" sz="2800" b="1" dirty="0" err="1" smtClean="0">
                <a:solidFill>
                  <a:srgbClr val="065B94"/>
                </a:solidFill>
              </a:rPr>
              <a:t>M.Taha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Data Analyst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261852" y="2095324"/>
            <a:ext cx="1170050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-701456" y="1810337"/>
            <a:ext cx="12200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  <a:p>
            <a:pPr algn="r"/>
            <a:r>
              <a:rPr lang="en-US" sz="6000" b="1" dirty="0">
                <a:solidFill>
                  <a:schemeClr val="bg1"/>
                </a:solidFill>
              </a:rPr>
              <a:t>Session 10</a:t>
            </a:r>
            <a:r>
              <a:rPr lang="en-US" sz="6000" dirty="0">
                <a:solidFill>
                  <a:schemeClr val="bg1"/>
                </a:solidFill>
              </a:rPr>
              <a:t>: </a:t>
            </a:r>
            <a:r>
              <a:rPr lang="en-US" sz="4800" dirty="0">
                <a:solidFill>
                  <a:schemeClr val="bg1"/>
                </a:solidFill>
              </a:rPr>
              <a:t>User Defined Modules</a:t>
            </a:r>
            <a:endParaRPr lang="en-US" sz="48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399884" y="2774756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Create their own Python modules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Import </a:t>
            </a:r>
            <a:r>
              <a:rPr lang="en-US" sz="2800" dirty="0"/>
              <a:t>modules in different ways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Use </a:t>
            </a:r>
            <a:r>
              <a:rPr lang="en-US" sz="2800" dirty="0"/>
              <a:t>aliases</a:t>
            </a:r>
            <a:r>
              <a:rPr lang="en-US" sz="2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Organize </a:t>
            </a:r>
            <a:r>
              <a:rPr lang="en-US" sz="2800" dirty="0"/>
              <a:t>code into multiple files.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843" y="1316734"/>
            <a:ext cx="4074856" cy="590931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Review</a:t>
            </a:r>
            <a:endParaRPr lang="en-EG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74213" y="1907665"/>
            <a:ext cx="31918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Quick Questions</a:t>
            </a:r>
            <a:endParaRPr lang="ar-EG" sz="3200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18112" y="2492440"/>
            <a:ext cx="4945585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What is a Built-in Module</a:t>
            </a:r>
            <a:r>
              <a:rPr lang="en-US" sz="3200" dirty="0" smtClean="0"/>
              <a:t>?</a:t>
            </a:r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ar-EG" sz="3200" dirty="0"/>
          </a:p>
        </p:txBody>
      </p:sp>
      <p:sp>
        <p:nvSpPr>
          <p:cNvPr id="3" name="Rectangle 2"/>
          <p:cNvSpPr/>
          <p:nvPr/>
        </p:nvSpPr>
        <p:spPr>
          <a:xfrm>
            <a:off x="1418112" y="3481236"/>
            <a:ext cx="85776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difference between math and random</a:t>
            </a:r>
            <a:r>
              <a:rPr lang="en-US" sz="2800" dirty="0" smtClean="0"/>
              <a:t>?</a:t>
            </a:r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Name </a:t>
            </a:r>
            <a:r>
              <a:rPr lang="en-US" sz="2800" dirty="0"/>
              <a:t>one function from each module.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What is a User-Defined Module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956154" y="2203962"/>
            <a:ext cx="1099785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A User-Defined Module is a Python file created by the programmer</a:t>
            </a:r>
            <a:r>
              <a:rPr lang="en-US" sz="2800" dirty="0" smtClean="0">
                <a:solidFill>
                  <a:srgbClr val="065B94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sz="2800" b="1" dirty="0" smtClean="0"/>
              <a:t>Example</a:t>
            </a:r>
            <a:r>
              <a:rPr lang="en-US" sz="2800" b="1" dirty="0"/>
              <a:t>:</a:t>
            </a:r>
            <a:endParaRPr lang="ar-EG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1141162" y="3712067"/>
            <a:ext cx="2184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calculator.py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9616" y="438349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065B94"/>
                </a:solidFill>
              </a:rPr>
              <a:t>def</a:t>
            </a:r>
            <a:r>
              <a:rPr lang="en-US" sz="2800" dirty="0">
                <a:solidFill>
                  <a:srgbClr val="065B94"/>
                </a:solidFill>
              </a:rPr>
              <a:t> add(</a:t>
            </a:r>
            <a:r>
              <a:rPr lang="en-US" sz="2800" dirty="0" err="1">
                <a:solidFill>
                  <a:srgbClr val="065B94"/>
                </a:solidFill>
              </a:rPr>
              <a:t>a,b</a:t>
            </a:r>
            <a:r>
              <a:rPr lang="en-US" sz="2800" dirty="0">
                <a:solidFill>
                  <a:srgbClr val="065B94"/>
                </a:solidFill>
              </a:rPr>
              <a:t>):</a:t>
            </a:r>
          </a:p>
          <a:p>
            <a:r>
              <a:rPr lang="en-US" sz="2800" dirty="0">
                <a:solidFill>
                  <a:srgbClr val="065B94"/>
                </a:solidFill>
              </a:rPr>
              <a:t>    return </a:t>
            </a:r>
            <a:r>
              <a:rPr lang="en-US" sz="2800" dirty="0" err="1">
                <a:solidFill>
                  <a:srgbClr val="065B94"/>
                </a:solidFill>
              </a:rPr>
              <a:t>a+b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564" y="5337597"/>
            <a:ext cx="102462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Instead of writing code repeatedly, we store it in a separate file.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8" y="1339103"/>
            <a:ext cx="10515600" cy="5909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Why Do We Use Modules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908132" y="1930034"/>
            <a:ext cx="915235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Reuse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Organize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Easier maintenance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Easier debugging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Team collaboration </a:t>
            </a: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dirty="0">
                <a:solidFill>
                  <a:srgbClr val="065B94"/>
                </a:solidFill>
              </a:rPr>
              <a:t>Imagine a project with 5000 lines of code in one file </a:t>
            </a:r>
            <a:endParaRPr lang="en-US" sz="2800" dirty="0" smtClean="0">
              <a:solidFill>
                <a:srgbClr val="065B94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Modules solve this problem.</a:t>
            </a: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37" y="1284053"/>
            <a:ext cx="10515600" cy="590931"/>
          </a:xfrm>
        </p:spPr>
        <p:txBody>
          <a:bodyPr/>
          <a:lstStyle/>
          <a:p>
            <a:r>
              <a:rPr lang="en-US" sz="3600" dirty="0"/>
              <a:t>Creating Files</a:t>
            </a:r>
            <a:endParaRPr lang="en-EG" sz="48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737" y="188507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%%</a:t>
            </a:r>
            <a:r>
              <a:rPr lang="en-US" sz="2800" dirty="0" err="1">
                <a:solidFill>
                  <a:srgbClr val="065B94"/>
                </a:solidFill>
              </a:rPr>
              <a:t>writefile</a:t>
            </a:r>
            <a:r>
              <a:rPr lang="en-US" sz="2800" dirty="0">
                <a:solidFill>
                  <a:srgbClr val="065B94"/>
                </a:solidFill>
              </a:rPr>
              <a:t> calculator.py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err="1">
                <a:solidFill>
                  <a:srgbClr val="065B94"/>
                </a:solidFill>
              </a:rPr>
              <a:t>def</a:t>
            </a:r>
            <a:r>
              <a:rPr lang="en-US" sz="2800" dirty="0">
                <a:solidFill>
                  <a:srgbClr val="065B94"/>
                </a:solidFill>
              </a:rPr>
              <a:t> add(</a:t>
            </a:r>
            <a:r>
              <a:rPr lang="en-US" sz="2800" dirty="0" err="1">
                <a:solidFill>
                  <a:srgbClr val="065B94"/>
                </a:solidFill>
              </a:rPr>
              <a:t>a,b</a:t>
            </a:r>
            <a:r>
              <a:rPr lang="en-US" sz="2800" dirty="0">
                <a:solidFill>
                  <a:srgbClr val="065B94"/>
                </a:solidFill>
              </a:rPr>
              <a:t>):</a:t>
            </a:r>
          </a:p>
          <a:p>
            <a:r>
              <a:rPr lang="en-US" sz="2800" dirty="0">
                <a:solidFill>
                  <a:srgbClr val="065B94"/>
                </a:solidFill>
              </a:rPr>
              <a:t>    return </a:t>
            </a:r>
            <a:r>
              <a:rPr lang="en-US" sz="2800" dirty="0" err="1">
                <a:solidFill>
                  <a:srgbClr val="065B94"/>
                </a:solidFill>
              </a:rPr>
              <a:t>a+b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737" y="3711044"/>
            <a:ext cx="3898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First Module Example</a:t>
            </a:r>
            <a:endParaRPr lang="ar-EG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2283912" y="439937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65B94"/>
                </a:solidFill>
              </a:rPr>
              <a:t>%%</a:t>
            </a:r>
            <a:r>
              <a:rPr lang="en-US" sz="2000" b="1" dirty="0" err="1">
                <a:solidFill>
                  <a:srgbClr val="065B94"/>
                </a:solidFill>
              </a:rPr>
              <a:t>writefile</a:t>
            </a:r>
            <a:r>
              <a:rPr lang="en-US" sz="2000" b="1" dirty="0">
                <a:solidFill>
                  <a:srgbClr val="065B94"/>
                </a:solidFill>
              </a:rPr>
              <a:t> calculator.py</a:t>
            </a:r>
          </a:p>
          <a:p>
            <a:endParaRPr lang="en-US" sz="2000" b="1" dirty="0">
              <a:solidFill>
                <a:srgbClr val="065B94"/>
              </a:solidFill>
            </a:endParaRPr>
          </a:p>
          <a:p>
            <a:r>
              <a:rPr lang="en-US" sz="2000" b="1" dirty="0" err="1">
                <a:solidFill>
                  <a:srgbClr val="065B94"/>
                </a:solidFill>
              </a:rPr>
              <a:t>def</a:t>
            </a:r>
            <a:r>
              <a:rPr lang="en-US" sz="2000" b="1" dirty="0">
                <a:solidFill>
                  <a:srgbClr val="065B94"/>
                </a:solidFill>
              </a:rPr>
              <a:t> add(</a:t>
            </a:r>
            <a:r>
              <a:rPr lang="en-US" sz="2000" b="1" dirty="0" err="1">
                <a:solidFill>
                  <a:srgbClr val="065B94"/>
                </a:solidFill>
              </a:rPr>
              <a:t>a,b</a:t>
            </a:r>
            <a:r>
              <a:rPr lang="en-US" sz="2000" b="1" dirty="0">
                <a:solidFill>
                  <a:srgbClr val="065B94"/>
                </a:solidFill>
              </a:rPr>
              <a:t>):</a:t>
            </a:r>
          </a:p>
          <a:p>
            <a:r>
              <a:rPr lang="en-US" sz="2000" b="1" dirty="0">
                <a:solidFill>
                  <a:srgbClr val="065B94"/>
                </a:solidFill>
              </a:rPr>
              <a:t>    return </a:t>
            </a:r>
            <a:r>
              <a:rPr lang="en-US" sz="2000" b="1" dirty="0" err="1">
                <a:solidFill>
                  <a:srgbClr val="065B94"/>
                </a:solidFill>
              </a:rPr>
              <a:t>a+b</a:t>
            </a:r>
            <a:endParaRPr lang="en-US" sz="2000" b="1" dirty="0">
              <a:solidFill>
                <a:srgbClr val="065B94"/>
              </a:solidFill>
            </a:endParaRPr>
          </a:p>
          <a:p>
            <a:endParaRPr lang="en-US" sz="2000" b="1" dirty="0">
              <a:solidFill>
                <a:srgbClr val="065B94"/>
              </a:solidFill>
            </a:endParaRPr>
          </a:p>
          <a:p>
            <a:r>
              <a:rPr lang="en-US" sz="2000" b="1" dirty="0" err="1">
                <a:solidFill>
                  <a:srgbClr val="065B94"/>
                </a:solidFill>
              </a:rPr>
              <a:t>def</a:t>
            </a:r>
            <a:r>
              <a:rPr lang="en-US" sz="2000" b="1" dirty="0">
                <a:solidFill>
                  <a:srgbClr val="065B94"/>
                </a:solidFill>
              </a:rPr>
              <a:t> subtract(</a:t>
            </a:r>
            <a:r>
              <a:rPr lang="en-US" sz="2000" b="1" dirty="0" err="1">
                <a:solidFill>
                  <a:srgbClr val="065B94"/>
                </a:solidFill>
              </a:rPr>
              <a:t>a,b</a:t>
            </a:r>
            <a:r>
              <a:rPr lang="en-US" sz="2000" b="1" dirty="0">
                <a:solidFill>
                  <a:srgbClr val="065B94"/>
                </a:solidFill>
              </a:rPr>
              <a:t>):</a:t>
            </a:r>
          </a:p>
          <a:p>
            <a:r>
              <a:rPr lang="en-US" sz="2000" b="1" dirty="0">
                <a:solidFill>
                  <a:srgbClr val="065B94"/>
                </a:solidFill>
              </a:rPr>
              <a:t>    return a-b</a:t>
            </a:r>
            <a:endParaRPr lang="ar-EG" sz="20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0" y="1268088"/>
            <a:ext cx="3929484" cy="590931"/>
          </a:xfrm>
        </p:spPr>
        <p:txBody>
          <a:bodyPr/>
          <a:lstStyle/>
          <a:p>
            <a:r>
              <a:rPr lang="en-US" sz="3600" dirty="0"/>
              <a:t>Import Module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219200" y="196454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import calculator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</a:t>
            </a:r>
            <a:r>
              <a:rPr lang="en-US" sz="2400" dirty="0" err="1">
                <a:solidFill>
                  <a:srgbClr val="065B94"/>
                </a:solidFill>
              </a:rPr>
              <a:t>calculator.add</a:t>
            </a:r>
            <a:r>
              <a:rPr lang="en-US" sz="2400" dirty="0">
                <a:solidFill>
                  <a:srgbClr val="065B94"/>
                </a:solidFill>
              </a:rPr>
              <a:t>(10,5))</a:t>
            </a:r>
          </a:p>
          <a:p>
            <a:r>
              <a:rPr lang="en-US" sz="2400" dirty="0">
                <a:solidFill>
                  <a:srgbClr val="065B94"/>
                </a:solidFill>
              </a:rPr>
              <a:t>print(</a:t>
            </a:r>
            <a:r>
              <a:rPr lang="en-US" sz="2400" dirty="0" err="1">
                <a:solidFill>
                  <a:srgbClr val="065B94"/>
                </a:solidFill>
              </a:rPr>
              <a:t>calculator.subtract</a:t>
            </a:r>
            <a:r>
              <a:rPr lang="en-US" sz="2400" dirty="0">
                <a:solidFill>
                  <a:srgbClr val="065B94"/>
                </a:solidFill>
              </a:rPr>
              <a:t>(20,7))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7560" y="3795479"/>
            <a:ext cx="33505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How Import Works</a:t>
            </a:r>
            <a:endParaRPr lang="ar-EG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611369" y="431869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Python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Finds calculator.py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Loads </a:t>
            </a:r>
            <a:r>
              <a:rPr lang="en-US" sz="2400" dirty="0"/>
              <a:t>the </a:t>
            </a:r>
            <a:r>
              <a:rPr lang="en-US" sz="2400" dirty="0" smtClean="0"/>
              <a:t>file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Makes </a:t>
            </a:r>
            <a:r>
              <a:rPr lang="en-US" sz="2400" dirty="0"/>
              <a:t>functions available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815" y="1345012"/>
            <a:ext cx="4886418" cy="590931"/>
          </a:xfrm>
        </p:spPr>
        <p:txBody>
          <a:bodyPr/>
          <a:lstStyle/>
          <a:p>
            <a:r>
              <a:rPr lang="en-US" sz="3600" dirty="0"/>
              <a:t>Practice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830424" y="2254778"/>
            <a:ext cx="1863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2400" dirty="0">
                <a:solidFill>
                  <a:srgbClr val="C00000"/>
                </a:solidFill>
              </a:rPr>
              <a:t>greetings.py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30424" y="2805923"/>
            <a:ext cx="330524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Functions</a:t>
            </a:r>
            <a:r>
              <a:rPr lang="en-US" sz="2800" b="1" dirty="0" smtClean="0"/>
              <a:t>:</a:t>
            </a:r>
          </a:p>
          <a:p>
            <a:endParaRPr lang="en-US" dirty="0"/>
          </a:p>
          <a:p>
            <a:r>
              <a:rPr lang="en-US" sz="2400" dirty="0" err="1" smtClean="0">
                <a:solidFill>
                  <a:srgbClr val="065B94"/>
                </a:solidFill>
              </a:rPr>
              <a:t>say_hello</a:t>
            </a:r>
            <a:r>
              <a:rPr lang="en-US" sz="2400" dirty="0" smtClean="0">
                <a:solidFill>
                  <a:srgbClr val="065B94"/>
                </a:solidFill>
              </a:rPr>
              <a:t>()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 err="1" smtClean="0">
                <a:solidFill>
                  <a:srgbClr val="065B94"/>
                </a:solidFill>
              </a:rPr>
              <a:t>say_goodbye</a:t>
            </a:r>
            <a:r>
              <a:rPr lang="en-US" sz="2400" dirty="0" smtClean="0">
                <a:solidFill>
                  <a:srgbClr val="065B94"/>
                </a:solidFill>
              </a:rPr>
              <a:t>()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endParaRPr lang="en-US" sz="2400" dirty="0" smtClean="0">
              <a:solidFill>
                <a:srgbClr val="065B94"/>
              </a:solidFill>
            </a:endParaRPr>
          </a:p>
          <a:p>
            <a:r>
              <a:rPr lang="en-US" sz="2400" dirty="0" smtClean="0">
                <a:solidFill>
                  <a:srgbClr val="065B94"/>
                </a:solidFill>
              </a:rPr>
              <a:t>Import </a:t>
            </a:r>
            <a:r>
              <a:rPr lang="en-US" sz="2400" dirty="0">
                <a:solidFill>
                  <a:srgbClr val="065B94"/>
                </a:solidFill>
              </a:rPr>
              <a:t>and test.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5993" y="3091324"/>
            <a:ext cx="3658179" cy="1006429"/>
          </a:xfrm>
        </p:spPr>
        <p:txBody>
          <a:bodyPr/>
          <a:lstStyle/>
          <a:p>
            <a:r>
              <a:rPr lang="en-US" sz="6600" dirty="0" smtClean="0">
                <a:solidFill>
                  <a:srgbClr val="065B94"/>
                </a:solidFill>
              </a:rPr>
              <a:t>Break</a:t>
            </a:r>
            <a:endParaRPr lang="ar-EG" sz="6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50" y="1077032"/>
            <a:ext cx="6252580" cy="1089529"/>
          </a:xfrm>
        </p:spPr>
        <p:txBody>
          <a:bodyPr/>
          <a:lstStyle/>
          <a:p>
            <a:r>
              <a:rPr lang="en-US" sz="3600" dirty="0"/>
              <a:t>Import Specific Function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883079" y="2579919"/>
            <a:ext cx="6096000" cy="3077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Instead of</a:t>
            </a:r>
            <a:r>
              <a:rPr lang="en-US" sz="2800" b="1" dirty="0" smtClean="0">
                <a:solidFill>
                  <a:srgbClr val="065B94"/>
                </a:solidFill>
              </a:rPr>
              <a:t>: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2800" dirty="0" smtClean="0"/>
              <a:t>import calculator</a:t>
            </a:r>
          </a:p>
          <a:p>
            <a:endParaRPr lang="en-US" dirty="0" smtClean="0"/>
          </a:p>
          <a:p>
            <a:r>
              <a:rPr lang="en-US" sz="2800" b="1" dirty="0" smtClean="0">
                <a:solidFill>
                  <a:srgbClr val="065B94"/>
                </a:solidFill>
              </a:rPr>
              <a:t>We </a:t>
            </a:r>
            <a:r>
              <a:rPr lang="en-US" sz="2800" b="1" dirty="0">
                <a:solidFill>
                  <a:srgbClr val="065B94"/>
                </a:solidFill>
              </a:rPr>
              <a:t>can do</a:t>
            </a:r>
            <a:r>
              <a:rPr lang="en-US" sz="2800" b="1" dirty="0" smtClean="0">
                <a:solidFill>
                  <a:srgbClr val="065B94"/>
                </a:solidFill>
              </a:rPr>
              <a:t>:</a:t>
            </a:r>
          </a:p>
          <a:p>
            <a:endParaRPr lang="en-US" dirty="0" smtClean="0"/>
          </a:p>
          <a:p>
            <a:r>
              <a:rPr lang="en-US" dirty="0" smtClean="0"/>
              <a:t>      </a:t>
            </a:r>
            <a:r>
              <a:rPr lang="en-US" sz="2800" dirty="0" smtClean="0"/>
              <a:t>from </a:t>
            </a:r>
            <a:r>
              <a:rPr lang="en-US" sz="2800" dirty="0"/>
              <a:t>calculator import </a:t>
            </a:r>
            <a:r>
              <a:rPr lang="en-US" sz="2800" dirty="0" smtClean="0"/>
              <a:t>add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print(add(5,3</a:t>
            </a:r>
            <a:r>
              <a:rPr lang="en-US" sz="2800" dirty="0"/>
              <a:t>))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26705" y="1310470"/>
            <a:ext cx="6449201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4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</a:t>
            </a:r>
            <a:r>
              <a:rPr kumimoji="0" lang="ar-EG" altLang="ar-EG" sz="4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4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ar-EG" altLang="ar-EG" sz="4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4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  <a:endParaRPr kumimoji="0" lang="ar-EG" altLang="ar-EG" sz="4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5085" y="211999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from calculator import add, subtract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print(add(10,5))</a:t>
            </a:r>
          </a:p>
          <a:p>
            <a:r>
              <a:rPr lang="en-US" sz="2400" dirty="0">
                <a:solidFill>
                  <a:srgbClr val="065B94"/>
                </a:solidFill>
              </a:rPr>
              <a:t>print(subtract(10,5))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6705" y="4001355"/>
            <a:ext cx="41344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Import Everything</a:t>
            </a:r>
            <a:endParaRPr lang="ar-EG" sz="3600" b="1" dirty="0"/>
          </a:p>
        </p:txBody>
      </p:sp>
      <p:sp>
        <p:nvSpPr>
          <p:cNvPr id="9" name="Rectangle 8"/>
          <p:cNvSpPr/>
          <p:nvPr/>
        </p:nvSpPr>
        <p:spPr>
          <a:xfrm>
            <a:off x="1571000" y="4697780"/>
            <a:ext cx="3882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from calculator import *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71000" y="5271094"/>
            <a:ext cx="2467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print(add(5,5))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Why Avoid import</a:t>
            </a:r>
            <a:endParaRPr lang="en-EG" sz="3600" dirty="0"/>
          </a:p>
        </p:txBody>
      </p:sp>
      <p:sp>
        <p:nvSpPr>
          <p:cNvPr id="2" name="Rectangle 1"/>
          <p:cNvSpPr/>
          <p:nvPr/>
        </p:nvSpPr>
        <p:spPr>
          <a:xfrm>
            <a:off x="1369512" y="1962495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65B94"/>
                </a:solidFill>
              </a:rPr>
              <a:t>Problems</a:t>
            </a:r>
            <a:r>
              <a:rPr lang="en-US" sz="3200" dirty="0" smtClean="0">
                <a:solidFill>
                  <a:srgbClr val="065B94"/>
                </a:solidFill>
              </a:rPr>
              <a:t>:</a:t>
            </a:r>
          </a:p>
          <a:p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2400" dirty="0" smtClean="0"/>
              <a:t>Confusing code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Name conflicts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Harder debugging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065B94"/>
                </a:solidFill>
              </a:rPr>
              <a:t>Recommended</a:t>
            </a:r>
            <a:r>
              <a:rPr lang="en-US" sz="2400" dirty="0">
                <a:solidFill>
                  <a:srgbClr val="065B94"/>
                </a:solidFill>
              </a:rPr>
              <a:t>: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01411" y="4735996"/>
            <a:ext cx="4308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import calculator</a:t>
            </a:r>
            <a:endParaRPr lang="ar-EG" sz="3200" dirty="0"/>
          </a:p>
        </p:txBody>
      </p:sp>
      <p:sp>
        <p:nvSpPr>
          <p:cNvPr id="9" name="Rectangle 8"/>
          <p:cNvSpPr/>
          <p:nvPr/>
        </p:nvSpPr>
        <p:spPr>
          <a:xfrm>
            <a:off x="6823705" y="4797551"/>
            <a:ext cx="43444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from calculator import add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284</Words>
  <Application>Microsoft Office PowerPoint</Application>
  <PresentationFormat>Widescreen</PresentationFormat>
  <Paragraphs>118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Wingdings</vt:lpstr>
      <vt:lpstr>Poppins Medium</vt:lpstr>
      <vt:lpstr>Arial</vt:lpstr>
      <vt:lpstr>Inter</vt:lpstr>
      <vt:lpstr>Playfair Display</vt:lpstr>
      <vt:lpstr>Segoe UI</vt:lpstr>
      <vt:lpstr>Office Theme</vt:lpstr>
      <vt:lpstr>PowerPoint Presentation</vt:lpstr>
      <vt:lpstr>PowerPoint Presentation</vt:lpstr>
      <vt:lpstr>Learning Outcomes</vt:lpstr>
      <vt:lpstr>PowerPoint Presentation</vt:lpstr>
      <vt:lpstr>What is a User-Defined Module</vt:lpstr>
      <vt:lpstr>Why Do We Use Modules</vt:lpstr>
      <vt:lpstr>Creating Files</vt:lpstr>
      <vt:lpstr>Import Module</vt:lpstr>
      <vt:lpstr>Practice</vt:lpstr>
      <vt:lpstr>Break</vt:lpstr>
      <vt:lpstr>Import Specific Function</vt:lpstr>
      <vt:lpstr>Import Multiple Functions </vt:lpstr>
      <vt:lpstr>Why Avoid import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49</cp:revision>
  <dcterms:created xsi:type="dcterms:W3CDTF">2026-03-27T11:30:08Z</dcterms:created>
  <dcterms:modified xsi:type="dcterms:W3CDTF">2026-07-23T18:36:19Z</dcterms:modified>
</cp:coreProperties>
</file>